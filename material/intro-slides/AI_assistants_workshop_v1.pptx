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be0b01006449ed" /><Relationship Type="http://schemas.openxmlformats.org/officeDocument/2006/relationships/extended-properties" Target="/docProps/app.xml" Id="R244a49ca4c19414c" /><Relationship Type="http://schemas.openxmlformats.org/officeDocument/2006/relationships/officeDocument" Target="/ppt/presentation.xml" Id="Rf0471e150e80405b" /></Relationships>
</file>

<file path=ppt/presentation.xml><?xml version="1.0" encoding="utf-8"?>
<p:presentation xmlns:p="http://schemas.openxmlformats.org/presentationml/2006/main">
  <p:sldMasterIdLst>
    <p:sldMasterId xmlns:r="http://schemas.openxmlformats.org/officeDocument/2006/relationships" id="2147483648" r:id="Rb736a5fa388f4577"/>
  </p:sldMasterIdLst>
  <p:notesMasterIdLst>
    <p:notesMasterId xmlns:r="http://schemas.openxmlformats.org/officeDocument/2006/relationships" r:id="R6c683f7eb6e945c0"/>
  </p:notesMasterIdLst>
  <p:sldIdLst>
    <p:sldId xmlns:r="http://schemas.openxmlformats.org/officeDocument/2006/relationships" id="256" r:id="Rce03887fe0bf440b"/>
    <p:sldId xmlns:r="http://schemas.openxmlformats.org/officeDocument/2006/relationships" id="257" r:id="R2ac3ac9d2b9f4799"/>
    <p:sldId xmlns:r="http://schemas.openxmlformats.org/officeDocument/2006/relationships" id="258" r:id="R59a2ed8f3ade4db3"/>
    <p:sldId xmlns:r="http://schemas.openxmlformats.org/officeDocument/2006/relationships" id="259" r:id="Ra7c5e4f7bfce466c"/>
    <p:sldId xmlns:r="http://schemas.openxmlformats.org/officeDocument/2006/relationships" id="260" r:id="R3b2eee659e76452d"/>
    <p:sldId xmlns:r="http://schemas.openxmlformats.org/officeDocument/2006/relationships" id="261" r:id="R060647e207304bdb"/>
    <p:sldId xmlns:r="http://schemas.openxmlformats.org/officeDocument/2006/relationships" id="262" r:id="Rf97f672210744931"/>
    <p:sldId xmlns:r="http://schemas.openxmlformats.org/officeDocument/2006/relationships" id="263" r:id="R2a1c12e31df84d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379dbdb7054726" /><Relationship Type="http://schemas.openxmlformats.org/officeDocument/2006/relationships/slideMaster" Target="/ppt/slideMasters/slideMaster1.xml" Id="Rb736a5fa388f4577" /><Relationship Type="http://schemas.openxmlformats.org/officeDocument/2006/relationships/notesMaster" Target="/ppt/notesMasters/notesMaster1.xml" Id="R6c683f7eb6e945c0" /><Relationship Type="http://schemas.openxmlformats.org/officeDocument/2006/relationships/presProps" Target="/ppt/presProps.xml" Id="R1fad93e75f8a4ff3" /><Relationship Type="http://schemas.openxmlformats.org/officeDocument/2006/relationships/tableStyles" Target="/ppt/tableStyles.xml" Id="Redfbe01a352a4504" /><Relationship Type="http://schemas.openxmlformats.org/officeDocument/2006/relationships/slide" Target="/ppt/slides/slide1.xml" Id="Rce03887fe0bf440b" /><Relationship Type="http://schemas.openxmlformats.org/officeDocument/2006/relationships/slide" Target="/ppt/slides/slide2.xml" Id="R2ac3ac9d2b9f4799" /><Relationship Type="http://schemas.openxmlformats.org/officeDocument/2006/relationships/slide" Target="/ppt/slides/slide3.xml" Id="R59a2ed8f3ade4db3" /><Relationship Type="http://schemas.openxmlformats.org/officeDocument/2006/relationships/slide" Target="/ppt/slides/slide4.xml" Id="Ra7c5e4f7bfce466c" /><Relationship Type="http://schemas.openxmlformats.org/officeDocument/2006/relationships/slide" Target="/ppt/slides/slide5.xml" Id="R3b2eee659e76452d" /><Relationship Type="http://schemas.openxmlformats.org/officeDocument/2006/relationships/slide" Target="/ppt/slides/slide6.xml" Id="R060647e207304bdb" /><Relationship Type="http://schemas.openxmlformats.org/officeDocument/2006/relationships/slide" Target="/ppt/slides/slide7.xml" Id="Rf97f672210744931" /><Relationship Type="http://schemas.openxmlformats.org/officeDocument/2006/relationships/slide" Target="/ppt/slides/slide8.xml" Id="R2a1c12e31df84d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c05e8b576044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529284986440cf" /><Relationship Type="http://schemas.openxmlformats.org/officeDocument/2006/relationships/notesMaster" Target="/ppt/notesMasters/notesMaster1.xml" Id="R50ec4c484ad14e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6560bcb7d24528" /><Relationship Type="http://schemas.openxmlformats.org/officeDocument/2006/relationships/notesMaster" Target="/ppt/notesMasters/notesMaster1.xml" Id="R6ffe946218e041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c91029ed434e9e" /><Relationship Type="http://schemas.openxmlformats.org/officeDocument/2006/relationships/notesMaster" Target="/ppt/notesMasters/notesMaster1.xml" Id="R76d1a6c513a943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9587142332414b" /><Relationship Type="http://schemas.openxmlformats.org/officeDocument/2006/relationships/notesMaster" Target="/ppt/notesMasters/notesMaster1.xml" Id="R4cfc956850b94d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f5b07b78f2b49c1" /><Relationship Type="http://schemas.openxmlformats.org/officeDocument/2006/relationships/notesMaster" Target="/ppt/notesMasters/notesMaster1.xml" Id="R4245845bd18f41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cb16e553d046fe" /><Relationship Type="http://schemas.openxmlformats.org/officeDocument/2006/relationships/notesMaster" Target="/ppt/notesMasters/notesMaster1.xml" Id="R1ebf17466fed4b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8b16a2385b4519" /><Relationship Type="http://schemas.openxmlformats.org/officeDocument/2006/relationships/notesMaster" Target="/ppt/notesMasters/notesMaster1.xml" Id="R95433fa3647746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9ccc6a8294477d" /><Relationship Type="http://schemas.openxmlformats.org/officeDocument/2006/relationships/notesMaster" Target="/ppt/notesMasters/notesMaster1.xml" Id="Refbabb3c8e4c48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workshop as an opportunity to delegate academic tasks to an AI assistant and inspect and refine the resulting work. Participants will explore the normal Copilot Chat experience before examining customisation. Slide 2 introduces questions and answers and task delegation as uses of an AI assistant. Slide 3 explains the supporting model-and-harness architecture.</a:t>
            </a:r>
          </a:p>
          <a:p xmlns:a="http://schemas.openxmlformats.org/drawingml/2006/main">
            <a:r>
              <a:t>The cover illustration symbolises work with research documents, data and presentations. Any apparent plot or table is decorative and represents no actual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introduces what an AI assistant does through two uses: questions and answers, and task delegation. The examples concern the same academic activity. Asking how data could be analysed seeks guidance. Asking the assistant to analyse the data and prepare a presentation delegates work and specifies a result. These uses can be combined within one conversation. A formal distinction between chatbot and agent is unnecessary here. The next slide explains the architecture supporting these uses.</a:t>
            </a:r>
          </a:p>
          <a:p xmlns:a="http://schemas.openxmlformats.org/drawingml/2006/main">
            <a:r>
              <a:t>The question-answer illustration represents conversational help. The tool-and-report illustration represents choosing actions, using tools and interpreting intermediate outputs to complete a task. Any apparent chart is decorative and makes no numerical claim.</a:t>
            </a:r>
          </a:p>
          <a:p xmlns:a="http://schemas.openxmlformats.org/drawingml/2006/main">
            <a:r>
              <a:t>Customisation is a separate concept: persistent instructions, knowledge and selected tools can tailor an assistant for recurring work, but prior customisation is not required to delegate a task to a general assistant.</a:t>
            </a:r>
          </a:p>
          <a:p xmlns:a="http://schemas.openxmlformats.org/drawingml/2006/main">
            <a:r>
              <a:t>Source: 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interprets requests, reasons and generates responses. The harness is the surrounding software environment: it supplies instructions and context, exposes tools and resources, executes tool calls, and applies permissions. Together they form the AI assistant.</a:t>
            </a:r>
          </a:p>
          <a:p xmlns:a="http://schemas.openxmlformats.org/drawingml/2006/main">
            <a:r>
              <a:t>The illustration is a workbench metaphor, not a literal system architecture. The central connected network represents the model. The enclosure and surrounding document, code, file and permission modules represent its harness. This makes the distinction between a model and the environment in which it works visible.</a:t>
            </a:r>
          </a:p>
          <a:p xmlns:a="http://schemas.openxmlformats.org/drawingml/2006/main">
            <a:r>
              <a:t>Source: 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follows the architecture overview and considers the model separately from the surrounding working environment. Hosting describes where model inference takes place: locally or through a cloud service. This is distinct from where tools run and where conversations and files are stored.</a:t>
            </a:r>
          </a:p>
          <a:p xmlns:a="http://schemas.openxmlformats.org/drawingml/2006/main">
            <a:r>
              <a:t>Reasoning capabilities concern how well the model can work through complex tasks. Available reasoning settings can also affect its approach. Input and output capabilities vary across models and may include text, images, audio or other formats.</a:t>
            </a:r>
          </a:p>
          <a:p xmlns:a="http://schemas.openxmlformats.org/drawingml/2006/main">
            <a:r>
              <a:t>Context capacity concerns how much information the model can consider in a request. It is different from session storage or persistent memory. The application manages stored conversations and files and selects the information supplied to the model. What the model can consider is different from what the application stores.</a:t>
            </a:r>
          </a:p>
          <a:p xmlns:a="http://schemas.openxmlformats.org/drawingml/2006/main">
            <a:r>
              <a:t>The next slide considers the harness, including execution and storage. A local harness can use a cloud-hosted model, and different components may run in different places.</a:t>
            </a:r>
          </a:p>
          <a:p xmlns:a="http://schemas.openxmlformats.org/drawingml/2006/main">
            <a:r>
              <a:t>Framework developed in the workshop planning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introduces the model and its harness. After considering the model, this slide describes execution and storage, capabilities, customisation, and permissions and restrictions. The next slide gives concrete implementations. Model hosting, code execution, and storage can occur in different places.</a:t>
            </a:r>
          </a:p>
          <a:p xmlns:a="http://schemas.openxmlformats.org/drawingml/2006/main">
            <a:r>
              <a:t>Cloud execution uses a remote environment with files and resources made available there. Local execution uses the user's computer and its accessible files and installed software, within permissions. Some environments combine local and cloud components. Local execution can still use a cloud-hosted model. The harness or application stores conversations and files and determines what is retrieved or supplied to the model in later requests.</a:t>
            </a:r>
          </a:p>
          <a:p xmlns:a="http://schemas.openxmlformats.org/drawingml/2006/main">
            <a:r>
              <a:t>Capabilities describe the tools and resources available. The model also influences how effectively the assistant uses them. Customisation can apply to both the assistant and its harness: reusable instructions, knowledge and skills shape how it works, while plugins and MCP connections can extend its working environment. These aspects are related. Adding an MCP connection is a customisation that can provide additional capabilities.</a:t>
            </a:r>
          </a:p>
          <a:p xmlns:a="http://schemas.openxmlformats.org/drawingml/2006/main">
            <a:r>
              <a:t>Permissions and restrictions have two dimensions. Sandboxing determines file and network access, while command rules can further restrict execution. Approval policies determine whether an action is blocked, requires permission, or can proceed without approval. The dimensions can interact: approval may sometimes permit an action beyond default sandbox restrictions, while other restrictions remain absolute. These controls are distinct from the agent choosing its own steps and tools. Introduce customisation briefly here and return to participants' recurring preferences after the exercise.</a:t>
            </a:r>
          </a:p>
          <a:p xmlns:a="http://schemas.openxmlformats.org/drawingml/2006/main">
            <a:r>
              <a:t>Framework developed in the workshop planning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applies selected aspects of the general harness framework to concrete environments. The middle column describes tools and execution environments consistently, rather than mixing use cases with tool access. The examples are not an exhaustive inventory or a ranking. chatUMCG is described by the workshop organiser as conversation only, with no customisation options.</a:t>
            </a:r>
          </a:p>
          <a:p xmlns:a="http://schemas.openxmlformats.org/drawingml/2006/main">
            <a:r>
              <a:t>Copilot Chat is shown on its own because participants use it in this workshop. Microsoft documents Python code execution in isolated Azure virtual machines and the processing and generation of files. JavaScript support is included on the basis of the workshop organiser's successful test of Node.js in the Copilot execution environment. In that test, webR was installed and loaded through JavaScript to run R compiled to WebAssembly; the simulation and analysis were performed in R. This observation describes the tested workshop environment, rather than a claim that every Copilot configuration guarantees Node.js or native R. Microsoft Agents created through Agent Builder package instructions, knowledge sources and selected capabilities. Availability depends on licensing and organisational settings.</a:t>
            </a:r>
          </a:p>
          <a:p xmlns:a="http://schemas.openxmlformats.org/drawingml/2006/main">
            <a:r>
              <a:t>The Codex / Claude Code row explicitly describes a local setup: terminal access, local files, and installed software, within permissions. Both also offer cloud execution options. Project instructions and reusable skills support customisation. Code execution can produce analyses and documents as well as software.</a:t>
            </a:r>
          </a:p>
          <a:p xmlns:a="http://schemas.openxmlformats.org/drawingml/2006/main">
            <a:r>
              <a:t>Discuss permissions and restrictions verbally in terms of approvals and execution boundaries rather than claiming directly comparable controls across these environments.</a:t>
            </a:r>
          </a:p>
          <a:p xmlns:a="http://schemas.openxmlformats.org/drawingml/2006/main">
            <a:r>
              <a:t>Sources: workshop organiser's descriptions of chatUMCG and the tested Copilot Node.js/webR workflow; https://learn.microsoft.com/en-us/microsoft-365/copilot/extensibility/code-interpreter-security; https://learn.microsoft.com/en-us/microsoft-365/copilot/extensibility/code-interpreter; https://learn.microsoft.com/en-us/microsoft-365/copilot/extensibility/agent-builder-build-agents; https://learn.microsoft.com/en-us/microsoft-365/copilot/extensibility/knowledge-sources; https://docs.r-wasm.org/webr/latest/downloading.html; https://developers.openai.com/codex/cli; https://developers.openai.com/codex/quickstart; https://code.claude.com/docs/en/overview; https://code.claude.com/docs/en/claude-code-on-the-web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participants to open the workshop website and select First exercise. Start a new Copilot chat and use the instructions on the page to generate analytical power curves for a hypothetical two-arm trial.</a:t>
            </a:r>
          </a:p>
          <a:p xmlns:a="http://schemas.openxmlformats.org/drawingml/2006/main">
            <a:r>
              <a:t/>
            </a:r>
          </a:p>
          <a:p xmlns:a="http://schemas.openxmlformats.org/drawingml/2006/main">
            <a:r>
              <a:t>Encourage participants to check whether Copilot generated the requested graph, whether the labels and legend are clear, and whether the explanation is helpful. Then try a follow-up about sample size or a higher standard deviation, or ask Copilot to improve the output.</a:t>
            </a:r>
          </a:p>
          <a:p xmlns:a="http://schemas.openxmlformats.org/drawingml/2006/main">
            <a:r>
              <a:t/>
            </a:r>
          </a:p>
          <a:p xmlns:a="http://schemas.openxmlformats.org/drawingml/2006/main">
            <a:r>
              <a:t>Exercise instructions: https://luntergroup.github.io/health-in-context-agents-workshop/first-exercise.html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two or three participants to show their graphs. Discuss whether the output matched the request, whether it was clear, and how Copilot responded to follow-up prompts. Ask participants to share an instruction that helped improve the result. Use their examples to discuss how to make requests clearer and refine the assistant’s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33734a607a41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149e13102446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ef7178bf2849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3d52e3bc6d4f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394e30e0c347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bb33d4356449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BD0D71-12B7-42FB-B39C-5F427846D5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3F6502-E1A5-47C2-9443-DC43B82744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36291D-08A8-4DCB-B783-8AE4FCD55A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2AB900-1ABC-4D1B-8FA1-70EEBB1552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BA106C-30F6-480D-80E9-BBA20EA8559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F63287-9A84-4484-85FA-04CCCC5040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9B803A-4525-401B-B997-7F18B977C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5272E56-DF12-47C2-AB99-FB2E393D7C7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D8B24C-6FF9-40CA-89E2-64115EE4D2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31A94F9-95F9-4920-B568-4677D17E7B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bd0cdf881146c0" /><Relationship Type="http://schemas.openxmlformats.org/officeDocument/2006/relationships/slideLayout" Target="/ppt/slideLayouts/slideLayout1.xml" Id="R3d6c64ab479f4020" /><Relationship Type="http://schemas.openxmlformats.org/officeDocument/2006/relationships/slideLayout" Target="/ppt/slideLayouts/slideLayout2.xml" Id="R04a1f46a43744519" /><Relationship Type="http://schemas.openxmlformats.org/officeDocument/2006/relationships/slideLayout" Target="/ppt/slideLayouts/slideLayout3.xml" Id="R55e9b2c39df14774" /><Relationship Type="http://schemas.openxmlformats.org/officeDocument/2006/relationships/slideLayout" Target="/ppt/slideLayouts/slideLayout4.xml" Id="R0b95b43b630f4a78" /><Relationship Type="http://schemas.openxmlformats.org/officeDocument/2006/relationships/slideLayout" Target="/ppt/slideLayouts/slideLayout5.xml" Id="R0de4b871cb44499f" /><Relationship Type="http://schemas.openxmlformats.org/officeDocument/2006/relationships/slideLayout" Target="/ppt/slideLayouts/slideLayout6.xml" Id="Re1d8424f8a654c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6c64ab479f4020"/>
    <p:sldLayoutId xmlns:r="http://schemas.openxmlformats.org/officeDocument/2006/relationships" id="2147483650" r:id="R04a1f46a43744519"/>
    <p:sldLayoutId xmlns:r="http://schemas.openxmlformats.org/officeDocument/2006/relationships" id="2147483651" r:id="R55e9b2c39df14774"/>
    <p:sldLayoutId xmlns:r="http://schemas.openxmlformats.org/officeDocument/2006/relationships" id="2147483652" r:id="R0b95b43b630f4a78"/>
    <p:sldLayoutId xmlns:r="http://schemas.openxmlformats.org/officeDocument/2006/relationships" id="2147483653" r:id="R0de4b871cb44499f"/>
    <p:sldLayoutId xmlns:r="http://schemas.openxmlformats.org/officeDocument/2006/relationships" id="2147483654" r:id="Re1d8424f8a654c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6be95dff9b84a1f" /><Relationship Type="http://schemas.openxmlformats.org/officeDocument/2006/relationships/image" Target="/ppt/media/image.png" Id="R778791a489ba4d24" /><Relationship Type="http://schemas.openxmlformats.org/officeDocument/2006/relationships/notesSlide" Target="/ppt/notesSlides/notesSlide1.xml" Id="R16630eba055145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258dc29f9c4f7c" /><Relationship Type="http://schemas.openxmlformats.org/officeDocument/2006/relationships/image" Target="/ppt/media/image2.png" Id="R61dc601cc78b46ed" /><Relationship Type="http://schemas.openxmlformats.org/officeDocument/2006/relationships/image" Target="/ppt/media/image3.png" Id="Ra75fcfc1870649b4" /><Relationship Type="http://schemas.openxmlformats.org/officeDocument/2006/relationships/notesSlide" Target="/ppt/notesSlides/notesSlide2.xml" Id="Rbdddb1dc55bb4d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d7129d3496245f5" /><Relationship Type="http://schemas.openxmlformats.org/officeDocument/2006/relationships/image" Target="/ppt/media/image4.png" Id="R1bf52066a8334377" /><Relationship Type="http://schemas.openxmlformats.org/officeDocument/2006/relationships/notesSlide" Target="/ppt/notesSlides/notesSlide3.xml" Id="R7381f838983d42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4f216aa0e6486e" /><Relationship Type="http://schemas.openxmlformats.org/officeDocument/2006/relationships/notesSlide" Target="/ppt/notesSlides/notesSlide4.xml" Id="Rd8c09cccd4ff47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fb8469763fe4a0d" /><Relationship Type="http://schemas.openxmlformats.org/officeDocument/2006/relationships/notesSlide" Target="/ppt/notesSlides/notesSlide5.xml" Id="R59cea27ab68d48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109c6ce2a84625" /><Relationship Type="http://schemas.openxmlformats.org/officeDocument/2006/relationships/notesSlide" Target="/ppt/notesSlides/notesSlide6.xml" Id="Ra468e913983a49c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2f6498dd654613" /><Relationship Type="http://schemas.openxmlformats.org/officeDocument/2006/relationships/hyperlink" Target="https://luntergroup.github.io/health-in-context-agents-workshop/" TargetMode="External" Id="R8821085b80ec4984" /><Relationship Type="http://schemas.openxmlformats.org/officeDocument/2006/relationships/hyperlink" Target="https://luntergroup.github.io/health-in-context-agents-workshop/first-exercise.html" TargetMode="External" Id="Rdbfe1c5900594219" /><Relationship Type="http://schemas.openxmlformats.org/officeDocument/2006/relationships/image" Target="/ppt/media/image5.png" Id="R3e487ae6cc8c4cc8" /><Relationship Type="http://schemas.openxmlformats.org/officeDocument/2006/relationships/notesSlide" Target="/ppt/notesSlides/notesSlide7.xml" Id="R8e3e0f6c1ed648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d1197cf19044e6e" /><Relationship Type="http://schemas.openxmlformats.org/officeDocument/2006/relationships/notesSlide" Target="/ppt/notesSlides/notesSlide8.xml" Id="R1f62edfe475a4674"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3796B5EA-F95A-4E39-8E65-1CE4B56FEE73}"/>
              </a:ext>
            </a:extLst>
          </p:cNvPr>
          <p:cNvPicPr>
            <a:picLocks xmlns:a="http://schemas.openxmlformats.org/drawingml/2006/main" noChangeAspect="1"/>
          </p:cNvPicPr>
          <p:nvPr/>
        </p:nvPicPr>
        <p:blipFill>
          <a:blip xmlns:r="http://schemas.openxmlformats.org/officeDocument/2006/relationships" xmlns:a="http://schemas.openxmlformats.org/drawingml/2006/main" r:embed="R778791a489ba4d2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3D1D58B6-111E-4AB2-A708-54A13CBAB234}"/>
              </a:ext>
            </a:extLst>
          </p:cNvPr>
          <p:cNvSpPr>
            <a:spLocks xmlns:a="http://schemas.openxmlformats.org/drawingml/2006/main" noGrp="1"/>
          </p:cNvSpPr>
          <p:nvPr/>
        </p:nvSpPr>
        <p:spPr>
          <a:xfrm xmlns:a="http://schemas.openxmlformats.org/drawingml/2006/main">
            <a:off x="685800" y="1819275"/>
            <a:ext cx="53340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4800" b="1">
                <a:solidFill>
                  <a:srgbClr val="182B36"/>
                </a:solidFill>
                <a:latin typeface="Arial"/>
                <a:ea typeface="Arial"/>
                <a:cs typeface="Arial"/>
              </a:defRPr>
            </a:defPPr>
            <a:lvl1pPr>
              <a:buNone/>
              <a:defRPr sz="4800" b="1">
                <a:solidFill>
                  <a:srgbClr val="182B36"/>
                </a:solidFill>
                <a:latin typeface="Arial"/>
                <a:ea typeface="Arial"/>
                <a:cs typeface="Arial"/>
              </a:defRPr>
            </a:lvl1pPr>
            <a:lvl2pPr>
              <a:buNone/>
              <a:defRPr sz="4800" b="1">
                <a:solidFill>
                  <a:srgbClr val="182B36"/>
                </a:solidFill>
                <a:latin typeface="Arial"/>
                <a:ea typeface="Arial"/>
                <a:cs typeface="Arial"/>
              </a:defRPr>
            </a:lvl2pPr>
            <a:lvl3pPr>
              <a:buNone/>
              <a:defRPr sz="4800" b="1">
                <a:solidFill>
                  <a:srgbClr val="182B36"/>
                </a:solidFill>
                <a:latin typeface="Arial"/>
                <a:ea typeface="Arial"/>
                <a:cs typeface="Arial"/>
              </a:defRPr>
            </a:lvl3pPr>
            <a:lvl4pPr>
              <a:buNone/>
              <a:defRPr sz="4800" b="1">
                <a:solidFill>
                  <a:srgbClr val="182B36"/>
                </a:solidFill>
                <a:latin typeface="Arial"/>
                <a:ea typeface="Arial"/>
                <a:cs typeface="Arial"/>
              </a:defRPr>
            </a:lvl4pPr>
            <a:lvl5pPr>
              <a:buNone/>
              <a:defRPr sz="4800" b="1">
                <a:solidFill>
                  <a:srgbClr val="182B36"/>
                </a:solidFill>
                <a:latin typeface="Arial"/>
                <a:ea typeface="Arial"/>
                <a:cs typeface="Arial"/>
              </a:defRPr>
            </a:lvl5pPr>
            <a:lvl6pPr>
              <a:buNone/>
              <a:defRPr sz="4800" b="1">
                <a:solidFill>
                  <a:srgbClr val="182B36"/>
                </a:solidFill>
                <a:latin typeface="Arial"/>
                <a:ea typeface="Arial"/>
                <a:cs typeface="Arial"/>
              </a:defRPr>
            </a:lvl6pPr>
            <a:lvl7pPr>
              <a:buNone/>
              <a:defRPr sz="4800" b="1">
                <a:solidFill>
                  <a:srgbClr val="182B36"/>
                </a:solidFill>
                <a:latin typeface="Arial"/>
                <a:ea typeface="Arial"/>
                <a:cs typeface="Arial"/>
              </a:defRPr>
            </a:lvl7pPr>
            <a:lvl8pPr>
              <a:buNone/>
              <a:defRPr sz="4800" b="1">
                <a:solidFill>
                  <a:srgbClr val="182B36"/>
                </a:solidFill>
                <a:latin typeface="Arial"/>
                <a:ea typeface="Arial"/>
                <a:cs typeface="Arial"/>
              </a:defRPr>
            </a:lvl8pPr>
            <a:lvl9pPr>
              <a:buNone/>
              <a:defRPr sz="4800" b="1">
                <a:solidFill>
                  <a:srgbClr val="182B36"/>
                </a:solidFill>
                <a:latin typeface="Arial"/>
                <a:ea typeface="Arial"/>
                <a:cs typeface="Arial"/>
              </a:defRPr>
            </a:lvl9pPr>
          </a:lstStyle>
          <a:p xmlns:a="http://schemas.openxmlformats.org/drawingml/2006/main">
            <a:pPr>
              <a:buNone/>
              <a:defRPr sz="4800" b="1">
                <a:solidFill>
                  <a:srgbClr val="182B36"/>
                </a:solidFill>
                <a:latin typeface="Arial"/>
                <a:ea typeface="Arial"/>
                <a:cs typeface="Arial"/>
              </a:defRPr>
            </a:pPr>
            <a:r>
              <a:rPr sz="4800" b="1">
                <a:solidFill>
                  <a:srgbClr val="182B36"/>
                </a:solidFill>
                <a:latin typeface="Arial"/>
                <a:ea typeface="Arial"/>
                <a:cs typeface="Arial"/>
              </a:rPr>
              <a:t>AI assistants</a:t>
            </a:r>
          </a:p>
          <a:p xmlns:a="http://schemas.openxmlformats.org/drawingml/2006/main">
            <a:pPr>
              <a:buNone/>
              <a:defRPr sz="4800" b="1">
                <a:solidFill>
                  <a:srgbClr val="182B36"/>
                </a:solidFill>
                <a:latin typeface="Arial"/>
                <a:ea typeface="Arial"/>
                <a:cs typeface="Arial"/>
              </a:defRPr>
            </a:pPr>
            <a:r>
              <a:rPr sz="4800" b="1">
                <a:solidFill>
                  <a:srgbClr val="182B36"/>
                </a:solidFill>
                <a:latin typeface="Arial"/>
                <a:ea typeface="Arial"/>
                <a:cs typeface="Arial"/>
              </a:rPr>
              <a:t>at work</a:t>
            </a:r>
          </a:p>
        </p:txBody>
      </p:sp>
      <p:sp>
        <p:nvSpPr>
          <p:cNvPr id="3" name="cover-subtitle">
            <a:extLst xmlns:a="http://schemas.openxmlformats.org/drawingml/2006/main">
              <a:ext uri="{FF2B5EF4-FFF2-40B4-BE49-F238E27FC236}">
                <a16:creationId xmlns:a16="http://schemas.microsoft.com/office/drawing/2014/main" id="{8CF9265D-96DA-4187-9EE2-A291C5CC2CE1}"/>
              </a:ext>
            </a:extLst>
          </p:cNvPr>
          <p:cNvSpPr>
            <a:spLocks xmlns:a="http://schemas.openxmlformats.org/drawingml/2006/main" noGrp="1"/>
          </p:cNvSpPr>
          <p:nvPr/>
        </p:nvSpPr>
        <p:spPr>
          <a:xfrm xmlns:a="http://schemas.openxmlformats.org/drawingml/2006/main">
            <a:off x="685800" y="3895725"/>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400" b="0">
                <a:solidFill>
                  <a:srgbClr val="076C70"/>
                </a:solidFill>
                <a:latin typeface="Arial"/>
                <a:ea typeface="Arial"/>
                <a:cs typeface="Arial"/>
              </a:defRPr>
            </a:defPPr>
            <a:lvl1pPr>
              <a:buNone/>
              <a:defRPr sz="2400" b="0">
                <a:solidFill>
                  <a:srgbClr val="076C70"/>
                </a:solidFill>
                <a:latin typeface="Arial"/>
                <a:ea typeface="Arial"/>
                <a:cs typeface="Arial"/>
              </a:defRPr>
            </a:lvl1pPr>
            <a:lvl2pPr>
              <a:buNone/>
              <a:defRPr sz="2400" b="0">
                <a:solidFill>
                  <a:srgbClr val="076C70"/>
                </a:solidFill>
                <a:latin typeface="Arial"/>
                <a:ea typeface="Arial"/>
                <a:cs typeface="Arial"/>
              </a:defRPr>
            </a:lvl2pPr>
            <a:lvl3pPr>
              <a:buNone/>
              <a:defRPr sz="2400" b="0">
                <a:solidFill>
                  <a:srgbClr val="076C70"/>
                </a:solidFill>
                <a:latin typeface="Arial"/>
                <a:ea typeface="Arial"/>
                <a:cs typeface="Arial"/>
              </a:defRPr>
            </a:lvl3pPr>
            <a:lvl4pPr>
              <a:buNone/>
              <a:defRPr sz="2400" b="0">
                <a:solidFill>
                  <a:srgbClr val="076C70"/>
                </a:solidFill>
                <a:latin typeface="Arial"/>
                <a:ea typeface="Arial"/>
                <a:cs typeface="Arial"/>
              </a:defRPr>
            </a:lvl4pPr>
            <a:lvl5pPr>
              <a:buNone/>
              <a:defRPr sz="2400" b="0">
                <a:solidFill>
                  <a:srgbClr val="076C70"/>
                </a:solidFill>
                <a:latin typeface="Arial"/>
                <a:ea typeface="Arial"/>
                <a:cs typeface="Arial"/>
              </a:defRPr>
            </a:lvl5pPr>
            <a:lvl6pPr>
              <a:buNone/>
              <a:defRPr sz="2400" b="0">
                <a:solidFill>
                  <a:srgbClr val="076C70"/>
                </a:solidFill>
                <a:latin typeface="Arial"/>
                <a:ea typeface="Arial"/>
                <a:cs typeface="Arial"/>
              </a:defRPr>
            </a:lvl6pPr>
            <a:lvl7pPr>
              <a:buNone/>
              <a:defRPr sz="2400" b="0">
                <a:solidFill>
                  <a:srgbClr val="076C70"/>
                </a:solidFill>
                <a:latin typeface="Arial"/>
                <a:ea typeface="Arial"/>
                <a:cs typeface="Arial"/>
              </a:defRPr>
            </a:lvl7pPr>
            <a:lvl8pPr>
              <a:buNone/>
              <a:defRPr sz="2400" b="0">
                <a:solidFill>
                  <a:srgbClr val="076C70"/>
                </a:solidFill>
                <a:latin typeface="Arial"/>
                <a:ea typeface="Arial"/>
                <a:cs typeface="Arial"/>
              </a:defRPr>
            </a:lvl8pPr>
            <a:lvl9pPr>
              <a:buNone/>
              <a:defRPr sz="2400" b="0">
                <a:solidFill>
                  <a:srgbClr val="076C70"/>
                </a:solidFill>
                <a:latin typeface="Arial"/>
                <a:ea typeface="Arial"/>
                <a:cs typeface="Arial"/>
              </a:defRPr>
            </a:lvl9pPr>
          </a:lstStyle>
          <a:p xmlns:a="http://schemas.openxmlformats.org/drawingml/2006/main">
            <a:pPr>
              <a:buNone/>
              <a:defRPr sz="2400" b="0">
                <a:solidFill>
                  <a:srgbClr val="076C70"/>
                </a:solidFill>
                <a:latin typeface="Arial"/>
                <a:ea typeface="Arial"/>
                <a:cs typeface="Arial"/>
              </a:defRPr>
            </a:pPr>
            <a:r>
              <a:rPr sz="2400" b="0">
                <a:solidFill>
                  <a:srgbClr val="076C70"/>
                </a:solidFill>
                <a:latin typeface="Arial"/>
                <a:ea typeface="Arial"/>
                <a:cs typeface="Arial"/>
              </a:rPr>
              <a:t>A hands-on workshop</a:t>
            </a:r>
          </a:p>
          <a:p xmlns:a="http://schemas.openxmlformats.org/drawingml/2006/main">
            <a:pPr>
              <a:buNone/>
              <a:defRPr sz="2400" b="0">
                <a:solidFill>
                  <a:srgbClr val="076C70"/>
                </a:solidFill>
                <a:latin typeface="Arial"/>
                <a:ea typeface="Arial"/>
                <a:cs typeface="Arial"/>
              </a:defRPr>
            </a:pPr>
            <a:r>
              <a:rPr sz="2400" b="0">
                <a:solidFill>
                  <a:srgbClr val="076C70"/>
                </a:solidFill>
                <a:latin typeface="Arial"/>
                <a:ea typeface="Arial"/>
                <a:cs typeface="Arial"/>
              </a:rPr>
              <a:t>for academic work</a:t>
            </a:r>
          </a:p>
        </p:txBody>
      </p:sp>
    </p:spTree>
    <p:extLst>
      <p:ext uri="{BB962C8B-B14F-4D97-AF65-F5344CB8AC3E}">
        <p14:creationId xmlns:p14="http://schemas.microsoft.com/office/powerpoint/2010/main" val="1752265680"/>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2732924-E59B-4BF7-9579-E6A5EF519074}"/>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What is an AI assistant?</a:t>
            </a:r>
          </a:p>
        </p:txBody>
      </p:sp>
      <p:sp>
        <p:nvSpPr>
          <p:cNvPr id="2" name="context">
            <a:extLst xmlns:a="http://schemas.openxmlformats.org/drawingml/2006/main">
              <a:ext uri="{FF2B5EF4-FFF2-40B4-BE49-F238E27FC236}">
                <a16:creationId xmlns:a16="http://schemas.microsoft.com/office/drawing/2014/main" id="{B994CB7F-9803-4250-991D-C47B3169167F}"/>
              </a:ext>
            </a:extLst>
          </p:cNvPr>
          <p:cNvSpPr>
            <a:spLocks xmlns:a="http://schemas.openxmlformats.org/drawingml/2006/main" noGrp="1"/>
          </p:cNvSpPr>
          <p:nvPr/>
        </p:nvSpPr>
        <p:spPr>
          <a:xfrm xmlns:a="http://schemas.openxmlformats.org/drawingml/2006/main">
            <a:off x="685800" y="1381125"/>
            <a:ext cx="1082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53636B"/>
                </a:solidFill>
                <a:latin typeface="Arial"/>
                <a:ea typeface="Arial"/>
                <a:cs typeface="Arial"/>
              </a:defRPr>
            </a:defPPr>
            <a:lvl1pPr>
              <a:buNone/>
              <a:defRPr sz="2100" b="0">
                <a:solidFill>
                  <a:srgbClr val="53636B"/>
                </a:solidFill>
                <a:latin typeface="Arial"/>
                <a:ea typeface="Arial"/>
                <a:cs typeface="Arial"/>
              </a:defRPr>
            </a:lvl1pPr>
            <a:lvl2pPr>
              <a:buNone/>
              <a:defRPr sz="2100" b="0">
                <a:solidFill>
                  <a:srgbClr val="53636B"/>
                </a:solidFill>
                <a:latin typeface="Arial"/>
                <a:ea typeface="Arial"/>
                <a:cs typeface="Arial"/>
              </a:defRPr>
            </a:lvl2pPr>
            <a:lvl3pPr>
              <a:buNone/>
              <a:defRPr sz="2100" b="0">
                <a:solidFill>
                  <a:srgbClr val="53636B"/>
                </a:solidFill>
                <a:latin typeface="Arial"/>
                <a:ea typeface="Arial"/>
                <a:cs typeface="Arial"/>
              </a:defRPr>
            </a:lvl3pPr>
            <a:lvl4pPr>
              <a:buNone/>
              <a:defRPr sz="2100" b="0">
                <a:solidFill>
                  <a:srgbClr val="53636B"/>
                </a:solidFill>
                <a:latin typeface="Arial"/>
                <a:ea typeface="Arial"/>
                <a:cs typeface="Arial"/>
              </a:defRPr>
            </a:lvl4pPr>
            <a:lvl5pPr>
              <a:buNone/>
              <a:defRPr sz="2100" b="0">
                <a:solidFill>
                  <a:srgbClr val="53636B"/>
                </a:solidFill>
                <a:latin typeface="Arial"/>
                <a:ea typeface="Arial"/>
                <a:cs typeface="Arial"/>
              </a:defRPr>
            </a:lvl5pPr>
            <a:lvl6pPr>
              <a:buNone/>
              <a:defRPr sz="2100" b="0">
                <a:solidFill>
                  <a:srgbClr val="53636B"/>
                </a:solidFill>
                <a:latin typeface="Arial"/>
                <a:ea typeface="Arial"/>
                <a:cs typeface="Arial"/>
              </a:defRPr>
            </a:lvl6pPr>
            <a:lvl7pPr>
              <a:buNone/>
              <a:defRPr sz="2100" b="0">
                <a:solidFill>
                  <a:srgbClr val="53636B"/>
                </a:solidFill>
                <a:latin typeface="Arial"/>
                <a:ea typeface="Arial"/>
                <a:cs typeface="Arial"/>
              </a:defRPr>
            </a:lvl7pPr>
            <a:lvl8pPr>
              <a:buNone/>
              <a:defRPr sz="2100" b="0">
                <a:solidFill>
                  <a:srgbClr val="53636B"/>
                </a:solidFill>
                <a:latin typeface="Arial"/>
                <a:ea typeface="Arial"/>
                <a:cs typeface="Arial"/>
              </a:defRPr>
            </a:lvl8pPr>
            <a:lvl9pPr>
              <a:buNone/>
              <a:defRPr sz="2100" b="0">
                <a:solidFill>
                  <a:srgbClr val="53636B"/>
                </a:solidFill>
                <a:latin typeface="Arial"/>
                <a:ea typeface="Arial"/>
                <a:cs typeface="Arial"/>
              </a:defRPr>
            </a:lvl9pPr>
          </a:lstStyle>
          <a:p xmlns:a="http://schemas.openxmlformats.org/drawingml/2006/main">
            <a:pPr>
              <a:buNone/>
              <a:defRPr sz="2100" b="0">
                <a:solidFill>
                  <a:srgbClr val="53636B"/>
                </a:solidFill>
                <a:latin typeface="Arial"/>
                <a:ea typeface="Arial"/>
                <a:cs typeface="Arial"/>
              </a:defRPr>
            </a:pPr>
            <a:r>
              <a:rPr sz="2100" b="0">
                <a:solidFill>
                  <a:srgbClr val="53636B"/>
                </a:solidFill>
                <a:latin typeface="Arial"/>
                <a:ea typeface="Arial"/>
                <a:cs typeface="Arial"/>
              </a:rPr>
              <a:t>An AI assistant helps with questions and can carry out delegated tasks.</a:t>
            </a:r>
          </a:p>
        </p:txBody>
      </p:sp>
      <p:sp>
        <p:nvSpPr>
          <p:cNvPr id="3" name="chatbot-heading">
            <a:extLst xmlns:a="http://schemas.openxmlformats.org/drawingml/2006/main">
              <a:ext uri="{FF2B5EF4-FFF2-40B4-BE49-F238E27FC236}">
                <a16:creationId xmlns:a16="http://schemas.microsoft.com/office/drawing/2014/main" id="{FB2EDF8C-CEF5-4D1D-8FFA-00A033FFAD2C}"/>
              </a:ext>
            </a:extLst>
          </p:cNvPr>
          <p:cNvSpPr>
            <a:spLocks xmlns:a="http://schemas.openxmlformats.org/drawingml/2006/main" noGrp="1"/>
          </p:cNvSpPr>
          <p:nvPr/>
        </p:nvSpPr>
        <p:spPr>
          <a:xfrm xmlns:a="http://schemas.openxmlformats.org/drawingml/2006/main">
            <a:off x="685800" y="2200275"/>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625" b="1">
                <a:solidFill>
                  <a:srgbClr val="53636B"/>
                </a:solidFill>
                <a:latin typeface="Arial"/>
                <a:ea typeface="Arial"/>
                <a:cs typeface="Arial"/>
              </a:defRPr>
            </a:defPPr>
            <a:lvl1pPr>
              <a:buNone/>
              <a:defRPr sz="2625" b="1">
                <a:solidFill>
                  <a:srgbClr val="53636B"/>
                </a:solidFill>
                <a:latin typeface="Arial"/>
                <a:ea typeface="Arial"/>
                <a:cs typeface="Arial"/>
              </a:defRPr>
            </a:lvl1pPr>
            <a:lvl2pPr>
              <a:buNone/>
              <a:defRPr sz="2625" b="1">
                <a:solidFill>
                  <a:srgbClr val="53636B"/>
                </a:solidFill>
                <a:latin typeface="Arial"/>
                <a:ea typeface="Arial"/>
                <a:cs typeface="Arial"/>
              </a:defRPr>
            </a:lvl2pPr>
            <a:lvl3pPr>
              <a:buNone/>
              <a:defRPr sz="2625" b="1">
                <a:solidFill>
                  <a:srgbClr val="53636B"/>
                </a:solidFill>
                <a:latin typeface="Arial"/>
                <a:ea typeface="Arial"/>
                <a:cs typeface="Arial"/>
              </a:defRPr>
            </a:lvl3pPr>
            <a:lvl4pPr>
              <a:buNone/>
              <a:defRPr sz="2625" b="1">
                <a:solidFill>
                  <a:srgbClr val="53636B"/>
                </a:solidFill>
                <a:latin typeface="Arial"/>
                <a:ea typeface="Arial"/>
                <a:cs typeface="Arial"/>
              </a:defRPr>
            </a:lvl4pPr>
            <a:lvl5pPr>
              <a:buNone/>
              <a:defRPr sz="2625" b="1">
                <a:solidFill>
                  <a:srgbClr val="53636B"/>
                </a:solidFill>
                <a:latin typeface="Arial"/>
                <a:ea typeface="Arial"/>
                <a:cs typeface="Arial"/>
              </a:defRPr>
            </a:lvl5pPr>
            <a:lvl6pPr>
              <a:buNone/>
              <a:defRPr sz="2625" b="1">
                <a:solidFill>
                  <a:srgbClr val="53636B"/>
                </a:solidFill>
                <a:latin typeface="Arial"/>
                <a:ea typeface="Arial"/>
                <a:cs typeface="Arial"/>
              </a:defRPr>
            </a:lvl6pPr>
            <a:lvl7pPr>
              <a:buNone/>
              <a:defRPr sz="2625" b="1">
                <a:solidFill>
                  <a:srgbClr val="53636B"/>
                </a:solidFill>
                <a:latin typeface="Arial"/>
                <a:ea typeface="Arial"/>
                <a:cs typeface="Arial"/>
              </a:defRPr>
            </a:lvl7pPr>
            <a:lvl8pPr>
              <a:buNone/>
              <a:defRPr sz="2625" b="1">
                <a:solidFill>
                  <a:srgbClr val="53636B"/>
                </a:solidFill>
                <a:latin typeface="Arial"/>
                <a:ea typeface="Arial"/>
                <a:cs typeface="Arial"/>
              </a:defRPr>
            </a:lvl8pPr>
            <a:lvl9pPr>
              <a:buNone/>
              <a:defRPr sz="2625" b="1">
                <a:solidFill>
                  <a:srgbClr val="53636B"/>
                </a:solidFill>
                <a:latin typeface="Arial"/>
                <a:ea typeface="Arial"/>
                <a:cs typeface="Arial"/>
              </a:defRPr>
            </a:lvl9pPr>
          </a:lstStyle>
          <a:p xmlns:a="http://schemas.openxmlformats.org/drawingml/2006/main">
            <a:pPr>
              <a:buNone/>
              <a:defRPr sz="2625" b="1">
                <a:solidFill>
                  <a:srgbClr val="53636B"/>
                </a:solidFill>
                <a:latin typeface="Arial"/>
                <a:ea typeface="Arial"/>
                <a:cs typeface="Arial"/>
              </a:defRPr>
            </a:pPr>
            <a:r>
              <a:rPr sz="2625" b="1">
                <a:solidFill>
                  <a:srgbClr val="53636B"/>
                </a:solidFill>
                <a:latin typeface="Arial"/>
                <a:ea typeface="Arial"/>
                <a:cs typeface="Arial"/>
              </a:rPr>
              <a:t>Questions and answers</a:t>
            </a:r>
          </a:p>
        </p:txBody>
      </p:sp>
      <p:sp>
        <p:nvSpPr>
          <p:cNvPr id="4" name="agent-heading">
            <a:extLst xmlns:a="http://schemas.openxmlformats.org/drawingml/2006/main">
              <a:ext uri="{FF2B5EF4-FFF2-40B4-BE49-F238E27FC236}">
                <a16:creationId xmlns:a16="http://schemas.microsoft.com/office/drawing/2014/main" id="{EB9A755B-B732-47A1-A5A2-4E4233708353}"/>
              </a:ext>
            </a:extLst>
          </p:cNvPr>
          <p:cNvSpPr>
            <a:spLocks xmlns:a="http://schemas.openxmlformats.org/drawingml/2006/main" noGrp="1"/>
          </p:cNvSpPr>
          <p:nvPr/>
        </p:nvSpPr>
        <p:spPr>
          <a:xfrm xmlns:a="http://schemas.openxmlformats.org/drawingml/2006/main">
            <a:off x="6477000" y="2200275"/>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625" b="1">
                <a:solidFill>
                  <a:srgbClr val="076C70"/>
                </a:solidFill>
                <a:latin typeface="Arial"/>
                <a:ea typeface="Arial"/>
                <a:cs typeface="Arial"/>
              </a:defRPr>
            </a:defPPr>
            <a:lvl1pPr>
              <a:buNone/>
              <a:defRPr sz="2625" b="1">
                <a:solidFill>
                  <a:srgbClr val="076C70"/>
                </a:solidFill>
                <a:latin typeface="Arial"/>
                <a:ea typeface="Arial"/>
                <a:cs typeface="Arial"/>
              </a:defRPr>
            </a:lvl1pPr>
            <a:lvl2pPr>
              <a:buNone/>
              <a:defRPr sz="2625" b="1">
                <a:solidFill>
                  <a:srgbClr val="076C70"/>
                </a:solidFill>
                <a:latin typeface="Arial"/>
                <a:ea typeface="Arial"/>
                <a:cs typeface="Arial"/>
              </a:defRPr>
            </a:lvl2pPr>
            <a:lvl3pPr>
              <a:buNone/>
              <a:defRPr sz="2625" b="1">
                <a:solidFill>
                  <a:srgbClr val="076C70"/>
                </a:solidFill>
                <a:latin typeface="Arial"/>
                <a:ea typeface="Arial"/>
                <a:cs typeface="Arial"/>
              </a:defRPr>
            </a:lvl3pPr>
            <a:lvl4pPr>
              <a:buNone/>
              <a:defRPr sz="2625" b="1">
                <a:solidFill>
                  <a:srgbClr val="076C70"/>
                </a:solidFill>
                <a:latin typeface="Arial"/>
                <a:ea typeface="Arial"/>
                <a:cs typeface="Arial"/>
              </a:defRPr>
            </a:lvl4pPr>
            <a:lvl5pPr>
              <a:buNone/>
              <a:defRPr sz="2625" b="1">
                <a:solidFill>
                  <a:srgbClr val="076C70"/>
                </a:solidFill>
                <a:latin typeface="Arial"/>
                <a:ea typeface="Arial"/>
                <a:cs typeface="Arial"/>
              </a:defRPr>
            </a:lvl5pPr>
            <a:lvl6pPr>
              <a:buNone/>
              <a:defRPr sz="2625" b="1">
                <a:solidFill>
                  <a:srgbClr val="076C70"/>
                </a:solidFill>
                <a:latin typeface="Arial"/>
                <a:ea typeface="Arial"/>
                <a:cs typeface="Arial"/>
              </a:defRPr>
            </a:lvl6pPr>
            <a:lvl7pPr>
              <a:buNone/>
              <a:defRPr sz="2625" b="1">
                <a:solidFill>
                  <a:srgbClr val="076C70"/>
                </a:solidFill>
                <a:latin typeface="Arial"/>
                <a:ea typeface="Arial"/>
                <a:cs typeface="Arial"/>
              </a:defRPr>
            </a:lvl7pPr>
            <a:lvl8pPr>
              <a:buNone/>
              <a:defRPr sz="2625" b="1">
                <a:solidFill>
                  <a:srgbClr val="076C70"/>
                </a:solidFill>
                <a:latin typeface="Arial"/>
                <a:ea typeface="Arial"/>
                <a:cs typeface="Arial"/>
              </a:defRPr>
            </a:lvl8pPr>
            <a:lvl9pPr>
              <a:buNone/>
              <a:defRPr sz="2625" b="1">
                <a:solidFill>
                  <a:srgbClr val="076C70"/>
                </a:solidFill>
                <a:latin typeface="Arial"/>
                <a:ea typeface="Arial"/>
                <a:cs typeface="Arial"/>
              </a:defRPr>
            </a:lvl9pPr>
          </a:lstStyle>
          <a:p xmlns:a="http://schemas.openxmlformats.org/drawingml/2006/main">
            <a:pPr>
              <a:buNone/>
              <a:defRPr sz="2625" b="1">
                <a:solidFill>
                  <a:srgbClr val="076C70"/>
                </a:solidFill>
                <a:latin typeface="Arial"/>
                <a:ea typeface="Arial"/>
                <a:cs typeface="Arial"/>
              </a:defRPr>
            </a:pPr>
            <a:r>
              <a:rPr sz="2625" b="1">
                <a:solidFill>
                  <a:srgbClr val="076C70"/>
                </a:solidFill>
                <a:latin typeface="Arial"/>
                <a:ea typeface="Arial"/>
                <a:cs typeface="Arial"/>
              </a:rPr>
              <a:t>Task delegation</a:t>
            </a:r>
          </a:p>
        </p:txBody>
      </p:sp>
      <p:pic>
        <p:nvPicPr>
          <p:cNvPr id="5" name="">
            <a:extLst xmlns:a="http://schemas.openxmlformats.org/drawingml/2006/main">
              <a:ext uri="{FF2B5EF4-FFF2-40B4-BE49-F238E27FC236}">
                <a16:creationId xmlns:a16="http://schemas.microsoft.com/office/drawing/2014/main" id="{DB25CFED-BFD3-4D02-8D8C-5D059B6845CA}"/>
              </a:ext>
            </a:extLst>
          </p:cNvPr>
          <p:cNvPicPr>
            <a:picLocks xmlns:a="http://schemas.openxmlformats.org/drawingml/2006/main" noChangeAspect="1"/>
          </p:cNvPicPr>
          <p:nvPr/>
        </p:nvPicPr>
        <p:blipFill>
          <a:blip xmlns:r="http://schemas.openxmlformats.org/officeDocument/2006/relationships" xmlns:a="http://schemas.openxmlformats.org/drawingml/2006/main" r:embed="R61dc601cc78b46ed"/>
          <a:stretch xmlns:a="http://schemas.openxmlformats.org/drawingml/2006/main"/>
        </p:blipFill>
        <p:spPr>
          <a:xfrm xmlns:a="http://schemas.openxmlformats.org/drawingml/2006/main">
            <a:off x="1717675" y="2676525"/>
            <a:ext cx="2794000" cy="2095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D2339448-01AF-489B-9328-21A132B25C23}"/>
              </a:ext>
            </a:extLst>
          </p:cNvPr>
          <p:cNvPicPr>
            <a:picLocks xmlns:a="http://schemas.openxmlformats.org/drawingml/2006/main" noChangeAspect="1"/>
          </p:cNvPicPr>
          <p:nvPr/>
        </p:nvPicPr>
        <p:blipFill>
          <a:blip xmlns:r="http://schemas.openxmlformats.org/officeDocument/2006/relationships" xmlns:a="http://schemas.openxmlformats.org/drawingml/2006/main" r:embed="Ra75fcfc1870649b4"/>
          <a:stretch xmlns:a="http://schemas.openxmlformats.org/drawingml/2006/main"/>
        </p:blipFill>
        <p:spPr>
          <a:xfrm xmlns:a="http://schemas.openxmlformats.org/drawingml/2006/main">
            <a:off x="7508875" y="2676525"/>
            <a:ext cx="2794000" cy="2095500"/>
          </a:xfrm>
          <a:prstGeom xmlns:a="http://schemas.openxmlformats.org/drawingml/2006/main" prst="rect">
            <a:avLst/>
          </a:prstGeom>
        </p:spPr>
      </p:pic>
      <p:sp>
        <p:nvSpPr>
          <p:cNvPr id="7" name="chatbot-description">
            <a:extLst xmlns:a="http://schemas.openxmlformats.org/drawingml/2006/main">
              <a:ext uri="{FF2B5EF4-FFF2-40B4-BE49-F238E27FC236}">
                <a16:creationId xmlns:a16="http://schemas.microsoft.com/office/drawing/2014/main" id="{7DA2B115-C214-416B-AED6-E2AD6BED674F}"/>
              </a:ext>
            </a:extLst>
          </p:cNvPr>
          <p:cNvSpPr>
            <a:spLocks xmlns:a="http://schemas.openxmlformats.org/drawingml/2006/main" noGrp="1"/>
          </p:cNvSpPr>
          <p:nvPr/>
        </p:nvSpPr>
        <p:spPr>
          <a:xfrm xmlns:a="http://schemas.openxmlformats.org/drawingml/2006/main">
            <a:off x="685800" y="4848225"/>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182B36"/>
                </a:solidFill>
                <a:latin typeface="Arial"/>
                <a:ea typeface="Arial"/>
                <a:cs typeface="Arial"/>
              </a:defRPr>
            </a:defPPr>
            <a:lvl1pPr>
              <a:buNone/>
              <a:defRPr sz="2100" b="0">
                <a:solidFill>
                  <a:srgbClr val="182B36"/>
                </a:solidFill>
                <a:latin typeface="Arial"/>
                <a:ea typeface="Arial"/>
                <a:cs typeface="Arial"/>
              </a:defRPr>
            </a:lvl1pPr>
            <a:lvl2pPr>
              <a:buNone/>
              <a:defRPr sz="2100" b="0">
                <a:solidFill>
                  <a:srgbClr val="182B36"/>
                </a:solidFill>
                <a:latin typeface="Arial"/>
                <a:ea typeface="Arial"/>
                <a:cs typeface="Arial"/>
              </a:defRPr>
            </a:lvl2pPr>
            <a:lvl3pPr>
              <a:buNone/>
              <a:defRPr sz="2100" b="0">
                <a:solidFill>
                  <a:srgbClr val="182B36"/>
                </a:solidFill>
                <a:latin typeface="Arial"/>
                <a:ea typeface="Arial"/>
                <a:cs typeface="Arial"/>
              </a:defRPr>
            </a:lvl3pPr>
            <a:lvl4pPr>
              <a:buNone/>
              <a:defRPr sz="2100" b="0">
                <a:solidFill>
                  <a:srgbClr val="182B36"/>
                </a:solidFill>
                <a:latin typeface="Arial"/>
                <a:ea typeface="Arial"/>
                <a:cs typeface="Arial"/>
              </a:defRPr>
            </a:lvl4pPr>
            <a:lvl5pPr>
              <a:buNone/>
              <a:defRPr sz="2100" b="0">
                <a:solidFill>
                  <a:srgbClr val="182B36"/>
                </a:solidFill>
                <a:latin typeface="Arial"/>
                <a:ea typeface="Arial"/>
                <a:cs typeface="Arial"/>
              </a:defRPr>
            </a:lvl5pPr>
            <a:lvl6pPr>
              <a:buNone/>
              <a:defRPr sz="2100" b="0">
                <a:solidFill>
                  <a:srgbClr val="182B36"/>
                </a:solidFill>
                <a:latin typeface="Arial"/>
                <a:ea typeface="Arial"/>
                <a:cs typeface="Arial"/>
              </a:defRPr>
            </a:lvl6pPr>
            <a:lvl7pPr>
              <a:buNone/>
              <a:defRPr sz="2100" b="0">
                <a:solidFill>
                  <a:srgbClr val="182B36"/>
                </a:solidFill>
                <a:latin typeface="Arial"/>
                <a:ea typeface="Arial"/>
                <a:cs typeface="Arial"/>
              </a:defRPr>
            </a:lvl7pPr>
            <a:lvl8pPr>
              <a:buNone/>
              <a:defRPr sz="2100" b="0">
                <a:solidFill>
                  <a:srgbClr val="182B36"/>
                </a:solidFill>
                <a:latin typeface="Arial"/>
                <a:ea typeface="Arial"/>
                <a:cs typeface="Arial"/>
              </a:defRPr>
            </a:lvl8pPr>
            <a:lvl9pPr>
              <a:buNone/>
              <a:defRPr sz="2100" b="0">
                <a:solidFill>
                  <a:srgbClr val="182B36"/>
                </a:solidFill>
                <a:latin typeface="Arial"/>
                <a:ea typeface="Arial"/>
                <a:cs typeface="Arial"/>
              </a:defRPr>
            </a:lvl9pPr>
          </a:lstStyle>
          <a:p xmlns:a="http://schemas.openxmlformats.org/drawingml/2006/main">
            <a:pPr>
              <a:buNone/>
              <a:defRPr sz="2100" b="0">
                <a:solidFill>
                  <a:srgbClr val="182B36"/>
                </a:solidFill>
                <a:latin typeface="Arial"/>
                <a:ea typeface="Arial"/>
                <a:cs typeface="Arial"/>
              </a:defRPr>
            </a:pPr>
            <a:r>
              <a:rPr sz="2100" b="0">
                <a:solidFill>
                  <a:srgbClr val="182B36"/>
                </a:solidFill>
                <a:latin typeface="Arial"/>
                <a:ea typeface="Arial"/>
                <a:cs typeface="Arial"/>
              </a:rPr>
              <a:t>Ask for explanations, advice,</a:t>
            </a:r>
          </a:p>
          <a:p xmlns:a="http://schemas.openxmlformats.org/drawingml/2006/main">
            <a:pPr>
              <a:buNone/>
              <a:defRPr sz="2100" b="0">
                <a:solidFill>
                  <a:srgbClr val="182B36"/>
                </a:solidFill>
                <a:latin typeface="Arial"/>
                <a:ea typeface="Arial"/>
                <a:cs typeface="Arial"/>
              </a:defRPr>
            </a:pPr>
            <a:r>
              <a:rPr sz="2100" b="0">
                <a:solidFill>
                  <a:srgbClr val="182B36"/>
                </a:solidFill>
                <a:latin typeface="Arial"/>
                <a:ea typeface="Arial"/>
                <a:cs typeface="Arial"/>
              </a:rPr>
              <a:t>or suggestions.</a:t>
            </a:r>
          </a:p>
        </p:txBody>
      </p:sp>
      <p:sp>
        <p:nvSpPr>
          <p:cNvPr id="8" name="agent-description">
            <a:extLst xmlns:a="http://schemas.openxmlformats.org/drawingml/2006/main">
              <a:ext uri="{FF2B5EF4-FFF2-40B4-BE49-F238E27FC236}">
                <a16:creationId xmlns:a16="http://schemas.microsoft.com/office/drawing/2014/main" id="{54ADC516-F90E-4AEA-BAA0-E7842ACDEC6B}"/>
              </a:ext>
            </a:extLst>
          </p:cNvPr>
          <p:cNvSpPr>
            <a:spLocks xmlns:a="http://schemas.openxmlformats.org/drawingml/2006/main" noGrp="1"/>
          </p:cNvSpPr>
          <p:nvPr/>
        </p:nvSpPr>
        <p:spPr>
          <a:xfrm xmlns:a="http://schemas.openxmlformats.org/drawingml/2006/main">
            <a:off x="6477000" y="4848225"/>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182B36"/>
                </a:solidFill>
                <a:latin typeface="Arial"/>
                <a:ea typeface="Arial"/>
                <a:cs typeface="Arial"/>
              </a:defRPr>
            </a:defPPr>
            <a:lvl1pPr>
              <a:buNone/>
              <a:defRPr sz="2100" b="0">
                <a:solidFill>
                  <a:srgbClr val="182B36"/>
                </a:solidFill>
                <a:latin typeface="Arial"/>
                <a:ea typeface="Arial"/>
                <a:cs typeface="Arial"/>
              </a:defRPr>
            </a:lvl1pPr>
            <a:lvl2pPr>
              <a:buNone/>
              <a:defRPr sz="2100" b="0">
                <a:solidFill>
                  <a:srgbClr val="182B36"/>
                </a:solidFill>
                <a:latin typeface="Arial"/>
                <a:ea typeface="Arial"/>
                <a:cs typeface="Arial"/>
              </a:defRPr>
            </a:lvl2pPr>
            <a:lvl3pPr>
              <a:buNone/>
              <a:defRPr sz="2100" b="0">
                <a:solidFill>
                  <a:srgbClr val="182B36"/>
                </a:solidFill>
                <a:latin typeface="Arial"/>
                <a:ea typeface="Arial"/>
                <a:cs typeface="Arial"/>
              </a:defRPr>
            </a:lvl3pPr>
            <a:lvl4pPr>
              <a:buNone/>
              <a:defRPr sz="2100" b="0">
                <a:solidFill>
                  <a:srgbClr val="182B36"/>
                </a:solidFill>
                <a:latin typeface="Arial"/>
                <a:ea typeface="Arial"/>
                <a:cs typeface="Arial"/>
              </a:defRPr>
            </a:lvl4pPr>
            <a:lvl5pPr>
              <a:buNone/>
              <a:defRPr sz="2100" b="0">
                <a:solidFill>
                  <a:srgbClr val="182B36"/>
                </a:solidFill>
                <a:latin typeface="Arial"/>
                <a:ea typeface="Arial"/>
                <a:cs typeface="Arial"/>
              </a:defRPr>
            </a:lvl5pPr>
            <a:lvl6pPr>
              <a:buNone/>
              <a:defRPr sz="2100" b="0">
                <a:solidFill>
                  <a:srgbClr val="182B36"/>
                </a:solidFill>
                <a:latin typeface="Arial"/>
                <a:ea typeface="Arial"/>
                <a:cs typeface="Arial"/>
              </a:defRPr>
            </a:lvl6pPr>
            <a:lvl7pPr>
              <a:buNone/>
              <a:defRPr sz="2100" b="0">
                <a:solidFill>
                  <a:srgbClr val="182B36"/>
                </a:solidFill>
                <a:latin typeface="Arial"/>
                <a:ea typeface="Arial"/>
                <a:cs typeface="Arial"/>
              </a:defRPr>
            </a:lvl7pPr>
            <a:lvl8pPr>
              <a:buNone/>
              <a:defRPr sz="2100" b="0">
                <a:solidFill>
                  <a:srgbClr val="182B36"/>
                </a:solidFill>
                <a:latin typeface="Arial"/>
                <a:ea typeface="Arial"/>
                <a:cs typeface="Arial"/>
              </a:defRPr>
            </a:lvl8pPr>
            <a:lvl9pPr>
              <a:buNone/>
              <a:defRPr sz="2100" b="0">
                <a:solidFill>
                  <a:srgbClr val="182B36"/>
                </a:solidFill>
                <a:latin typeface="Arial"/>
                <a:ea typeface="Arial"/>
                <a:cs typeface="Arial"/>
              </a:defRPr>
            </a:lvl9pPr>
          </a:lstStyle>
          <a:p xmlns:a="http://schemas.openxmlformats.org/drawingml/2006/main">
            <a:pPr>
              <a:buNone/>
              <a:defRPr sz="2100" b="0">
                <a:solidFill>
                  <a:srgbClr val="182B36"/>
                </a:solidFill>
                <a:latin typeface="Arial"/>
                <a:ea typeface="Arial"/>
                <a:cs typeface="Arial"/>
              </a:defRPr>
            </a:pPr>
            <a:r>
              <a:rPr sz="2100" b="0">
                <a:solidFill>
                  <a:srgbClr val="182B36"/>
                </a:solidFill>
                <a:latin typeface="Arial"/>
                <a:ea typeface="Arial"/>
                <a:cs typeface="Arial"/>
              </a:rPr>
              <a:t>Ask the assistant to carry out work</a:t>
            </a:r>
          </a:p>
          <a:p xmlns:a="http://schemas.openxmlformats.org/drawingml/2006/main">
            <a:pPr>
              <a:buNone/>
              <a:defRPr sz="2100" b="0">
                <a:solidFill>
                  <a:srgbClr val="182B36"/>
                </a:solidFill>
                <a:latin typeface="Arial"/>
                <a:ea typeface="Arial"/>
                <a:cs typeface="Arial"/>
              </a:defRPr>
            </a:pPr>
            <a:r>
              <a:rPr sz="2100" b="0">
                <a:solidFill>
                  <a:srgbClr val="182B36"/>
                </a:solidFill>
                <a:latin typeface="Arial"/>
                <a:ea typeface="Arial"/>
                <a:cs typeface="Arial"/>
              </a:rPr>
              <a:t>and produce a result.</a:t>
            </a:r>
          </a:p>
        </p:txBody>
      </p:sp>
      <p:sp>
        <p:nvSpPr>
          <p:cNvPr id="9" name="chatbot-example">
            <a:extLst xmlns:a="http://schemas.openxmlformats.org/drawingml/2006/main">
              <a:ext uri="{FF2B5EF4-FFF2-40B4-BE49-F238E27FC236}">
                <a16:creationId xmlns:a16="http://schemas.microsoft.com/office/drawing/2014/main" id="{0DD9264E-8AB1-493F-A3D4-149F3D4F0FF3}"/>
              </a:ext>
            </a:extLst>
          </p:cNvPr>
          <p:cNvSpPr>
            <a:spLocks xmlns:a="http://schemas.openxmlformats.org/drawingml/2006/main" noGrp="1"/>
          </p:cNvSpPr>
          <p:nvPr/>
        </p:nvSpPr>
        <p:spPr>
          <a:xfrm xmlns:a="http://schemas.openxmlformats.org/drawingml/2006/main">
            <a:off x="685800" y="56578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53636B"/>
                </a:solidFill>
                <a:latin typeface="Arial"/>
                <a:ea typeface="Arial"/>
                <a:cs typeface="Arial"/>
              </a:defRPr>
            </a:defPPr>
            <a:lvl1pPr>
              <a:buNone/>
              <a:defRPr sz="1875" b="0">
                <a:solidFill>
                  <a:srgbClr val="53636B"/>
                </a:solidFill>
                <a:latin typeface="Arial"/>
                <a:ea typeface="Arial"/>
                <a:cs typeface="Arial"/>
              </a:defRPr>
            </a:lvl1pPr>
            <a:lvl2pPr>
              <a:buNone/>
              <a:defRPr sz="1875" b="0">
                <a:solidFill>
                  <a:srgbClr val="53636B"/>
                </a:solidFill>
                <a:latin typeface="Arial"/>
                <a:ea typeface="Arial"/>
                <a:cs typeface="Arial"/>
              </a:defRPr>
            </a:lvl2pPr>
            <a:lvl3pPr>
              <a:buNone/>
              <a:defRPr sz="1875" b="0">
                <a:solidFill>
                  <a:srgbClr val="53636B"/>
                </a:solidFill>
                <a:latin typeface="Arial"/>
                <a:ea typeface="Arial"/>
                <a:cs typeface="Arial"/>
              </a:defRPr>
            </a:lvl3pPr>
            <a:lvl4pPr>
              <a:buNone/>
              <a:defRPr sz="1875" b="0">
                <a:solidFill>
                  <a:srgbClr val="53636B"/>
                </a:solidFill>
                <a:latin typeface="Arial"/>
                <a:ea typeface="Arial"/>
                <a:cs typeface="Arial"/>
              </a:defRPr>
            </a:lvl4pPr>
            <a:lvl5pPr>
              <a:buNone/>
              <a:defRPr sz="1875" b="0">
                <a:solidFill>
                  <a:srgbClr val="53636B"/>
                </a:solidFill>
                <a:latin typeface="Arial"/>
                <a:ea typeface="Arial"/>
                <a:cs typeface="Arial"/>
              </a:defRPr>
            </a:lvl5pPr>
            <a:lvl6pPr>
              <a:buNone/>
              <a:defRPr sz="1875" b="0">
                <a:solidFill>
                  <a:srgbClr val="53636B"/>
                </a:solidFill>
                <a:latin typeface="Arial"/>
                <a:ea typeface="Arial"/>
                <a:cs typeface="Arial"/>
              </a:defRPr>
            </a:lvl6pPr>
            <a:lvl7pPr>
              <a:buNone/>
              <a:defRPr sz="1875" b="0">
                <a:solidFill>
                  <a:srgbClr val="53636B"/>
                </a:solidFill>
                <a:latin typeface="Arial"/>
                <a:ea typeface="Arial"/>
                <a:cs typeface="Arial"/>
              </a:defRPr>
            </a:lvl7pPr>
            <a:lvl8pPr>
              <a:buNone/>
              <a:defRPr sz="1875" b="0">
                <a:solidFill>
                  <a:srgbClr val="53636B"/>
                </a:solidFill>
                <a:latin typeface="Arial"/>
                <a:ea typeface="Arial"/>
                <a:cs typeface="Arial"/>
              </a:defRPr>
            </a:lvl8pPr>
            <a:lvl9pPr>
              <a:buNone/>
              <a:defRPr sz="1875" b="0">
                <a:solidFill>
                  <a:srgbClr val="53636B"/>
                </a:solidFill>
                <a:latin typeface="Arial"/>
                <a:ea typeface="Arial"/>
                <a:cs typeface="Arial"/>
              </a:defRPr>
            </a:lvl9pPr>
          </a:lstStyle>
          <a:p xmlns:a="http://schemas.openxmlformats.org/drawingml/2006/main">
            <a:pPr>
              <a:buNone/>
              <a:defRPr sz="1875" b="0">
                <a:solidFill>
                  <a:srgbClr val="53636B"/>
                </a:solidFill>
                <a:latin typeface="Arial"/>
                <a:ea typeface="Arial"/>
                <a:cs typeface="Arial"/>
              </a:defRPr>
            </a:pPr>
            <a:r>
              <a:rPr sz="1875" b="0">
                <a:solidFill>
                  <a:srgbClr val="53636B"/>
                </a:solidFill>
                <a:latin typeface="Arial"/>
                <a:ea typeface="Arial"/>
                <a:cs typeface="Arial"/>
              </a:rPr>
              <a:t>“How could these data be analysed?”</a:t>
            </a:r>
          </a:p>
        </p:txBody>
      </p:sp>
      <p:sp>
        <p:nvSpPr>
          <p:cNvPr id="10" name="agent-example">
            <a:extLst xmlns:a="http://schemas.openxmlformats.org/drawingml/2006/main">
              <a:ext uri="{FF2B5EF4-FFF2-40B4-BE49-F238E27FC236}">
                <a16:creationId xmlns:a16="http://schemas.microsoft.com/office/drawing/2014/main" id="{EF31E612-7131-412A-9929-EFE534A873F9}"/>
              </a:ext>
            </a:extLst>
          </p:cNvPr>
          <p:cNvSpPr>
            <a:spLocks xmlns:a="http://schemas.openxmlformats.org/drawingml/2006/main" noGrp="1"/>
          </p:cNvSpPr>
          <p:nvPr/>
        </p:nvSpPr>
        <p:spPr>
          <a:xfrm xmlns:a="http://schemas.openxmlformats.org/drawingml/2006/main">
            <a:off x="6477000" y="5657850"/>
            <a:ext cx="485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875" b="0">
                <a:solidFill>
                  <a:srgbClr val="076C70"/>
                </a:solidFill>
                <a:latin typeface="Arial"/>
                <a:ea typeface="Arial"/>
                <a:cs typeface="Arial"/>
              </a:defRPr>
            </a:defPPr>
            <a:lvl1pPr>
              <a:buNone/>
              <a:defRPr sz="1875" b="0">
                <a:solidFill>
                  <a:srgbClr val="076C70"/>
                </a:solidFill>
                <a:latin typeface="Arial"/>
                <a:ea typeface="Arial"/>
                <a:cs typeface="Arial"/>
              </a:defRPr>
            </a:lvl1pPr>
            <a:lvl2pPr>
              <a:buNone/>
              <a:defRPr sz="1875" b="0">
                <a:solidFill>
                  <a:srgbClr val="076C70"/>
                </a:solidFill>
                <a:latin typeface="Arial"/>
                <a:ea typeface="Arial"/>
                <a:cs typeface="Arial"/>
              </a:defRPr>
            </a:lvl2pPr>
            <a:lvl3pPr>
              <a:buNone/>
              <a:defRPr sz="1875" b="0">
                <a:solidFill>
                  <a:srgbClr val="076C70"/>
                </a:solidFill>
                <a:latin typeface="Arial"/>
                <a:ea typeface="Arial"/>
                <a:cs typeface="Arial"/>
              </a:defRPr>
            </a:lvl3pPr>
            <a:lvl4pPr>
              <a:buNone/>
              <a:defRPr sz="1875" b="0">
                <a:solidFill>
                  <a:srgbClr val="076C70"/>
                </a:solidFill>
                <a:latin typeface="Arial"/>
                <a:ea typeface="Arial"/>
                <a:cs typeface="Arial"/>
              </a:defRPr>
            </a:lvl4pPr>
            <a:lvl5pPr>
              <a:buNone/>
              <a:defRPr sz="1875" b="0">
                <a:solidFill>
                  <a:srgbClr val="076C70"/>
                </a:solidFill>
                <a:latin typeface="Arial"/>
                <a:ea typeface="Arial"/>
                <a:cs typeface="Arial"/>
              </a:defRPr>
            </a:lvl5pPr>
            <a:lvl6pPr>
              <a:buNone/>
              <a:defRPr sz="1875" b="0">
                <a:solidFill>
                  <a:srgbClr val="076C70"/>
                </a:solidFill>
                <a:latin typeface="Arial"/>
                <a:ea typeface="Arial"/>
                <a:cs typeface="Arial"/>
              </a:defRPr>
            </a:lvl6pPr>
            <a:lvl7pPr>
              <a:buNone/>
              <a:defRPr sz="1875" b="0">
                <a:solidFill>
                  <a:srgbClr val="076C70"/>
                </a:solidFill>
                <a:latin typeface="Arial"/>
                <a:ea typeface="Arial"/>
                <a:cs typeface="Arial"/>
              </a:defRPr>
            </a:lvl7pPr>
            <a:lvl8pPr>
              <a:buNone/>
              <a:defRPr sz="1875" b="0">
                <a:solidFill>
                  <a:srgbClr val="076C70"/>
                </a:solidFill>
                <a:latin typeface="Arial"/>
                <a:ea typeface="Arial"/>
                <a:cs typeface="Arial"/>
              </a:defRPr>
            </a:lvl8pPr>
            <a:lvl9pPr>
              <a:buNone/>
              <a:defRPr sz="1875" b="0">
                <a:solidFill>
                  <a:srgbClr val="076C70"/>
                </a:solidFill>
                <a:latin typeface="Arial"/>
                <a:ea typeface="Arial"/>
                <a:cs typeface="Arial"/>
              </a:defRPr>
            </a:lvl9pPr>
          </a:lstStyle>
          <a:p xmlns:a="http://schemas.openxmlformats.org/drawingml/2006/main">
            <a:pPr>
              <a:buNone/>
              <a:defRPr sz="1875" b="0">
                <a:solidFill>
                  <a:srgbClr val="076C70"/>
                </a:solidFill>
                <a:latin typeface="Arial"/>
                <a:ea typeface="Arial"/>
                <a:cs typeface="Arial"/>
              </a:defRPr>
            </a:pPr>
            <a:r>
              <a:rPr sz="1875" b="0">
                <a:solidFill>
                  <a:srgbClr val="076C70"/>
                </a:solidFill>
                <a:latin typeface="Arial"/>
                <a:ea typeface="Arial"/>
                <a:cs typeface="Arial"/>
              </a:rPr>
              <a:t>“Analyse these data and prepare</a:t>
            </a:r>
          </a:p>
          <a:p xmlns:a="http://schemas.openxmlformats.org/drawingml/2006/main">
            <a:pPr>
              <a:buNone/>
              <a:defRPr sz="1875" b="0">
                <a:solidFill>
                  <a:srgbClr val="076C70"/>
                </a:solidFill>
                <a:latin typeface="Arial"/>
                <a:ea typeface="Arial"/>
                <a:cs typeface="Arial"/>
              </a:defRPr>
            </a:pPr>
            <a:r>
              <a:rPr sz="1875" b="0">
                <a:solidFill>
                  <a:srgbClr val="076C70"/>
                </a:solidFill>
                <a:latin typeface="Arial"/>
                <a:ea typeface="Arial"/>
                <a:cs typeface="Arial"/>
              </a:rPr>
              <a:t>a short presentation.”</a:t>
            </a:r>
          </a:p>
        </p:txBody>
      </p:sp>
      <p:sp>
        <p:nvSpPr>
          <p:cNvPr id="11" name="slide-number">
            <a:extLst xmlns:a="http://schemas.openxmlformats.org/drawingml/2006/main">
              <a:ext uri="{FF2B5EF4-FFF2-40B4-BE49-F238E27FC236}">
                <a16:creationId xmlns:a16="http://schemas.microsoft.com/office/drawing/2014/main" id="{13C9F37E-0F0F-419D-B1FB-D7DABCDD931D}"/>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2</a:t>
            </a:r>
          </a:p>
        </p:txBody>
      </p:sp>
    </p:spTree>
    <p:extLst>
      <p:ext uri="{BB962C8B-B14F-4D97-AF65-F5344CB8AC3E}">
        <p14:creationId xmlns:p14="http://schemas.microsoft.com/office/powerpoint/2010/main" val="1173935382"/>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harness-slide-title">
            <a:extLst xmlns:a="http://schemas.openxmlformats.org/drawingml/2006/main">
              <a:ext uri="{FF2B5EF4-FFF2-40B4-BE49-F238E27FC236}">
                <a16:creationId xmlns:a16="http://schemas.microsoft.com/office/drawing/2014/main" id="{2BE57367-51CE-4A99-A182-F0AF4817A8EA}"/>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The architecture of an AI assistant</a:t>
            </a:r>
          </a:p>
        </p:txBody>
      </p:sp>
      <p:pic>
        <p:nvPicPr>
          <p:cNvPr id="2" name="">
            <a:extLst xmlns:a="http://schemas.openxmlformats.org/drawingml/2006/main">
              <a:ext uri="{FF2B5EF4-FFF2-40B4-BE49-F238E27FC236}">
                <a16:creationId xmlns:a16="http://schemas.microsoft.com/office/drawing/2014/main" id="{B8891EB3-50A7-49A3-B84C-CE0DA53693CA}"/>
              </a:ext>
            </a:extLst>
          </p:cNvPr>
          <p:cNvPicPr>
            <a:picLocks xmlns:a="http://schemas.openxmlformats.org/drawingml/2006/main" noChangeAspect="1"/>
          </p:cNvPicPr>
          <p:nvPr/>
        </p:nvPicPr>
        <p:blipFill>
          <a:blip xmlns:r="http://schemas.openxmlformats.org/officeDocument/2006/relationships" xmlns:a="http://schemas.openxmlformats.org/drawingml/2006/main" r:embed="R1bf52066a8334377"/>
          <a:stretch xmlns:a="http://schemas.openxmlformats.org/drawingml/2006/main"/>
        </p:blipFill>
        <p:spPr>
          <a:xfrm xmlns:a="http://schemas.openxmlformats.org/drawingml/2006/main">
            <a:off x="409575" y="1924050"/>
            <a:ext cx="6734175" cy="4762500"/>
          </a:xfrm>
          <a:prstGeom xmlns:a="http://schemas.openxmlformats.org/drawingml/2006/main" prst="rect">
            <a:avLst/>
          </a:prstGeom>
        </p:spPr>
      </p:pic>
      <p:sp>
        <p:nvSpPr>
          <p:cNvPr id="3" name="model-label">
            <a:extLst xmlns:a="http://schemas.openxmlformats.org/drawingml/2006/main">
              <a:ext uri="{FF2B5EF4-FFF2-40B4-BE49-F238E27FC236}">
                <a16:creationId xmlns:a16="http://schemas.microsoft.com/office/drawing/2014/main" id="{27A3D374-6B96-4FB6-8A29-E24DCA633324}"/>
              </a:ext>
            </a:extLst>
          </p:cNvPr>
          <p:cNvSpPr>
            <a:spLocks xmlns:a="http://schemas.openxmlformats.org/drawingml/2006/main" noGrp="1"/>
          </p:cNvSpPr>
          <p:nvPr/>
        </p:nvSpPr>
        <p:spPr>
          <a:xfrm xmlns:a="http://schemas.openxmlformats.org/drawingml/2006/main">
            <a:off x="7791450" y="201930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550" b="1">
                <a:solidFill>
                  <a:srgbClr val="182B36"/>
                </a:solidFill>
                <a:latin typeface="Arial"/>
                <a:ea typeface="Arial"/>
                <a:cs typeface="Arial"/>
              </a:defRPr>
            </a:defPPr>
            <a:lvl1pPr>
              <a:buNone/>
              <a:defRPr sz="2550" b="1">
                <a:solidFill>
                  <a:srgbClr val="182B36"/>
                </a:solidFill>
                <a:latin typeface="Arial"/>
                <a:ea typeface="Arial"/>
                <a:cs typeface="Arial"/>
              </a:defRPr>
            </a:lvl1pPr>
            <a:lvl2pPr>
              <a:buNone/>
              <a:defRPr sz="2550" b="1">
                <a:solidFill>
                  <a:srgbClr val="182B36"/>
                </a:solidFill>
                <a:latin typeface="Arial"/>
                <a:ea typeface="Arial"/>
                <a:cs typeface="Arial"/>
              </a:defRPr>
            </a:lvl2pPr>
            <a:lvl3pPr>
              <a:buNone/>
              <a:defRPr sz="2550" b="1">
                <a:solidFill>
                  <a:srgbClr val="182B36"/>
                </a:solidFill>
                <a:latin typeface="Arial"/>
                <a:ea typeface="Arial"/>
                <a:cs typeface="Arial"/>
              </a:defRPr>
            </a:lvl3pPr>
            <a:lvl4pPr>
              <a:buNone/>
              <a:defRPr sz="2550" b="1">
                <a:solidFill>
                  <a:srgbClr val="182B36"/>
                </a:solidFill>
                <a:latin typeface="Arial"/>
                <a:ea typeface="Arial"/>
                <a:cs typeface="Arial"/>
              </a:defRPr>
            </a:lvl4pPr>
            <a:lvl5pPr>
              <a:buNone/>
              <a:defRPr sz="2550" b="1">
                <a:solidFill>
                  <a:srgbClr val="182B36"/>
                </a:solidFill>
                <a:latin typeface="Arial"/>
                <a:ea typeface="Arial"/>
                <a:cs typeface="Arial"/>
              </a:defRPr>
            </a:lvl5pPr>
            <a:lvl6pPr>
              <a:buNone/>
              <a:defRPr sz="2550" b="1">
                <a:solidFill>
                  <a:srgbClr val="182B36"/>
                </a:solidFill>
                <a:latin typeface="Arial"/>
                <a:ea typeface="Arial"/>
                <a:cs typeface="Arial"/>
              </a:defRPr>
            </a:lvl6pPr>
            <a:lvl7pPr>
              <a:buNone/>
              <a:defRPr sz="2550" b="1">
                <a:solidFill>
                  <a:srgbClr val="182B36"/>
                </a:solidFill>
                <a:latin typeface="Arial"/>
                <a:ea typeface="Arial"/>
                <a:cs typeface="Arial"/>
              </a:defRPr>
            </a:lvl7pPr>
            <a:lvl8pPr>
              <a:buNone/>
              <a:defRPr sz="2550" b="1">
                <a:solidFill>
                  <a:srgbClr val="182B36"/>
                </a:solidFill>
                <a:latin typeface="Arial"/>
                <a:ea typeface="Arial"/>
                <a:cs typeface="Arial"/>
              </a:defRPr>
            </a:lvl8pPr>
            <a:lvl9pPr>
              <a:buNone/>
              <a:defRPr sz="2550" b="1">
                <a:solidFill>
                  <a:srgbClr val="182B36"/>
                </a:solidFill>
                <a:latin typeface="Arial"/>
                <a:ea typeface="Arial"/>
                <a:cs typeface="Arial"/>
              </a:defRPr>
            </a:lvl9pPr>
          </a:lstStyle>
          <a:p xmlns:a="http://schemas.openxmlformats.org/drawingml/2006/main">
            <a:pPr>
              <a:buNone/>
              <a:defRPr sz="2550" b="1">
                <a:solidFill>
                  <a:srgbClr val="182B36"/>
                </a:solidFill>
                <a:latin typeface="Arial"/>
                <a:ea typeface="Arial"/>
                <a:cs typeface="Arial"/>
              </a:defRPr>
            </a:pPr>
            <a:r>
              <a:rPr sz="2550" b="1">
                <a:solidFill>
                  <a:srgbClr val="182B36"/>
                </a:solidFill>
                <a:latin typeface="Arial"/>
                <a:ea typeface="Arial"/>
                <a:cs typeface="Arial"/>
              </a:rPr>
              <a:t>Model</a:t>
            </a:r>
          </a:p>
        </p:txBody>
      </p:sp>
      <p:sp>
        <p:nvSpPr>
          <p:cNvPr id="4" name="model-description">
            <a:extLst xmlns:a="http://schemas.openxmlformats.org/drawingml/2006/main">
              <a:ext uri="{FF2B5EF4-FFF2-40B4-BE49-F238E27FC236}">
                <a16:creationId xmlns:a16="http://schemas.microsoft.com/office/drawing/2014/main" id="{850DE296-B00B-46FD-8E53-A9E7A2D0A1C5}"/>
              </a:ext>
            </a:extLst>
          </p:cNvPr>
          <p:cNvSpPr>
            <a:spLocks xmlns:a="http://schemas.openxmlformats.org/drawingml/2006/main" noGrp="1"/>
          </p:cNvSpPr>
          <p:nvPr/>
        </p:nvSpPr>
        <p:spPr>
          <a:xfrm xmlns:a="http://schemas.openxmlformats.org/drawingml/2006/main">
            <a:off x="7791450" y="2571750"/>
            <a:ext cx="36957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250" b="0">
                <a:solidFill>
                  <a:srgbClr val="182B36"/>
                </a:solidFill>
                <a:latin typeface="Arial"/>
                <a:ea typeface="Arial"/>
                <a:cs typeface="Arial"/>
              </a:defRPr>
            </a:defPPr>
            <a:lvl1pPr>
              <a:buNone/>
              <a:defRPr sz="2250" b="0">
                <a:solidFill>
                  <a:srgbClr val="182B36"/>
                </a:solidFill>
                <a:latin typeface="Arial"/>
                <a:ea typeface="Arial"/>
                <a:cs typeface="Arial"/>
              </a:defRPr>
            </a:lvl1pPr>
            <a:lvl2pPr>
              <a:buNone/>
              <a:defRPr sz="2250" b="0">
                <a:solidFill>
                  <a:srgbClr val="182B36"/>
                </a:solidFill>
                <a:latin typeface="Arial"/>
                <a:ea typeface="Arial"/>
                <a:cs typeface="Arial"/>
              </a:defRPr>
            </a:lvl2pPr>
            <a:lvl3pPr>
              <a:buNone/>
              <a:defRPr sz="2250" b="0">
                <a:solidFill>
                  <a:srgbClr val="182B36"/>
                </a:solidFill>
                <a:latin typeface="Arial"/>
                <a:ea typeface="Arial"/>
                <a:cs typeface="Arial"/>
              </a:defRPr>
            </a:lvl3pPr>
            <a:lvl4pPr>
              <a:buNone/>
              <a:defRPr sz="2250" b="0">
                <a:solidFill>
                  <a:srgbClr val="182B36"/>
                </a:solidFill>
                <a:latin typeface="Arial"/>
                <a:ea typeface="Arial"/>
                <a:cs typeface="Arial"/>
              </a:defRPr>
            </a:lvl4pPr>
            <a:lvl5pPr>
              <a:buNone/>
              <a:defRPr sz="2250" b="0">
                <a:solidFill>
                  <a:srgbClr val="182B36"/>
                </a:solidFill>
                <a:latin typeface="Arial"/>
                <a:ea typeface="Arial"/>
                <a:cs typeface="Arial"/>
              </a:defRPr>
            </a:lvl5pPr>
            <a:lvl6pPr>
              <a:buNone/>
              <a:defRPr sz="2250" b="0">
                <a:solidFill>
                  <a:srgbClr val="182B36"/>
                </a:solidFill>
                <a:latin typeface="Arial"/>
                <a:ea typeface="Arial"/>
                <a:cs typeface="Arial"/>
              </a:defRPr>
            </a:lvl6pPr>
            <a:lvl7pPr>
              <a:buNone/>
              <a:defRPr sz="2250" b="0">
                <a:solidFill>
                  <a:srgbClr val="182B36"/>
                </a:solidFill>
                <a:latin typeface="Arial"/>
                <a:ea typeface="Arial"/>
                <a:cs typeface="Arial"/>
              </a:defRPr>
            </a:lvl7pPr>
            <a:lvl8pPr>
              <a:buNone/>
              <a:defRPr sz="2250" b="0">
                <a:solidFill>
                  <a:srgbClr val="182B36"/>
                </a:solidFill>
                <a:latin typeface="Arial"/>
                <a:ea typeface="Arial"/>
                <a:cs typeface="Arial"/>
              </a:defRPr>
            </a:lvl8pPr>
            <a:lvl9pPr>
              <a:buNone/>
              <a:defRPr sz="2250" b="0">
                <a:solidFill>
                  <a:srgbClr val="182B36"/>
                </a:solidFill>
                <a:latin typeface="Arial"/>
                <a:ea typeface="Arial"/>
                <a:cs typeface="Arial"/>
              </a:defRPr>
            </a:lvl9pPr>
          </a:lstStyle>
          <a:p xmlns:a="http://schemas.openxmlformats.org/drawingml/2006/main">
            <a:pPr>
              <a:buNone/>
              <a:defRPr sz="2250" b="0">
                <a:solidFill>
                  <a:srgbClr val="182B36"/>
                </a:solidFill>
                <a:latin typeface="Arial"/>
                <a:ea typeface="Arial"/>
                <a:cs typeface="Arial"/>
              </a:defRPr>
            </a:pPr>
            <a:r>
              <a:rPr sz="2250" b="0">
                <a:solidFill>
                  <a:srgbClr val="182B36"/>
                </a:solidFill>
                <a:latin typeface="Arial"/>
                <a:ea typeface="Arial"/>
                <a:cs typeface="Arial"/>
              </a:rPr>
              <a:t>Interprets requests</a:t>
            </a:r>
          </a:p>
          <a:p xmlns:a="http://schemas.openxmlformats.org/drawingml/2006/main">
            <a:pPr>
              <a:buNone/>
              <a:defRPr sz="2250" b="0">
                <a:solidFill>
                  <a:srgbClr val="182B36"/>
                </a:solidFill>
                <a:latin typeface="Arial"/>
                <a:ea typeface="Arial"/>
                <a:cs typeface="Arial"/>
              </a:defRPr>
            </a:pPr>
            <a:r>
              <a:rPr sz="2250" b="0">
                <a:solidFill>
                  <a:srgbClr val="182B36"/>
                </a:solidFill>
                <a:latin typeface="Arial"/>
                <a:ea typeface="Arial"/>
                <a:cs typeface="Arial"/>
              </a:rPr>
              <a:t>and reasons.</a:t>
            </a:r>
          </a:p>
        </p:txBody>
      </p:sp>
      <p:sp>
        <p:nvSpPr>
          <p:cNvPr id="5" name="harness-label">
            <a:extLst xmlns:a="http://schemas.openxmlformats.org/drawingml/2006/main">
              <a:ext uri="{FF2B5EF4-FFF2-40B4-BE49-F238E27FC236}">
                <a16:creationId xmlns:a16="http://schemas.microsoft.com/office/drawing/2014/main" id="{3F0FA3C0-11C0-41E9-80EE-4645908FB609}"/>
              </a:ext>
            </a:extLst>
          </p:cNvPr>
          <p:cNvSpPr>
            <a:spLocks xmlns:a="http://schemas.openxmlformats.org/drawingml/2006/main" noGrp="1"/>
          </p:cNvSpPr>
          <p:nvPr/>
        </p:nvSpPr>
        <p:spPr>
          <a:xfrm xmlns:a="http://schemas.openxmlformats.org/drawingml/2006/main">
            <a:off x="7791450" y="3810000"/>
            <a:ext cx="3695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550" b="1">
                <a:solidFill>
                  <a:srgbClr val="076C70"/>
                </a:solidFill>
                <a:latin typeface="Arial"/>
                <a:ea typeface="Arial"/>
                <a:cs typeface="Arial"/>
              </a:defRPr>
            </a:defPPr>
            <a:lvl1pPr>
              <a:buNone/>
              <a:defRPr sz="2550" b="1">
                <a:solidFill>
                  <a:srgbClr val="076C70"/>
                </a:solidFill>
                <a:latin typeface="Arial"/>
                <a:ea typeface="Arial"/>
                <a:cs typeface="Arial"/>
              </a:defRPr>
            </a:lvl1pPr>
            <a:lvl2pPr>
              <a:buNone/>
              <a:defRPr sz="2550" b="1">
                <a:solidFill>
                  <a:srgbClr val="076C70"/>
                </a:solidFill>
                <a:latin typeface="Arial"/>
                <a:ea typeface="Arial"/>
                <a:cs typeface="Arial"/>
              </a:defRPr>
            </a:lvl2pPr>
            <a:lvl3pPr>
              <a:buNone/>
              <a:defRPr sz="2550" b="1">
                <a:solidFill>
                  <a:srgbClr val="076C70"/>
                </a:solidFill>
                <a:latin typeface="Arial"/>
                <a:ea typeface="Arial"/>
                <a:cs typeface="Arial"/>
              </a:defRPr>
            </a:lvl3pPr>
            <a:lvl4pPr>
              <a:buNone/>
              <a:defRPr sz="2550" b="1">
                <a:solidFill>
                  <a:srgbClr val="076C70"/>
                </a:solidFill>
                <a:latin typeface="Arial"/>
                <a:ea typeface="Arial"/>
                <a:cs typeface="Arial"/>
              </a:defRPr>
            </a:lvl4pPr>
            <a:lvl5pPr>
              <a:buNone/>
              <a:defRPr sz="2550" b="1">
                <a:solidFill>
                  <a:srgbClr val="076C70"/>
                </a:solidFill>
                <a:latin typeface="Arial"/>
                <a:ea typeface="Arial"/>
                <a:cs typeface="Arial"/>
              </a:defRPr>
            </a:lvl5pPr>
            <a:lvl6pPr>
              <a:buNone/>
              <a:defRPr sz="2550" b="1">
                <a:solidFill>
                  <a:srgbClr val="076C70"/>
                </a:solidFill>
                <a:latin typeface="Arial"/>
                <a:ea typeface="Arial"/>
                <a:cs typeface="Arial"/>
              </a:defRPr>
            </a:lvl6pPr>
            <a:lvl7pPr>
              <a:buNone/>
              <a:defRPr sz="2550" b="1">
                <a:solidFill>
                  <a:srgbClr val="076C70"/>
                </a:solidFill>
                <a:latin typeface="Arial"/>
                <a:ea typeface="Arial"/>
                <a:cs typeface="Arial"/>
              </a:defRPr>
            </a:lvl7pPr>
            <a:lvl8pPr>
              <a:buNone/>
              <a:defRPr sz="2550" b="1">
                <a:solidFill>
                  <a:srgbClr val="076C70"/>
                </a:solidFill>
                <a:latin typeface="Arial"/>
                <a:ea typeface="Arial"/>
                <a:cs typeface="Arial"/>
              </a:defRPr>
            </a:lvl8pPr>
            <a:lvl9pPr>
              <a:buNone/>
              <a:defRPr sz="2550" b="1">
                <a:solidFill>
                  <a:srgbClr val="076C70"/>
                </a:solidFill>
                <a:latin typeface="Arial"/>
                <a:ea typeface="Arial"/>
                <a:cs typeface="Arial"/>
              </a:defRPr>
            </a:lvl9pPr>
          </a:lstStyle>
          <a:p xmlns:a="http://schemas.openxmlformats.org/drawingml/2006/main">
            <a:pPr>
              <a:buNone/>
              <a:defRPr sz="2550" b="1">
                <a:solidFill>
                  <a:srgbClr val="076C70"/>
                </a:solidFill>
                <a:latin typeface="Arial"/>
                <a:ea typeface="Arial"/>
                <a:cs typeface="Arial"/>
              </a:defRPr>
            </a:pPr>
            <a:r>
              <a:rPr sz="2550" b="1">
                <a:solidFill>
                  <a:srgbClr val="076C70"/>
                </a:solidFill>
                <a:latin typeface="Arial"/>
                <a:ea typeface="Arial"/>
                <a:cs typeface="Arial"/>
              </a:rPr>
              <a:t>Harness</a:t>
            </a:r>
          </a:p>
        </p:txBody>
      </p:sp>
      <p:sp>
        <p:nvSpPr>
          <p:cNvPr id="6" name="harness-context">
            <a:extLst xmlns:a="http://schemas.openxmlformats.org/drawingml/2006/main">
              <a:ext uri="{FF2B5EF4-FFF2-40B4-BE49-F238E27FC236}">
                <a16:creationId xmlns:a16="http://schemas.microsoft.com/office/drawing/2014/main" id="{0DBF4D95-00C9-4FC7-B74A-D5399E53686C}"/>
              </a:ext>
            </a:extLst>
          </p:cNvPr>
          <p:cNvSpPr>
            <a:spLocks xmlns:a="http://schemas.openxmlformats.org/drawingml/2006/main" noGrp="1"/>
          </p:cNvSpPr>
          <p:nvPr/>
        </p:nvSpPr>
        <p:spPr>
          <a:xfrm xmlns:a="http://schemas.openxmlformats.org/drawingml/2006/main">
            <a:off x="7791450" y="4410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182B36"/>
                </a:solidFill>
                <a:latin typeface="Arial"/>
                <a:ea typeface="Arial"/>
                <a:cs typeface="Arial"/>
              </a:defRPr>
            </a:defPPr>
            <a:lvl1pPr>
              <a:buNone/>
              <a:defRPr sz="2025" b="0">
                <a:solidFill>
                  <a:srgbClr val="182B36"/>
                </a:solidFill>
                <a:latin typeface="Arial"/>
                <a:ea typeface="Arial"/>
                <a:cs typeface="Arial"/>
              </a:defRPr>
            </a:lvl1pPr>
            <a:lvl2pPr>
              <a:buNone/>
              <a:defRPr sz="2025" b="0">
                <a:solidFill>
                  <a:srgbClr val="182B36"/>
                </a:solidFill>
                <a:latin typeface="Arial"/>
                <a:ea typeface="Arial"/>
                <a:cs typeface="Arial"/>
              </a:defRPr>
            </a:lvl2pPr>
            <a:lvl3pPr>
              <a:buNone/>
              <a:defRPr sz="2025" b="0">
                <a:solidFill>
                  <a:srgbClr val="182B36"/>
                </a:solidFill>
                <a:latin typeface="Arial"/>
                <a:ea typeface="Arial"/>
                <a:cs typeface="Arial"/>
              </a:defRPr>
            </a:lvl3pPr>
            <a:lvl4pPr>
              <a:buNone/>
              <a:defRPr sz="2025" b="0">
                <a:solidFill>
                  <a:srgbClr val="182B36"/>
                </a:solidFill>
                <a:latin typeface="Arial"/>
                <a:ea typeface="Arial"/>
                <a:cs typeface="Arial"/>
              </a:defRPr>
            </a:lvl4pPr>
            <a:lvl5pPr>
              <a:buNone/>
              <a:defRPr sz="2025" b="0">
                <a:solidFill>
                  <a:srgbClr val="182B36"/>
                </a:solidFill>
                <a:latin typeface="Arial"/>
                <a:ea typeface="Arial"/>
                <a:cs typeface="Arial"/>
              </a:defRPr>
            </a:lvl5pPr>
            <a:lvl6pPr>
              <a:buNone/>
              <a:defRPr sz="2025" b="0">
                <a:solidFill>
                  <a:srgbClr val="182B36"/>
                </a:solidFill>
                <a:latin typeface="Arial"/>
                <a:ea typeface="Arial"/>
                <a:cs typeface="Arial"/>
              </a:defRPr>
            </a:lvl6pPr>
            <a:lvl7pPr>
              <a:buNone/>
              <a:defRPr sz="2025" b="0">
                <a:solidFill>
                  <a:srgbClr val="182B36"/>
                </a:solidFill>
                <a:latin typeface="Arial"/>
                <a:ea typeface="Arial"/>
                <a:cs typeface="Arial"/>
              </a:defRPr>
            </a:lvl7pPr>
            <a:lvl8pPr>
              <a:buNone/>
              <a:defRPr sz="2025" b="0">
                <a:solidFill>
                  <a:srgbClr val="182B36"/>
                </a:solidFill>
                <a:latin typeface="Arial"/>
                <a:ea typeface="Arial"/>
                <a:cs typeface="Arial"/>
              </a:defRPr>
            </a:lvl8pPr>
            <a:lvl9pPr>
              <a:buNone/>
              <a:defRPr sz="2025" b="0">
                <a:solidFill>
                  <a:srgbClr val="182B36"/>
                </a:solidFill>
                <a:latin typeface="Arial"/>
                <a:ea typeface="Arial"/>
                <a:cs typeface="Arial"/>
              </a:defRPr>
            </a:lvl9pPr>
          </a:lstStyle>
          <a:p xmlns:a="http://schemas.openxmlformats.org/drawingml/2006/main">
            <a:pPr>
              <a:buNone/>
              <a:defRPr sz="2025" b="0">
                <a:solidFill>
                  <a:srgbClr val="182B36"/>
                </a:solidFill>
                <a:latin typeface="Arial"/>
                <a:ea typeface="Arial"/>
                <a:cs typeface="Arial"/>
              </a:defRPr>
            </a:pPr>
            <a:r>
              <a:rPr sz="2025" b="0">
                <a:solidFill>
                  <a:srgbClr val="182B36"/>
                </a:solidFill>
                <a:latin typeface="Arial"/>
                <a:ea typeface="Arial"/>
                <a:cs typeface="Arial"/>
              </a:rPr>
              <a:t>Instructions and context</a:t>
            </a:r>
          </a:p>
        </p:txBody>
      </p:sp>
      <p:sp>
        <p:nvSpPr>
          <p:cNvPr id="7" name="harness-tools">
            <a:extLst xmlns:a="http://schemas.openxmlformats.org/drawingml/2006/main">
              <a:ext uri="{FF2B5EF4-FFF2-40B4-BE49-F238E27FC236}">
                <a16:creationId xmlns:a16="http://schemas.microsoft.com/office/drawing/2014/main" id="{7F63934A-99CF-4972-BBDC-75D8CE99D5FF}"/>
              </a:ext>
            </a:extLst>
          </p:cNvPr>
          <p:cNvSpPr>
            <a:spLocks xmlns:a="http://schemas.openxmlformats.org/drawingml/2006/main" noGrp="1"/>
          </p:cNvSpPr>
          <p:nvPr/>
        </p:nvSpPr>
        <p:spPr>
          <a:xfrm xmlns:a="http://schemas.openxmlformats.org/drawingml/2006/main">
            <a:off x="7791450" y="48863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182B36"/>
                </a:solidFill>
                <a:latin typeface="Arial"/>
                <a:ea typeface="Arial"/>
                <a:cs typeface="Arial"/>
              </a:defRPr>
            </a:defPPr>
            <a:lvl1pPr>
              <a:buNone/>
              <a:defRPr sz="2025" b="0">
                <a:solidFill>
                  <a:srgbClr val="182B36"/>
                </a:solidFill>
                <a:latin typeface="Arial"/>
                <a:ea typeface="Arial"/>
                <a:cs typeface="Arial"/>
              </a:defRPr>
            </a:lvl1pPr>
            <a:lvl2pPr>
              <a:buNone/>
              <a:defRPr sz="2025" b="0">
                <a:solidFill>
                  <a:srgbClr val="182B36"/>
                </a:solidFill>
                <a:latin typeface="Arial"/>
                <a:ea typeface="Arial"/>
                <a:cs typeface="Arial"/>
              </a:defRPr>
            </a:lvl2pPr>
            <a:lvl3pPr>
              <a:buNone/>
              <a:defRPr sz="2025" b="0">
                <a:solidFill>
                  <a:srgbClr val="182B36"/>
                </a:solidFill>
                <a:latin typeface="Arial"/>
                <a:ea typeface="Arial"/>
                <a:cs typeface="Arial"/>
              </a:defRPr>
            </a:lvl3pPr>
            <a:lvl4pPr>
              <a:buNone/>
              <a:defRPr sz="2025" b="0">
                <a:solidFill>
                  <a:srgbClr val="182B36"/>
                </a:solidFill>
                <a:latin typeface="Arial"/>
                <a:ea typeface="Arial"/>
                <a:cs typeface="Arial"/>
              </a:defRPr>
            </a:lvl4pPr>
            <a:lvl5pPr>
              <a:buNone/>
              <a:defRPr sz="2025" b="0">
                <a:solidFill>
                  <a:srgbClr val="182B36"/>
                </a:solidFill>
                <a:latin typeface="Arial"/>
                <a:ea typeface="Arial"/>
                <a:cs typeface="Arial"/>
              </a:defRPr>
            </a:lvl5pPr>
            <a:lvl6pPr>
              <a:buNone/>
              <a:defRPr sz="2025" b="0">
                <a:solidFill>
                  <a:srgbClr val="182B36"/>
                </a:solidFill>
                <a:latin typeface="Arial"/>
                <a:ea typeface="Arial"/>
                <a:cs typeface="Arial"/>
              </a:defRPr>
            </a:lvl6pPr>
            <a:lvl7pPr>
              <a:buNone/>
              <a:defRPr sz="2025" b="0">
                <a:solidFill>
                  <a:srgbClr val="182B36"/>
                </a:solidFill>
                <a:latin typeface="Arial"/>
                <a:ea typeface="Arial"/>
                <a:cs typeface="Arial"/>
              </a:defRPr>
            </a:lvl7pPr>
            <a:lvl8pPr>
              <a:buNone/>
              <a:defRPr sz="2025" b="0">
                <a:solidFill>
                  <a:srgbClr val="182B36"/>
                </a:solidFill>
                <a:latin typeface="Arial"/>
                <a:ea typeface="Arial"/>
                <a:cs typeface="Arial"/>
              </a:defRPr>
            </a:lvl8pPr>
            <a:lvl9pPr>
              <a:buNone/>
              <a:defRPr sz="2025" b="0">
                <a:solidFill>
                  <a:srgbClr val="182B36"/>
                </a:solidFill>
                <a:latin typeface="Arial"/>
                <a:ea typeface="Arial"/>
                <a:cs typeface="Arial"/>
              </a:defRPr>
            </a:lvl9pPr>
          </a:lstStyle>
          <a:p xmlns:a="http://schemas.openxmlformats.org/drawingml/2006/main">
            <a:pPr>
              <a:buNone/>
              <a:defRPr sz="2025" b="0">
                <a:solidFill>
                  <a:srgbClr val="182B36"/>
                </a:solidFill>
                <a:latin typeface="Arial"/>
                <a:ea typeface="Arial"/>
                <a:cs typeface="Arial"/>
              </a:defRPr>
            </a:pPr>
            <a:r>
              <a:rPr sz="2025" b="0">
                <a:solidFill>
                  <a:srgbClr val="182B36"/>
                </a:solidFill>
                <a:latin typeface="Arial"/>
                <a:ea typeface="Arial"/>
                <a:cs typeface="Arial"/>
              </a:rPr>
              <a:t>Tools and resources</a:t>
            </a:r>
          </a:p>
        </p:txBody>
      </p:sp>
      <p:sp>
        <p:nvSpPr>
          <p:cNvPr id="8" name="harness-permissions">
            <a:extLst xmlns:a="http://schemas.openxmlformats.org/drawingml/2006/main">
              <a:ext uri="{FF2B5EF4-FFF2-40B4-BE49-F238E27FC236}">
                <a16:creationId xmlns:a16="http://schemas.microsoft.com/office/drawing/2014/main" id="{C0400F32-150D-4505-92CA-105B18D7B308}"/>
              </a:ext>
            </a:extLst>
          </p:cNvPr>
          <p:cNvSpPr>
            <a:spLocks xmlns:a="http://schemas.openxmlformats.org/drawingml/2006/main" noGrp="1"/>
          </p:cNvSpPr>
          <p:nvPr/>
        </p:nvSpPr>
        <p:spPr>
          <a:xfrm xmlns:a="http://schemas.openxmlformats.org/drawingml/2006/main">
            <a:off x="7791450" y="53625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025" b="0">
                <a:solidFill>
                  <a:srgbClr val="182B36"/>
                </a:solidFill>
                <a:latin typeface="Arial"/>
                <a:ea typeface="Arial"/>
                <a:cs typeface="Arial"/>
              </a:defRPr>
            </a:defPPr>
            <a:lvl1pPr>
              <a:buNone/>
              <a:defRPr sz="2025" b="0">
                <a:solidFill>
                  <a:srgbClr val="182B36"/>
                </a:solidFill>
                <a:latin typeface="Arial"/>
                <a:ea typeface="Arial"/>
                <a:cs typeface="Arial"/>
              </a:defRPr>
            </a:lvl1pPr>
            <a:lvl2pPr>
              <a:buNone/>
              <a:defRPr sz="2025" b="0">
                <a:solidFill>
                  <a:srgbClr val="182B36"/>
                </a:solidFill>
                <a:latin typeface="Arial"/>
                <a:ea typeface="Arial"/>
                <a:cs typeface="Arial"/>
              </a:defRPr>
            </a:lvl2pPr>
            <a:lvl3pPr>
              <a:buNone/>
              <a:defRPr sz="2025" b="0">
                <a:solidFill>
                  <a:srgbClr val="182B36"/>
                </a:solidFill>
                <a:latin typeface="Arial"/>
                <a:ea typeface="Arial"/>
                <a:cs typeface="Arial"/>
              </a:defRPr>
            </a:lvl3pPr>
            <a:lvl4pPr>
              <a:buNone/>
              <a:defRPr sz="2025" b="0">
                <a:solidFill>
                  <a:srgbClr val="182B36"/>
                </a:solidFill>
                <a:latin typeface="Arial"/>
                <a:ea typeface="Arial"/>
                <a:cs typeface="Arial"/>
              </a:defRPr>
            </a:lvl4pPr>
            <a:lvl5pPr>
              <a:buNone/>
              <a:defRPr sz="2025" b="0">
                <a:solidFill>
                  <a:srgbClr val="182B36"/>
                </a:solidFill>
                <a:latin typeface="Arial"/>
                <a:ea typeface="Arial"/>
                <a:cs typeface="Arial"/>
              </a:defRPr>
            </a:lvl5pPr>
            <a:lvl6pPr>
              <a:buNone/>
              <a:defRPr sz="2025" b="0">
                <a:solidFill>
                  <a:srgbClr val="182B36"/>
                </a:solidFill>
                <a:latin typeface="Arial"/>
                <a:ea typeface="Arial"/>
                <a:cs typeface="Arial"/>
              </a:defRPr>
            </a:lvl6pPr>
            <a:lvl7pPr>
              <a:buNone/>
              <a:defRPr sz="2025" b="0">
                <a:solidFill>
                  <a:srgbClr val="182B36"/>
                </a:solidFill>
                <a:latin typeface="Arial"/>
                <a:ea typeface="Arial"/>
                <a:cs typeface="Arial"/>
              </a:defRPr>
            </a:lvl7pPr>
            <a:lvl8pPr>
              <a:buNone/>
              <a:defRPr sz="2025" b="0">
                <a:solidFill>
                  <a:srgbClr val="182B36"/>
                </a:solidFill>
                <a:latin typeface="Arial"/>
                <a:ea typeface="Arial"/>
                <a:cs typeface="Arial"/>
              </a:defRPr>
            </a:lvl8pPr>
            <a:lvl9pPr>
              <a:buNone/>
              <a:defRPr sz="2025" b="0">
                <a:solidFill>
                  <a:srgbClr val="182B36"/>
                </a:solidFill>
                <a:latin typeface="Arial"/>
                <a:ea typeface="Arial"/>
                <a:cs typeface="Arial"/>
              </a:defRPr>
            </a:lvl9pPr>
          </a:lstStyle>
          <a:p xmlns:a="http://schemas.openxmlformats.org/drawingml/2006/main">
            <a:pPr>
              <a:buNone/>
              <a:defRPr sz="2025" b="0">
                <a:solidFill>
                  <a:srgbClr val="182B36"/>
                </a:solidFill>
                <a:latin typeface="Arial"/>
                <a:ea typeface="Arial"/>
                <a:cs typeface="Arial"/>
              </a:defRPr>
            </a:pPr>
            <a:r>
              <a:rPr sz="2025" b="0">
                <a:solidFill>
                  <a:srgbClr val="182B36"/>
                </a:solidFill>
                <a:latin typeface="Arial"/>
                <a:ea typeface="Arial"/>
                <a:cs typeface="Arial"/>
              </a:rPr>
              <a:t>Execution and permissions</a:t>
            </a:r>
          </a:p>
        </p:txBody>
      </p:sp>
      <p:sp>
        <p:nvSpPr>
          <p:cNvPr id="9" name="slide-number">
            <a:extLst xmlns:a="http://schemas.openxmlformats.org/drawingml/2006/main">
              <a:ext uri="{FF2B5EF4-FFF2-40B4-BE49-F238E27FC236}">
                <a16:creationId xmlns:a16="http://schemas.microsoft.com/office/drawing/2014/main" id="{680DB4D3-231B-4C71-B9E8-E39D527A9774}"/>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3</a:t>
            </a:r>
          </a:p>
        </p:txBody>
      </p:sp>
      <p:sp>
        <p:nvSpPr>
          <p:cNvPr id="11" name="architecture-context">
            <a:extLst xmlns:a="http://schemas.openxmlformats.org/drawingml/2006/main">
              <a:ext uri="{FF2B5EF4-FFF2-40B4-BE49-F238E27FC236}">
                <a16:creationId xmlns:a16="http://schemas.microsoft.com/office/drawing/2014/main" id="{365BA2E3-5185-456C-AF9E-FACD0C6B9296}"/>
              </a:ext>
            </a:extLst>
          </p:cNvPr>
          <p:cNvSpPr>
            <a:spLocks xmlns:a="http://schemas.openxmlformats.org/drawingml/2006/main" noGrp="1"/>
          </p:cNvSpPr>
          <p:nvPr/>
        </p:nvSpPr>
        <p:spPr>
          <a:xfrm xmlns:a="http://schemas.openxmlformats.org/drawingml/2006/main">
            <a:off x="685800" y="138112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a:solidFill>
                  <a:srgbClr val="53636B"/>
                </a:solidFill>
                <a:latin typeface="Arial"/>
                <a:ea typeface="Arial"/>
                <a:cs typeface="Arial"/>
              </a:defRPr>
            </a:defPPr>
            <a:lvl1pPr>
              <a:buNone/>
              <a:defRPr sz="2100">
                <a:solidFill>
                  <a:srgbClr val="53636B"/>
                </a:solidFill>
                <a:latin typeface="Arial"/>
                <a:ea typeface="Arial"/>
                <a:cs typeface="Arial"/>
              </a:defRPr>
            </a:lvl1pPr>
            <a:lvl2pPr>
              <a:buNone/>
              <a:defRPr sz="2100">
                <a:solidFill>
                  <a:srgbClr val="53636B"/>
                </a:solidFill>
                <a:latin typeface="Arial"/>
                <a:ea typeface="Arial"/>
                <a:cs typeface="Arial"/>
              </a:defRPr>
            </a:lvl2pPr>
            <a:lvl3pPr>
              <a:buNone/>
              <a:defRPr sz="2100">
                <a:solidFill>
                  <a:srgbClr val="53636B"/>
                </a:solidFill>
                <a:latin typeface="Arial"/>
                <a:ea typeface="Arial"/>
                <a:cs typeface="Arial"/>
              </a:defRPr>
            </a:lvl3pPr>
            <a:lvl4pPr>
              <a:buNone/>
              <a:defRPr sz="2100">
                <a:solidFill>
                  <a:srgbClr val="53636B"/>
                </a:solidFill>
                <a:latin typeface="Arial"/>
                <a:ea typeface="Arial"/>
                <a:cs typeface="Arial"/>
              </a:defRPr>
            </a:lvl4pPr>
            <a:lvl5pPr>
              <a:buNone/>
              <a:defRPr sz="2100">
                <a:solidFill>
                  <a:srgbClr val="53636B"/>
                </a:solidFill>
                <a:latin typeface="Arial"/>
                <a:ea typeface="Arial"/>
                <a:cs typeface="Arial"/>
              </a:defRPr>
            </a:lvl5pPr>
            <a:lvl6pPr>
              <a:buNone/>
              <a:defRPr sz="2100">
                <a:solidFill>
                  <a:srgbClr val="53636B"/>
                </a:solidFill>
                <a:latin typeface="Arial"/>
                <a:ea typeface="Arial"/>
                <a:cs typeface="Arial"/>
              </a:defRPr>
            </a:lvl6pPr>
            <a:lvl7pPr>
              <a:buNone/>
              <a:defRPr sz="2100">
                <a:solidFill>
                  <a:srgbClr val="53636B"/>
                </a:solidFill>
                <a:latin typeface="Arial"/>
                <a:ea typeface="Arial"/>
                <a:cs typeface="Arial"/>
              </a:defRPr>
            </a:lvl7pPr>
            <a:lvl8pPr>
              <a:buNone/>
              <a:defRPr sz="2100">
                <a:solidFill>
                  <a:srgbClr val="53636B"/>
                </a:solidFill>
                <a:latin typeface="Arial"/>
                <a:ea typeface="Arial"/>
                <a:cs typeface="Arial"/>
              </a:defRPr>
            </a:lvl8pPr>
            <a:lvl9pPr>
              <a:buNone/>
              <a:defRPr sz="2100">
                <a:solidFill>
                  <a:srgbClr val="53636B"/>
                </a:solidFill>
                <a:latin typeface="Arial"/>
                <a:ea typeface="Arial"/>
                <a:cs typeface="Arial"/>
              </a:defRPr>
            </a:lvl9pPr>
          </a:lstStyle>
          <a:p xmlns:a="http://schemas.openxmlformats.org/drawingml/2006/main">
            <a:pPr>
              <a:buNone/>
              <a:defRPr sz="2100">
                <a:solidFill>
                  <a:srgbClr val="53636B"/>
                </a:solidFill>
                <a:latin typeface="Arial"/>
                <a:ea typeface="Arial"/>
                <a:cs typeface="Arial"/>
              </a:defRPr>
            </a:pPr>
            <a:r>
              <a:rPr sz="2100">
                <a:solidFill>
                  <a:srgbClr val="53636B"/>
                </a:solidFill>
                <a:latin typeface="Arial"/>
                <a:ea typeface="Arial"/>
                <a:cs typeface="Arial"/>
              </a:rPr>
              <a:t>The model and its harness together form the AI assistant.</a:t>
            </a:r>
          </a:p>
        </p:txBody>
      </p:sp>
    </p:spTree>
    <p:extLst>
      <p:ext uri="{BB962C8B-B14F-4D97-AF65-F5344CB8AC3E}">
        <p14:creationId xmlns:p14="http://schemas.microsoft.com/office/powerpoint/2010/main" val="639764650"/>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slide5-title">
            <a:extLst xmlns:a="http://schemas.openxmlformats.org/drawingml/2006/main">
              <a:ext uri="{FF2B5EF4-FFF2-40B4-BE49-F238E27FC236}">
                <a16:creationId xmlns:a16="http://schemas.microsoft.com/office/drawing/2014/main" id="{A02D6BA8-F99A-46EC-A336-3F578BF291F4}"/>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The model</a:t>
            </a:r>
          </a:p>
        </p:txBody>
      </p:sp>
      <p:sp>
        <p:nvSpPr>
          <p:cNvPr id="2" name="slide5-context">
            <a:extLst xmlns:a="http://schemas.openxmlformats.org/drawingml/2006/main">
              <a:ext uri="{FF2B5EF4-FFF2-40B4-BE49-F238E27FC236}">
                <a16:creationId xmlns:a16="http://schemas.microsoft.com/office/drawing/2014/main" id="{492B68E0-E22F-4DBE-BB05-F6E9082B9AD3}"/>
              </a:ext>
            </a:extLst>
          </p:cNvPr>
          <p:cNvSpPr>
            <a:spLocks xmlns:a="http://schemas.openxmlformats.org/drawingml/2006/main" noGrp="1"/>
          </p:cNvSpPr>
          <p:nvPr/>
        </p:nvSpPr>
        <p:spPr>
          <a:xfrm xmlns:a="http://schemas.openxmlformats.org/drawingml/2006/main">
            <a:off x="685800" y="136207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53636B"/>
                </a:solidFill>
                <a:latin typeface="Arial"/>
                <a:ea typeface="Arial"/>
                <a:cs typeface="Arial"/>
              </a:defRPr>
            </a:defPPr>
            <a:lvl1pPr>
              <a:buNone/>
              <a:defRPr sz="2100" b="0">
                <a:solidFill>
                  <a:srgbClr val="53636B"/>
                </a:solidFill>
                <a:latin typeface="Arial"/>
                <a:ea typeface="Arial"/>
                <a:cs typeface="Arial"/>
              </a:defRPr>
            </a:lvl1pPr>
            <a:lvl2pPr>
              <a:buNone/>
              <a:defRPr sz="2100" b="0">
                <a:solidFill>
                  <a:srgbClr val="53636B"/>
                </a:solidFill>
                <a:latin typeface="Arial"/>
                <a:ea typeface="Arial"/>
                <a:cs typeface="Arial"/>
              </a:defRPr>
            </a:lvl2pPr>
            <a:lvl3pPr>
              <a:buNone/>
              <a:defRPr sz="2100" b="0">
                <a:solidFill>
                  <a:srgbClr val="53636B"/>
                </a:solidFill>
                <a:latin typeface="Arial"/>
                <a:ea typeface="Arial"/>
                <a:cs typeface="Arial"/>
              </a:defRPr>
            </a:lvl3pPr>
            <a:lvl4pPr>
              <a:buNone/>
              <a:defRPr sz="2100" b="0">
                <a:solidFill>
                  <a:srgbClr val="53636B"/>
                </a:solidFill>
                <a:latin typeface="Arial"/>
                <a:ea typeface="Arial"/>
                <a:cs typeface="Arial"/>
              </a:defRPr>
            </a:lvl4pPr>
            <a:lvl5pPr>
              <a:buNone/>
              <a:defRPr sz="2100" b="0">
                <a:solidFill>
                  <a:srgbClr val="53636B"/>
                </a:solidFill>
                <a:latin typeface="Arial"/>
                <a:ea typeface="Arial"/>
                <a:cs typeface="Arial"/>
              </a:defRPr>
            </a:lvl5pPr>
            <a:lvl6pPr>
              <a:buNone/>
              <a:defRPr sz="2100" b="0">
                <a:solidFill>
                  <a:srgbClr val="53636B"/>
                </a:solidFill>
                <a:latin typeface="Arial"/>
                <a:ea typeface="Arial"/>
                <a:cs typeface="Arial"/>
              </a:defRPr>
            </a:lvl6pPr>
            <a:lvl7pPr>
              <a:buNone/>
              <a:defRPr sz="2100" b="0">
                <a:solidFill>
                  <a:srgbClr val="53636B"/>
                </a:solidFill>
                <a:latin typeface="Arial"/>
                <a:ea typeface="Arial"/>
                <a:cs typeface="Arial"/>
              </a:defRPr>
            </a:lvl7pPr>
            <a:lvl8pPr>
              <a:buNone/>
              <a:defRPr sz="2100" b="0">
                <a:solidFill>
                  <a:srgbClr val="53636B"/>
                </a:solidFill>
                <a:latin typeface="Arial"/>
                <a:ea typeface="Arial"/>
                <a:cs typeface="Arial"/>
              </a:defRPr>
            </a:lvl8pPr>
            <a:lvl9pPr>
              <a:buNone/>
              <a:defRPr sz="2100" b="0">
                <a:solidFill>
                  <a:srgbClr val="53636B"/>
                </a:solidFill>
                <a:latin typeface="Arial"/>
                <a:ea typeface="Arial"/>
                <a:cs typeface="Arial"/>
              </a:defRPr>
            </a:lvl9pPr>
          </a:lstStyle>
          <a:p xmlns:a="http://schemas.openxmlformats.org/drawingml/2006/main">
            <a:pPr>
              <a:buNone/>
              <a:defRPr sz="2100" b="0">
                <a:solidFill>
                  <a:srgbClr val="53636B"/>
                </a:solidFill>
                <a:latin typeface="Arial"/>
                <a:ea typeface="Arial"/>
                <a:cs typeface="Arial"/>
              </a:defRPr>
            </a:pPr>
            <a:r>
              <a:rPr sz="2100" b="0">
                <a:solidFill>
                  <a:srgbClr val="53636B"/>
                </a:solidFill>
                <a:latin typeface="Arial"/>
                <a:ea typeface="Arial"/>
                <a:cs typeface="Arial"/>
              </a:rPr>
              <a:t>Model characteristics influence how the assistant processes information and approaches tasks.</a:t>
            </a:r>
          </a:p>
        </p:txBody>
      </p:sp>
      <p:graphicFrame>
        <p:nvGraphicFramePr>
          <p:cNvPr id="3" name="">
            <a:extLst xmlns:a="http://schemas.openxmlformats.org/drawingml/2006/main">
              <a:ext uri="{FF2B5EF4-FFF2-40B4-BE49-F238E27FC236}">
                <a16:creationId xmlns:a16="http://schemas.microsoft.com/office/drawing/2014/main" id="{B5C8CBE0-702D-40F9-93B9-4F4F4BC53DF0}"/>
              </a:ext>
            </a:extLst>
          </p:cNvPr>
          <p:cNvGraphicFramePr/>
          <p:nvPr/>
        </p:nvGraphicFramePr>
        <p:xfrm>
          <a:off xmlns:a="http://schemas.openxmlformats.org/drawingml/2006/main" x="685800" y="2286000"/>
          <a:ext xmlns:a="http://schemas.openxmlformats.org/drawingml/2006/main" cx="10820400" cy="3848100"/>
        </p:xfrm>
        <a:graphic xmlns:a="http://schemas.openxmlformats.org/drawingml/2006/main">
          <a:graphicData uri="http://schemas.openxmlformats.org/drawingml/2006/table">
            <a:tbl>
              <a:tblPr/>
              <a:tblGrid>
                <a:gridCol w="3143250"/>
                <a:gridCol w="7677150"/>
              </a:tblGrid>
              <a:tr h="571500">
                <a:tc>
                  <a:txBody>
                    <a:bodyPr lIns="152400" tIns="152400" rIns="152400" bIns="152400"/>
                    <a:lstStyle/>
                    <a:p>
                      <a:r>
                        <a:rPr sz="1875" b="1">
                          <a:solidFill>
                            <a:srgbClr val="FFFFFF"/>
                          </a:solidFill>
                          <a:latin typeface="Arial"/>
                          <a:ea typeface="Arial"/>
                          <a:cs typeface="Arial"/>
                        </a:rPr>
                        <a:t>Aspect</a:t>
                      </a:r>
                    </a:p>
                  </a:txBody>
                  <a:tcPr marL="91440" marR="91440" marT="45720" marB="45720" anchor="ctr">
                    <a:lnL w="9525">
                      <a:solidFill>
                        <a:srgbClr val="CBD4D2"/>
                      </a:solidFill>
                      <a:prstDash val="solid"/>
                    </a:lnL>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c>
                  <a:txBody>
                    <a:bodyPr lIns="152400" tIns="152400" rIns="152400" bIns="152400"/>
                    <a:lstStyle/>
                    <a:p>
                      <a:r>
                        <a:rPr sz="1875" b="1">
                          <a:solidFill>
                            <a:srgbClr val="FFFFFF"/>
                          </a:solidFill>
                          <a:latin typeface="Arial"/>
                          <a:ea typeface="Arial"/>
                          <a:cs typeface="Arial"/>
                        </a:rPr>
                        <a:t>Practical question</a:t>
                      </a:r>
                    </a:p>
                  </a:txBody>
                  <a:tcPr marL="91440" marR="91440" marT="45720" marB="45720" anchor="ctr">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r>
              <a:tr h="819150">
                <a:tc>
                  <a:txBody>
                    <a:bodyPr lIns="152400" tIns="152400" rIns="152400" bIns="152400"/>
                    <a:lstStyle/>
                    <a:p>
                      <a:r>
                        <a:rPr sz="2025" b="1">
                          <a:solidFill>
                            <a:srgbClr val="182B36"/>
                          </a:solidFill>
                          <a:latin typeface="Arial"/>
                          <a:ea typeface="Arial"/>
                          <a:cs typeface="Arial"/>
                        </a:rPr>
                        <a:t>Hosting</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Does the model run locally or through a cloud service?</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Reasoning capabilities</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How well can it reason through complex tasks?</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Input and output</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Can it work with text, images, audio, or other formats?</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Context capacity</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How much information can it consider at once?</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bl>
          </a:graphicData>
        </a:graphic>
      </p:graphicFrame>
      <p:sp>
        <p:nvSpPr>
          <p:cNvPr id="4" name="slide-number">
            <a:extLst xmlns:a="http://schemas.openxmlformats.org/drawingml/2006/main">
              <a:ext uri="{FF2B5EF4-FFF2-40B4-BE49-F238E27FC236}">
                <a16:creationId xmlns:a16="http://schemas.microsoft.com/office/drawing/2014/main" id="{0E23BA7A-65B7-45EC-B0FA-06063713244E}"/>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4</a:t>
            </a:r>
          </a:p>
        </p:txBody>
      </p:sp>
    </p:spTree>
    <p:extLst>
      <p:ext uri="{BB962C8B-B14F-4D97-AF65-F5344CB8AC3E}">
        <p14:creationId xmlns:p14="http://schemas.microsoft.com/office/powerpoint/2010/main" val="550712089"/>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slide5-title">
            <a:extLst xmlns:a="http://schemas.openxmlformats.org/drawingml/2006/main">
              <a:ext uri="{FF2B5EF4-FFF2-40B4-BE49-F238E27FC236}">
                <a16:creationId xmlns:a16="http://schemas.microsoft.com/office/drawing/2014/main" id="{A02D6BA8-F99A-46EC-A336-3F578BF291F4}"/>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The assistant's working environment</a:t>
            </a:r>
          </a:p>
        </p:txBody>
      </p:sp>
      <p:sp>
        <p:nvSpPr>
          <p:cNvPr id="2" name="slide5-context">
            <a:extLst xmlns:a="http://schemas.openxmlformats.org/drawingml/2006/main">
              <a:ext uri="{FF2B5EF4-FFF2-40B4-BE49-F238E27FC236}">
                <a16:creationId xmlns:a16="http://schemas.microsoft.com/office/drawing/2014/main" id="{492B68E0-E22F-4DBE-BB05-F6E9082B9AD3}"/>
              </a:ext>
            </a:extLst>
          </p:cNvPr>
          <p:cNvSpPr>
            <a:spLocks xmlns:a="http://schemas.openxmlformats.org/drawingml/2006/main" noGrp="1"/>
          </p:cNvSpPr>
          <p:nvPr/>
        </p:nvSpPr>
        <p:spPr>
          <a:xfrm xmlns:a="http://schemas.openxmlformats.org/drawingml/2006/main">
            <a:off x="685800" y="1362075"/>
            <a:ext cx="10820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53636B"/>
                </a:solidFill>
                <a:latin typeface="Arial"/>
                <a:ea typeface="Arial"/>
                <a:cs typeface="Arial"/>
              </a:defRPr>
            </a:defPPr>
            <a:lvl1pPr>
              <a:buNone/>
              <a:defRPr sz="2100" b="0">
                <a:solidFill>
                  <a:srgbClr val="53636B"/>
                </a:solidFill>
                <a:latin typeface="Arial"/>
                <a:ea typeface="Arial"/>
                <a:cs typeface="Arial"/>
              </a:defRPr>
            </a:lvl1pPr>
            <a:lvl2pPr>
              <a:buNone/>
              <a:defRPr sz="2100" b="0">
                <a:solidFill>
                  <a:srgbClr val="53636B"/>
                </a:solidFill>
                <a:latin typeface="Arial"/>
                <a:ea typeface="Arial"/>
                <a:cs typeface="Arial"/>
              </a:defRPr>
            </a:lvl2pPr>
            <a:lvl3pPr>
              <a:buNone/>
              <a:defRPr sz="2100" b="0">
                <a:solidFill>
                  <a:srgbClr val="53636B"/>
                </a:solidFill>
                <a:latin typeface="Arial"/>
                <a:ea typeface="Arial"/>
                <a:cs typeface="Arial"/>
              </a:defRPr>
            </a:lvl3pPr>
            <a:lvl4pPr>
              <a:buNone/>
              <a:defRPr sz="2100" b="0">
                <a:solidFill>
                  <a:srgbClr val="53636B"/>
                </a:solidFill>
                <a:latin typeface="Arial"/>
                <a:ea typeface="Arial"/>
                <a:cs typeface="Arial"/>
              </a:defRPr>
            </a:lvl4pPr>
            <a:lvl5pPr>
              <a:buNone/>
              <a:defRPr sz="2100" b="0">
                <a:solidFill>
                  <a:srgbClr val="53636B"/>
                </a:solidFill>
                <a:latin typeface="Arial"/>
                <a:ea typeface="Arial"/>
                <a:cs typeface="Arial"/>
              </a:defRPr>
            </a:lvl5pPr>
            <a:lvl6pPr>
              <a:buNone/>
              <a:defRPr sz="2100" b="0">
                <a:solidFill>
                  <a:srgbClr val="53636B"/>
                </a:solidFill>
                <a:latin typeface="Arial"/>
                <a:ea typeface="Arial"/>
                <a:cs typeface="Arial"/>
              </a:defRPr>
            </a:lvl6pPr>
            <a:lvl7pPr>
              <a:buNone/>
              <a:defRPr sz="2100" b="0">
                <a:solidFill>
                  <a:srgbClr val="53636B"/>
                </a:solidFill>
                <a:latin typeface="Arial"/>
                <a:ea typeface="Arial"/>
                <a:cs typeface="Arial"/>
              </a:defRPr>
            </a:lvl7pPr>
            <a:lvl8pPr>
              <a:buNone/>
              <a:defRPr sz="2100" b="0">
                <a:solidFill>
                  <a:srgbClr val="53636B"/>
                </a:solidFill>
                <a:latin typeface="Arial"/>
                <a:ea typeface="Arial"/>
                <a:cs typeface="Arial"/>
              </a:defRPr>
            </a:lvl8pPr>
            <a:lvl9pPr>
              <a:buNone/>
              <a:defRPr sz="2100" b="0">
                <a:solidFill>
                  <a:srgbClr val="53636B"/>
                </a:solidFill>
                <a:latin typeface="Arial"/>
                <a:ea typeface="Arial"/>
                <a:cs typeface="Arial"/>
              </a:defRPr>
            </a:lvl9pPr>
          </a:lstStyle>
          <a:p xmlns:a="http://schemas.openxmlformats.org/drawingml/2006/main">
            <a:pPr>
              <a:buNone/>
              <a:defRPr sz="2100" b="0">
                <a:solidFill>
                  <a:srgbClr val="53636B"/>
                </a:solidFill>
                <a:latin typeface="Arial"/>
                <a:ea typeface="Arial"/>
                <a:cs typeface="Arial"/>
              </a:defRPr>
            </a:pPr>
            <a:r>
              <a:rPr sz="2100" b="0">
                <a:solidFill>
                  <a:srgbClr val="53636B"/>
                </a:solidFill>
                <a:latin typeface="Arial"/>
                <a:ea typeface="Arial"/>
                <a:cs typeface="Arial"/>
              </a:rPr>
              <a:t>The harness provides the working environment, including tool access, customisation options, and controls over execution.</a:t>
            </a:r>
          </a:p>
        </p:txBody>
      </p:sp>
      <p:graphicFrame>
        <p:nvGraphicFramePr>
          <p:cNvPr id="3" name="">
            <a:extLst xmlns:a="http://schemas.openxmlformats.org/drawingml/2006/main">
              <a:ext uri="{FF2B5EF4-FFF2-40B4-BE49-F238E27FC236}">
                <a16:creationId xmlns:a16="http://schemas.microsoft.com/office/drawing/2014/main" id="{4162FD1F-D674-4FE3-9698-921669D0F710}"/>
              </a:ext>
            </a:extLst>
          </p:cNvPr>
          <p:cNvGraphicFramePr/>
          <p:nvPr/>
        </p:nvGraphicFramePr>
        <p:xfrm>
          <a:off xmlns:a="http://schemas.openxmlformats.org/drawingml/2006/main" x="685800" y="2286000"/>
          <a:ext xmlns:a="http://schemas.openxmlformats.org/drawingml/2006/main" cx="10820400" cy="3848100"/>
        </p:xfrm>
        <a:graphic xmlns:a="http://schemas.openxmlformats.org/drawingml/2006/main">
          <a:graphicData uri="http://schemas.openxmlformats.org/drawingml/2006/table">
            <a:tbl>
              <a:tblPr/>
              <a:tblGrid>
                <a:gridCol w="3143250"/>
                <a:gridCol w="7677150"/>
              </a:tblGrid>
              <a:tr h="571500">
                <a:tc>
                  <a:txBody>
                    <a:bodyPr lIns="152400" tIns="152400" rIns="152400" bIns="152400"/>
                    <a:lstStyle/>
                    <a:p>
                      <a:r>
                        <a:rPr sz="1875" b="1">
                          <a:solidFill>
                            <a:srgbClr val="FFFFFF"/>
                          </a:solidFill>
                          <a:latin typeface="Arial"/>
                          <a:ea typeface="Arial"/>
                          <a:cs typeface="Arial"/>
                        </a:rPr>
                        <a:t>Aspect</a:t>
                      </a:r>
                    </a:p>
                  </a:txBody>
                  <a:tcPr marL="91440" marR="91440" marT="45720" marB="45720" anchor="ctr">
                    <a:lnL w="9525">
                      <a:solidFill>
                        <a:srgbClr val="CBD4D2"/>
                      </a:solidFill>
                      <a:prstDash val="solid"/>
                    </a:lnL>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c>
                  <a:txBody>
                    <a:bodyPr lIns="152400" tIns="152400" rIns="152400" bIns="152400"/>
                    <a:lstStyle/>
                    <a:p>
                      <a:r>
                        <a:rPr sz="1875" b="1">
                          <a:solidFill>
                            <a:srgbClr val="FFFFFF"/>
                          </a:solidFill>
                          <a:latin typeface="Arial"/>
                          <a:ea typeface="Arial"/>
                          <a:cs typeface="Arial"/>
                        </a:rPr>
                        <a:t>Practical question</a:t>
                      </a:r>
                    </a:p>
                  </a:txBody>
                  <a:tcPr marL="91440" marR="91440" marT="45720" marB="45720" anchor="ctr">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r>
              <a:tr h="819150">
                <a:tc>
                  <a:txBody>
                    <a:bodyPr lIns="152400" tIns="152400" rIns="152400" bIns="152400"/>
                    <a:lstStyle/>
                    <a:p>
                      <a:r>
                        <a:rPr sz="2025" b="1">
                          <a:solidFill>
                            <a:srgbClr val="182B36"/>
                          </a:solidFill>
                          <a:latin typeface="Arial"/>
                          <a:ea typeface="Arial"/>
                          <a:cs typeface="Arial"/>
                        </a:rPr>
                        <a:t>Execution and storage</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Where are tools run, files kept, and conversations stored?</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Capabilities</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What tools and resources are available to the assistant?</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Customisation</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How can we adapt the assistant and its working environment?</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819150">
                <a:tc>
                  <a:txBody>
                    <a:bodyPr lIns="152400" tIns="152400" rIns="152400" bIns="152400"/>
                    <a:lstStyle/>
                    <a:p>
                      <a:r>
                        <a:rPr sz="2025" b="1">
                          <a:solidFill>
                            <a:srgbClr val="182B36"/>
                          </a:solidFill>
                          <a:latin typeface="Arial"/>
                          <a:ea typeface="Arial"/>
                          <a:cs typeface="Arial"/>
                        </a:rPr>
                        <a:t>Permissions and restrictions</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2025" b="0">
                          <a:solidFill>
                            <a:srgbClr val="182B36"/>
                          </a:solidFill>
                          <a:latin typeface="Arial"/>
                          <a:ea typeface="Arial"/>
                          <a:cs typeface="Arial"/>
                        </a:rPr>
                        <a:t>What may it access and execute, and when is approval required?</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bl>
          </a:graphicData>
        </a:graphic>
      </p:graphicFrame>
      <p:sp>
        <p:nvSpPr>
          <p:cNvPr id="4" name="slide-number">
            <a:extLst xmlns:a="http://schemas.openxmlformats.org/drawingml/2006/main">
              <a:ext uri="{FF2B5EF4-FFF2-40B4-BE49-F238E27FC236}">
                <a16:creationId xmlns:a16="http://schemas.microsoft.com/office/drawing/2014/main" id="{0E23BA7A-65B7-45EC-B0FA-06063713244E}"/>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5</a:t>
            </a:r>
          </a:p>
        </p:txBody>
      </p:sp>
    </p:spTree>
    <p:extLst>
      <p:ext uri="{BB962C8B-B14F-4D97-AF65-F5344CB8AC3E}">
        <p14:creationId xmlns:p14="http://schemas.microsoft.com/office/powerpoint/2010/main" val="550712089"/>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implementation-title">
            <a:extLst xmlns:a="http://schemas.openxmlformats.org/drawingml/2006/main">
              <a:ext uri="{FF2B5EF4-FFF2-40B4-BE49-F238E27FC236}">
                <a16:creationId xmlns:a16="http://schemas.microsoft.com/office/drawing/2014/main" id="{81AF9E35-713C-406F-AD41-CD9EFEE9E89C}"/>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Different harnesses, different possibilities</a:t>
            </a:r>
          </a:p>
        </p:txBody>
      </p:sp>
      <p:sp>
        <p:nvSpPr>
          <p:cNvPr id="2" name="implementation-context">
            <a:extLst xmlns:a="http://schemas.openxmlformats.org/drawingml/2006/main">
              <a:ext uri="{FF2B5EF4-FFF2-40B4-BE49-F238E27FC236}">
                <a16:creationId xmlns:a16="http://schemas.microsoft.com/office/drawing/2014/main" id="{6BC8B49A-7B86-4C5F-9DC0-6C4C6918F218}"/>
              </a:ext>
            </a:extLst>
          </p:cNvPr>
          <p:cNvSpPr>
            <a:spLocks xmlns:a="http://schemas.openxmlformats.org/drawingml/2006/main" noGrp="1"/>
          </p:cNvSpPr>
          <p:nvPr/>
        </p:nvSpPr>
        <p:spPr>
          <a:xfrm xmlns:a="http://schemas.openxmlformats.org/drawingml/2006/main">
            <a:off x="685800" y="138112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2100" b="0">
                <a:solidFill>
                  <a:srgbClr val="53636B"/>
                </a:solidFill>
                <a:latin typeface="Arial"/>
                <a:ea typeface="Arial"/>
                <a:cs typeface="Arial"/>
              </a:defRPr>
            </a:defPPr>
            <a:lvl1pPr>
              <a:buNone/>
              <a:defRPr sz="2100" b="0">
                <a:solidFill>
                  <a:srgbClr val="53636B"/>
                </a:solidFill>
                <a:latin typeface="Arial"/>
                <a:ea typeface="Arial"/>
                <a:cs typeface="Arial"/>
              </a:defRPr>
            </a:lvl1pPr>
            <a:lvl2pPr>
              <a:buNone/>
              <a:defRPr sz="2100" b="0">
                <a:solidFill>
                  <a:srgbClr val="53636B"/>
                </a:solidFill>
                <a:latin typeface="Arial"/>
                <a:ea typeface="Arial"/>
                <a:cs typeface="Arial"/>
              </a:defRPr>
            </a:lvl2pPr>
            <a:lvl3pPr>
              <a:buNone/>
              <a:defRPr sz="2100" b="0">
                <a:solidFill>
                  <a:srgbClr val="53636B"/>
                </a:solidFill>
                <a:latin typeface="Arial"/>
                <a:ea typeface="Arial"/>
                <a:cs typeface="Arial"/>
              </a:defRPr>
            </a:lvl3pPr>
            <a:lvl4pPr>
              <a:buNone/>
              <a:defRPr sz="2100" b="0">
                <a:solidFill>
                  <a:srgbClr val="53636B"/>
                </a:solidFill>
                <a:latin typeface="Arial"/>
                <a:ea typeface="Arial"/>
                <a:cs typeface="Arial"/>
              </a:defRPr>
            </a:lvl4pPr>
            <a:lvl5pPr>
              <a:buNone/>
              <a:defRPr sz="2100" b="0">
                <a:solidFill>
                  <a:srgbClr val="53636B"/>
                </a:solidFill>
                <a:latin typeface="Arial"/>
                <a:ea typeface="Arial"/>
                <a:cs typeface="Arial"/>
              </a:defRPr>
            </a:lvl5pPr>
            <a:lvl6pPr>
              <a:buNone/>
              <a:defRPr sz="2100" b="0">
                <a:solidFill>
                  <a:srgbClr val="53636B"/>
                </a:solidFill>
                <a:latin typeface="Arial"/>
                <a:ea typeface="Arial"/>
                <a:cs typeface="Arial"/>
              </a:defRPr>
            </a:lvl6pPr>
            <a:lvl7pPr>
              <a:buNone/>
              <a:defRPr sz="2100" b="0">
                <a:solidFill>
                  <a:srgbClr val="53636B"/>
                </a:solidFill>
                <a:latin typeface="Arial"/>
                <a:ea typeface="Arial"/>
                <a:cs typeface="Arial"/>
              </a:defRPr>
            </a:lvl7pPr>
            <a:lvl8pPr>
              <a:buNone/>
              <a:defRPr sz="2100" b="0">
                <a:solidFill>
                  <a:srgbClr val="53636B"/>
                </a:solidFill>
                <a:latin typeface="Arial"/>
                <a:ea typeface="Arial"/>
                <a:cs typeface="Arial"/>
              </a:defRPr>
            </a:lvl8pPr>
            <a:lvl9pPr>
              <a:buNone/>
              <a:defRPr sz="2100" b="0">
                <a:solidFill>
                  <a:srgbClr val="53636B"/>
                </a:solidFill>
                <a:latin typeface="Arial"/>
                <a:ea typeface="Arial"/>
                <a:cs typeface="Arial"/>
              </a:defRPr>
            </a:lvl9pPr>
          </a:lstStyle>
          <a:p xmlns:a="http://schemas.openxmlformats.org/drawingml/2006/main">
            <a:pPr>
              <a:buNone/>
              <a:defRPr sz="2100" b="0">
                <a:solidFill>
                  <a:srgbClr val="53636B"/>
                </a:solidFill>
                <a:latin typeface="Arial"/>
                <a:ea typeface="Arial"/>
                <a:cs typeface="Arial"/>
              </a:defRPr>
            </a:pPr>
            <a:r>
              <a:rPr sz="2100" b="0">
                <a:solidFill>
                  <a:srgbClr val="53636B"/>
                </a:solidFill>
                <a:latin typeface="Arial"/>
                <a:ea typeface="Arial"/>
                <a:cs typeface="Arial"/>
              </a:rPr>
              <a:t>Tools, execution and customisation vary across implementations.</a:t>
            </a:r>
          </a:p>
        </p:txBody>
      </p:sp>
      <p:graphicFrame>
        <p:nvGraphicFramePr>
          <p:cNvPr id="3" name="">
            <a:extLst xmlns:a="http://schemas.openxmlformats.org/drawingml/2006/main">
              <a:ext uri="{FF2B5EF4-FFF2-40B4-BE49-F238E27FC236}">
                <a16:creationId xmlns:a16="http://schemas.microsoft.com/office/drawing/2014/main" id="{247D9B6D-8F69-4080-A4CF-C42C7BA2A90C}"/>
              </a:ext>
            </a:extLst>
          </p:cNvPr>
          <p:cNvGraphicFramePr/>
          <p:nvPr/>
        </p:nvGraphicFramePr>
        <p:xfrm>
          <a:off xmlns:a="http://schemas.openxmlformats.org/drawingml/2006/main" x="685800" y="2219325"/>
          <a:ext xmlns:a="http://schemas.openxmlformats.org/drawingml/2006/main" cx="10820400" cy="3657600"/>
        </p:xfrm>
        <a:graphic xmlns:a="http://schemas.openxmlformats.org/drawingml/2006/main">
          <a:graphicData uri="http://schemas.openxmlformats.org/drawingml/2006/table">
            <a:tbl>
              <a:tblPr/>
              <a:tblGrid>
                <a:gridCol w="2286000"/>
                <a:gridCol w="4572000"/>
                <a:gridCol w="3962400"/>
              </a:tblGrid>
              <a:tr h="571500">
                <a:tc>
                  <a:txBody>
                    <a:bodyPr lIns="152400" tIns="152400" rIns="152400" bIns="152400"/>
                    <a:lstStyle/>
                    <a:p>
                      <a:r>
                        <a:rPr sz="1875" b="1">
                          <a:solidFill>
                            <a:srgbClr val="FFFFFF"/>
                          </a:solidFill>
                          <a:latin typeface="Arial"/>
                          <a:ea typeface="Arial"/>
                          <a:cs typeface="Arial"/>
                        </a:rPr>
                        <a:t>Harness</a:t>
                      </a:r>
                    </a:p>
                  </a:txBody>
                  <a:tcPr marL="91440" marR="91440" marT="45720" marB="45720" anchor="ctr">
                    <a:lnL w="9525">
                      <a:solidFill>
                        <a:srgbClr val="CBD4D2"/>
                      </a:solidFill>
                      <a:prstDash val="solid"/>
                    </a:lnL>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c>
                  <a:txBody>
                    <a:bodyPr lIns="152400" tIns="152400" rIns="152400" bIns="152400"/>
                    <a:lstStyle/>
                    <a:p>
                      <a:r>
                        <a:rPr sz="1875" b="1">
                          <a:solidFill>
                            <a:srgbClr val="FFFFFF"/>
                          </a:solidFill>
                          <a:latin typeface="Arial"/>
                          <a:ea typeface="Arial"/>
                          <a:cs typeface="Arial"/>
                        </a:rPr>
                        <a:t>Tools and execution environment</a:t>
                      </a:r>
                    </a:p>
                  </a:txBody>
                  <a:tcPr marL="91440" marR="91440" marT="45720" marB="45720" anchor="ctr">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c>
                  <a:txBody>
                    <a:bodyPr lIns="152400" tIns="152400" rIns="152400" bIns="152400"/>
                    <a:lstStyle/>
                    <a:p>
                      <a:r>
                        <a:rPr sz="1875" b="1">
                          <a:solidFill>
                            <a:srgbClr val="FFFFFF"/>
                          </a:solidFill>
                          <a:latin typeface="Arial"/>
                          <a:ea typeface="Arial"/>
                          <a:cs typeface="Arial"/>
                        </a:rPr>
                        <a:t>Customisation</a:t>
                      </a:r>
                    </a:p>
                  </a:txBody>
                  <a:tcPr marL="91440" marR="91440" marT="45720" marB="45720" anchor="ctr">
                    <a:lnR w="9525">
                      <a:solidFill>
                        <a:srgbClr val="CBD4D2"/>
                      </a:solidFill>
                      <a:prstDash val="solid"/>
                    </a:lnR>
                    <a:lnT w="9525">
                      <a:solidFill>
                        <a:srgbClr val="CBD4D2"/>
                      </a:solidFill>
                      <a:prstDash val="solid"/>
                    </a:lnT>
                    <a:lnB w="9525">
                      <a:solidFill>
                        <a:srgbClr val="CBD4D2"/>
                      </a:solidFill>
                      <a:prstDash val="solid"/>
                    </a:lnB>
                    <a:solidFill>
                      <a:srgbClr val="076C70"/>
                    </a:solidFill>
                  </a:tcPr>
                </a:tc>
              </a:tr>
              <a:tr h="1028700">
                <a:tc>
                  <a:txBody>
                    <a:bodyPr lIns="152400" tIns="152400" rIns="152400" bIns="152400"/>
                    <a:lstStyle/>
                    <a:p>
                      <a:r>
                        <a:rPr sz="1950" b="1">
                          <a:solidFill>
                            <a:srgbClr val="182B36"/>
                          </a:solidFill>
                          <a:latin typeface="Arial"/>
                          <a:ea typeface="Arial"/>
                          <a:cs typeface="Arial"/>
                        </a:rPr>
                        <a:t>chatUMCG</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Conversation only.</a:t>
                      </a:r>
                    </a:p>
                  </a:txBody>
                  <a:tcPr marL="91440" marR="91440" marT="45720" marB="45720" anchor="ctr">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None</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1028700">
                <a:tc>
                  <a:txBody>
                    <a:bodyPr lIns="152400" tIns="152400" rIns="152400" bIns="152400"/>
                    <a:lstStyle/>
                    <a:p>
                      <a:r>
                        <a:rPr sz="1950" b="1">
                          <a:solidFill>
                            <a:srgbClr val="182B36"/>
                          </a:solidFill>
                          <a:latin typeface="Arial"/>
                          <a:ea typeface="Arial"/>
                          <a:cs typeface="Arial"/>
                        </a:rPr>
                        <a:t>Copilot Chat</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Python and JavaScript execution</a:t>
                      </a:r>
                    </a:p>
                    <a:p>
                      <a:r>
                        <a:rPr sz="1950" b="0">
                          <a:solidFill>
                            <a:srgbClr val="182B36"/>
                          </a:solidFill>
                          <a:latin typeface="Arial"/>
                          <a:ea typeface="Arial"/>
                          <a:cs typeface="Arial"/>
                        </a:rPr>
                        <a:t>in a cloud VM; file processing</a:t>
                      </a:r>
                    </a:p>
                    <a:p>
                      <a:r>
                        <a:rPr sz="1950" b="0">
                          <a:solidFill>
                            <a:srgbClr val="182B36"/>
                          </a:solidFill>
                          <a:latin typeface="Arial"/>
                          <a:ea typeface="Arial"/>
                          <a:cs typeface="Arial"/>
                        </a:rPr>
                        <a:t>and generation.</a:t>
                      </a:r>
                    </a:p>
                  </a:txBody>
                  <a:tcPr marL="91440" marR="91440" marT="45720" marB="45720" anchor="ctr">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Agents via Agent Builder:</a:t>
                      </a:r>
                    </a:p>
                    <a:p>
                      <a:r>
                        <a:rPr sz="1950" b="0">
                          <a:solidFill>
                            <a:srgbClr val="182B36"/>
                          </a:solidFill>
                          <a:latin typeface="Arial"/>
                          <a:ea typeface="Arial"/>
                          <a:cs typeface="Arial"/>
                        </a:rPr>
                        <a:t>instructions and knowledge</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r h="1028700">
                <a:tc>
                  <a:txBody>
                    <a:bodyPr lIns="152400" tIns="152400" rIns="152400" bIns="152400"/>
                    <a:lstStyle/>
                    <a:p>
                      <a:r>
                        <a:rPr sz="1950" b="1">
                          <a:solidFill>
                            <a:srgbClr val="182B36"/>
                          </a:solidFill>
                          <a:latin typeface="Arial"/>
                          <a:ea typeface="Arial"/>
                          <a:cs typeface="Arial"/>
                        </a:rPr>
                        <a:t>Codex /</a:t>
                      </a:r>
                    </a:p>
                    <a:p>
                      <a:r>
                        <a:rPr sz="1950" b="1">
                          <a:solidFill>
                            <a:srgbClr val="182B36"/>
                          </a:solidFill>
                          <a:latin typeface="Arial"/>
                          <a:ea typeface="Arial"/>
                          <a:cs typeface="Arial"/>
                        </a:rPr>
                        <a:t>Claude Code</a:t>
                      </a:r>
                    </a:p>
                    <a:p>
                      <a:r>
                        <a:rPr sz="1950" b="1">
                          <a:solidFill>
                            <a:srgbClr val="182B36"/>
                          </a:solidFill>
                          <a:latin typeface="Arial"/>
                          <a:ea typeface="Arial"/>
                          <a:cs typeface="Arial"/>
                        </a:rPr>
                        <a:t>(Local setup)</a:t>
                      </a:r>
                    </a:p>
                  </a:txBody>
                  <a:tcPr marL="91440" marR="91440" marT="45720" marB="45720" anchor="ctr">
                    <a:lnL w="9525">
                      <a:solidFill>
                        <a:srgbClr val="CBD4D2"/>
                      </a:solidFill>
                      <a:prstDash val="solid"/>
                    </a:lnL>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Terminal access, local files,</a:t>
                      </a:r>
                    </a:p>
                    <a:p>
                      <a:r>
                        <a:rPr sz="1950" b="0">
                          <a:solidFill>
                            <a:srgbClr val="182B36"/>
                          </a:solidFill>
                          <a:latin typeface="Arial"/>
                          <a:ea typeface="Arial"/>
                          <a:cs typeface="Arial"/>
                        </a:rPr>
                        <a:t>and installed software.</a:t>
                      </a:r>
                    </a:p>
                  </a:txBody>
                  <a:tcPr marL="91440" marR="91440" marT="45720" marB="45720" anchor="ctr">
                    <a:lnR w="9525">
                      <a:solidFill>
                        <a:srgbClr val="CBD4D2"/>
                      </a:solidFill>
                      <a:prstDash val="solid"/>
                    </a:lnR>
                    <a:lnB w="9525">
                      <a:solidFill>
                        <a:srgbClr val="CBD4D2"/>
                      </a:solidFill>
                      <a:prstDash val="solid"/>
                    </a:lnB>
                    <a:solidFill>
                      <a:srgbClr val="F7F6F2"/>
                    </a:solidFill>
                  </a:tcPr>
                </a:tc>
                <a:tc>
                  <a:txBody>
                    <a:bodyPr lIns="152400" tIns="152400" rIns="152400" bIns="152400"/>
                    <a:lstStyle/>
                    <a:p>
                      <a:r>
                        <a:rPr sz="1950" b="0">
                          <a:solidFill>
                            <a:srgbClr val="182B36"/>
                          </a:solidFill>
                          <a:latin typeface="Arial"/>
                          <a:ea typeface="Arial"/>
                          <a:cs typeface="Arial"/>
                        </a:rPr>
                        <a:t>Project instructions</a:t>
                      </a:r>
                    </a:p>
                    <a:p>
                      <a:r>
                        <a:rPr sz="1950" b="0">
                          <a:solidFill>
                            <a:srgbClr val="182B36"/>
                          </a:solidFill>
                          <a:latin typeface="Arial"/>
                          <a:ea typeface="Arial"/>
                          <a:cs typeface="Arial"/>
                        </a:rPr>
                        <a:t>Reusable skills</a:t>
                      </a:r>
                    </a:p>
                  </a:txBody>
                  <a:tcPr marL="91440" marR="91440" marT="45720" marB="45720" anchor="ctr">
                    <a:lnR w="9525">
                      <a:solidFill>
                        <a:srgbClr val="CBD4D2"/>
                      </a:solidFill>
                      <a:prstDash val="solid"/>
                    </a:lnR>
                    <a:lnB w="9525">
                      <a:solidFill>
                        <a:srgbClr val="CBD4D2"/>
                      </a:solidFill>
                      <a:prstDash val="solid"/>
                    </a:lnB>
                    <a:solidFill>
                      <a:srgbClr val="F7F6F2"/>
                    </a:solidFill>
                  </a:tcPr>
                </a:tc>
              </a:tr>
            </a:tbl>
          </a:graphicData>
        </a:graphic>
      </p:graphicFrame>
      <p:sp>
        <p:nvSpPr>
          <p:cNvPr id="4" name="availability-note">
            <a:extLst xmlns:a="http://schemas.openxmlformats.org/drawingml/2006/main">
              <a:ext uri="{FF2B5EF4-FFF2-40B4-BE49-F238E27FC236}">
                <a16:creationId xmlns:a16="http://schemas.microsoft.com/office/drawing/2014/main" id="{BDB4A478-C9F6-4A8E-8CC5-336DC93BEFD8}"/>
              </a:ext>
            </a:extLst>
          </p:cNvPr>
          <p:cNvSpPr>
            <a:spLocks xmlns:a="http://schemas.openxmlformats.org/drawingml/2006/main" noGrp="1"/>
          </p:cNvSpPr>
          <p:nvPr/>
        </p:nvSpPr>
        <p:spPr>
          <a:xfrm xmlns:a="http://schemas.openxmlformats.org/drawingml/2006/main">
            <a:off x="685800" y="60007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defRPr sz="1500" b="0">
                <a:solidFill>
                  <a:srgbClr val="53636B"/>
                </a:solidFill>
                <a:latin typeface="Arial"/>
                <a:ea typeface="Arial"/>
                <a:cs typeface="Arial"/>
              </a:defRPr>
            </a:defPPr>
            <a:lvl1pPr>
              <a:buNone/>
              <a:defRPr sz="1500" b="0">
                <a:solidFill>
                  <a:srgbClr val="53636B"/>
                </a:solidFill>
                <a:latin typeface="Arial"/>
                <a:ea typeface="Arial"/>
                <a:cs typeface="Arial"/>
              </a:defRPr>
            </a:lvl1pPr>
            <a:lvl2pPr>
              <a:buNone/>
              <a:defRPr sz="1500" b="0">
                <a:solidFill>
                  <a:srgbClr val="53636B"/>
                </a:solidFill>
                <a:latin typeface="Arial"/>
                <a:ea typeface="Arial"/>
                <a:cs typeface="Arial"/>
              </a:defRPr>
            </a:lvl2pPr>
            <a:lvl3pPr>
              <a:buNone/>
              <a:defRPr sz="1500" b="0">
                <a:solidFill>
                  <a:srgbClr val="53636B"/>
                </a:solidFill>
                <a:latin typeface="Arial"/>
                <a:ea typeface="Arial"/>
                <a:cs typeface="Arial"/>
              </a:defRPr>
            </a:lvl3pPr>
            <a:lvl4pPr>
              <a:buNone/>
              <a:defRPr sz="1500" b="0">
                <a:solidFill>
                  <a:srgbClr val="53636B"/>
                </a:solidFill>
                <a:latin typeface="Arial"/>
                <a:ea typeface="Arial"/>
                <a:cs typeface="Arial"/>
              </a:defRPr>
            </a:lvl4pPr>
            <a:lvl5pPr>
              <a:buNone/>
              <a:defRPr sz="1500" b="0">
                <a:solidFill>
                  <a:srgbClr val="53636B"/>
                </a:solidFill>
                <a:latin typeface="Arial"/>
                <a:ea typeface="Arial"/>
                <a:cs typeface="Arial"/>
              </a:defRPr>
            </a:lvl5pPr>
            <a:lvl6pPr>
              <a:buNone/>
              <a:defRPr sz="1500" b="0">
                <a:solidFill>
                  <a:srgbClr val="53636B"/>
                </a:solidFill>
                <a:latin typeface="Arial"/>
                <a:ea typeface="Arial"/>
                <a:cs typeface="Arial"/>
              </a:defRPr>
            </a:lvl6pPr>
            <a:lvl7pPr>
              <a:buNone/>
              <a:defRPr sz="1500" b="0">
                <a:solidFill>
                  <a:srgbClr val="53636B"/>
                </a:solidFill>
                <a:latin typeface="Arial"/>
                <a:ea typeface="Arial"/>
                <a:cs typeface="Arial"/>
              </a:defRPr>
            </a:lvl7pPr>
            <a:lvl8pPr>
              <a:buNone/>
              <a:defRPr sz="1500" b="0">
                <a:solidFill>
                  <a:srgbClr val="53636B"/>
                </a:solidFill>
                <a:latin typeface="Arial"/>
                <a:ea typeface="Arial"/>
                <a:cs typeface="Arial"/>
              </a:defRPr>
            </a:lvl8pPr>
            <a:lvl9pPr>
              <a:buNone/>
              <a:defRPr sz="1500" b="0">
                <a:solidFill>
                  <a:srgbClr val="53636B"/>
                </a:solidFill>
                <a:latin typeface="Arial"/>
                <a:ea typeface="Arial"/>
                <a:cs typeface="Arial"/>
              </a:defRPr>
            </a:lvl9pPr>
          </a:lstStyle>
          <a:p xmlns:a="http://schemas.openxmlformats.org/drawingml/2006/main">
            <a:pPr>
              <a:buNone/>
              <a:defRPr sz="1500" b="0">
                <a:solidFill>
                  <a:srgbClr val="53636B"/>
                </a:solidFill>
                <a:latin typeface="Arial"/>
                <a:ea typeface="Arial"/>
                <a:cs typeface="Arial"/>
              </a:defRPr>
            </a:pPr>
            <a:r>
              <a:rPr sz="1500" b="0">
                <a:solidFill>
                  <a:srgbClr val="53636B"/>
                </a:solidFill>
                <a:latin typeface="Arial"/>
                <a:ea typeface="Arial"/>
                <a:cs typeface="Arial"/>
              </a:rPr>
              <a:t>Examples depend on licence, enabled features and organisational settings.</a:t>
            </a:r>
          </a:p>
        </p:txBody>
      </p:sp>
      <p:sp>
        <p:nvSpPr>
          <p:cNvPr id="5" name="slide-number">
            <a:extLst xmlns:a="http://schemas.openxmlformats.org/drawingml/2006/main">
              <a:ext uri="{FF2B5EF4-FFF2-40B4-BE49-F238E27FC236}">
                <a16:creationId xmlns:a16="http://schemas.microsoft.com/office/drawing/2014/main" id="{12630D87-F32B-4861-9688-4AD37F295630}"/>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6</a:t>
            </a:r>
          </a:p>
        </p:txBody>
      </p:sp>
    </p:spTree>
    <p:extLst>
      <p:ext uri="{BB962C8B-B14F-4D97-AF65-F5344CB8AC3E}">
        <p14:creationId xmlns:p14="http://schemas.microsoft.com/office/powerpoint/2010/main" val="1005490899"/>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slide6-title">
            <a:extLst xmlns:a="http://schemas.openxmlformats.org/drawingml/2006/main">
              <a:ext uri="{FF2B5EF4-FFF2-40B4-BE49-F238E27FC236}">
                <a16:creationId xmlns:a16="http://schemas.microsoft.com/office/drawing/2014/main" id="{1370F98B-CCF6-4A34-BD0D-64331DF287A1}"/>
              </a:ext>
            </a:extLst>
          </p:cNvPr>
          <p:cNvSpPr>
            <a:spLocks xmlns:a="http://schemas.openxmlformats.org/drawingml/2006/main" noGrp="1"/>
          </p:cNvSpPr>
          <p:nvPr/>
        </p:nvSpPr>
        <p:spPr>
          <a:xfrm xmlns:a="http://schemas.openxmlformats.org/drawingml/2006/main">
            <a:off x="685800" y="7143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First exercise: sample size and power</a:t>
            </a:r>
          </a:p>
        </p:txBody>
      </p:sp>
      <p:sp>
        <p:nvSpPr>
          <p:cNvPr id="2" name="exercise-heading">
            <a:extLst xmlns:a="http://schemas.openxmlformats.org/drawingml/2006/main">
              <a:ext uri="{FF2B5EF4-FFF2-40B4-BE49-F238E27FC236}">
                <a16:creationId xmlns:a16="http://schemas.microsoft.com/office/drawing/2014/main" id="{53F45C4B-7DE6-4779-ADFF-89D37360463C}"/>
              </a:ext>
            </a:extLst>
          </p:cNvPr>
          <p:cNvSpPr>
            <a:spLocks xmlns:a="http://schemas.openxmlformats.org/drawingml/2006/main" noGrp="1"/>
          </p:cNvSpPr>
          <p:nvPr/>
        </p:nvSpPr>
        <p:spPr>
          <a:xfrm xmlns:a="http://schemas.openxmlformats.org/drawingml/2006/main">
            <a:off x="685800" y="18383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82B36"/>
                </a:solidFill>
                <a:latin typeface="Arial"/>
                <a:ea typeface="Arial"/>
                <a:cs typeface="Arial"/>
              </a:defRPr>
            </a:defPPr>
            <a:lvl1pPr>
              <a:buNone/>
              <a:defRPr sz="2400" b="1">
                <a:solidFill>
                  <a:srgbClr val="182B36"/>
                </a:solidFill>
                <a:latin typeface="Arial"/>
                <a:ea typeface="Arial"/>
                <a:cs typeface="Arial"/>
              </a:defRPr>
            </a:lvl1pPr>
            <a:lvl2pPr>
              <a:buNone/>
              <a:defRPr sz="2400" b="1">
                <a:solidFill>
                  <a:srgbClr val="182B36"/>
                </a:solidFill>
                <a:latin typeface="Arial"/>
                <a:ea typeface="Arial"/>
                <a:cs typeface="Arial"/>
              </a:defRPr>
            </a:lvl2pPr>
            <a:lvl3pPr>
              <a:buNone/>
              <a:defRPr sz="2400" b="1">
                <a:solidFill>
                  <a:srgbClr val="182B36"/>
                </a:solidFill>
                <a:latin typeface="Arial"/>
                <a:ea typeface="Arial"/>
                <a:cs typeface="Arial"/>
              </a:defRPr>
            </a:lvl3pPr>
            <a:lvl4pPr>
              <a:buNone/>
              <a:defRPr sz="2400" b="1">
                <a:solidFill>
                  <a:srgbClr val="182B36"/>
                </a:solidFill>
                <a:latin typeface="Arial"/>
                <a:ea typeface="Arial"/>
                <a:cs typeface="Arial"/>
              </a:defRPr>
            </a:lvl4pPr>
            <a:lvl5pPr>
              <a:buNone/>
              <a:defRPr sz="2400" b="1">
                <a:solidFill>
                  <a:srgbClr val="182B36"/>
                </a:solidFill>
                <a:latin typeface="Arial"/>
                <a:ea typeface="Arial"/>
                <a:cs typeface="Arial"/>
              </a:defRPr>
            </a:lvl5pPr>
            <a:lvl6pPr>
              <a:buNone/>
              <a:defRPr sz="2400" b="1">
                <a:solidFill>
                  <a:srgbClr val="182B36"/>
                </a:solidFill>
                <a:latin typeface="Arial"/>
                <a:ea typeface="Arial"/>
                <a:cs typeface="Arial"/>
              </a:defRPr>
            </a:lvl6pPr>
            <a:lvl7pPr>
              <a:buNone/>
              <a:defRPr sz="2400" b="1">
                <a:solidFill>
                  <a:srgbClr val="182B36"/>
                </a:solidFill>
                <a:latin typeface="Arial"/>
                <a:ea typeface="Arial"/>
                <a:cs typeface="Arial"/>
              </a:defRPr>
            </a:lvl7pPr>
            <a:lvl8pPr>
              <a:buNone/>
              <a:defRPr sz="2400" b="1">
                <a:solidFill>
                  <a:srgbClr val="182B36"/>
                </a:solidFill>
                <a:latin typeface="Arial"/>
                <a:ea typeface="Arial"/>
                <a:cs typeface="Arial"/>
              </a:defRPr>
            </a:lvl8pPr>
            <a:lvl9pPr>
              <a:buNone/>
              <a:defRPr sz="2400" b="1">
                <a:solidFill>
                  <a:srgbClr val="182B36"/>
                </a:solidFill>
                <a:latin typeface="Arial"/>
                <a:ea typeface="Arial"/>
                <a:cs typeface="Arial"/>
              </a:defRPr>
            </a:lvl9pPr>
          </a:lstStyle>
          <a:p xmlns:a="http://schemas.openxmlformats.org/drawingml/2006/main">
            <a:pPr>
              <a:buNone/>
              <a:defRPr sz="2400" b="1">
                <a:solidFill>
                  <a:srgbClr val="182B36"/>
                </a:solidFill>
                <a:latin typeface="Arial"/>
                <a:ea typeface="Arial"/>
                <a:cs typeface="Arial"/>
              </a:defRPr>
            </a:pPr>
            <a:r>
              <a:rPr sz="2400" b="1">
                <a:solidFill>
                  <a:srgbClr val="182B36"/>
                </a:solidFill>
                <a:latin typeface="Arial"/>
                <a:ea typeface="Arial"/>
                <a:cs typeface="Arial"/>
              </a:rPr>
              <a:t>The exercise</a:t>
            </a:r>
          </a:p>
        </p:txBody>
      </p:sp>
      <p:sp>
        <p:nvSpPr>
          <p:cNvPr id="3" name="exercise-purpose">
            <a:extLst xmlns:a="http://schemas.openxmlformats.org/drawingml/2006/main">
              <a:ext uri="{FF2B5EF4-FFF2-40B4-BE49-F238E27FC236}">
                <a16:creationId xmlns:a16="http://schemas.microsoft.com/office/drawing/2014/main" id="{14D8FFD8-C530-4478-A3E2-71C80D4654EB}"/>
              </a:ext>
            </a:extLst>
          </p:cNvPr>
          <p:cNvSpPr>
            <a:spLocks xmlns:a="http://schemas.openxmlformats.org/drawingml/2006/main" noGrp="1"/>
          </p:cNvSpPr>
          <p:nvPr/>
        </p:nvSpPr>
        <p:spPr>
          <a:xfrm xmlns:a="http://schemas.openxmlformats.org/drawingml/2006/main">
            <a:off x="685800" y="2428875"/>
            <a:ext cx="342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53636B"/>
                </a:solidFill>
                <a:latin typeface="Arial"/>
                <a:ea typeface="Arial"/>
                <a:cs typeface="Arial"/>
              </a:defRPr>
            </a:defPPr>
            <a:lvl1pPr>
              <a:buNone/>
              <a:defRPr sz="2025" b="0">
                <a:solidFill>
                  <a:srgbClr val="53636B"/>
                </a:solidFill>
                <a:latin typeface="Arial"/>
                <a:ea typeface="Arial"/>
                <a:cs typeface="Arial"/>
              </a:defRPr>
            </a:lvl1pPr>
            <a:lvl2pPr>
              <a:buNone/>
              <a:defRPr sz="2025" b="0">
                <a:solidFill>
                  <a:srgbClr val="53636B"/>
                </a:solidFill>
                <a:latin typeface="Arial"/>
                <a:ea typeface="Arial"/>
                <a:cs typeface="Arial"/>
              </a:defRPr>
            </a:lvl2pPr>
            <a:lvl3pPr>
              <a:buNone/>
              <a:defRPr sz="2025" b="0">
                <a:solidFill>
                  <a:srgbClr val="53636B"/>
                </a:solidFill>
                <a:latin typeface="Arial"/>
                <a:ea typeface="Arial"/>
                <a:cs typeface="Arial"/>
              </a:defRPr>
            </a:lvl3pPr>
            <a:lvl4pPr>
              <a:buNone/>
              <a:defRPr sz="2025" b="0">
                <a:solidFill>
                  <a:srgbClr val="53636B"/>
                </a:solidFill>
                <a:latin typeface="Arial"/>
                <a:ea typeface="Arial"/>
                <a:cs typeface="Arial"/>
              </a:defRPr>
            </a:lvl4pPr>
            <a:lvl5pPr>
              <a:buNone/>
              <a:defRPr sz="2025" b="0">
                <a:solidFill>
                  <a:srgbClr val="53636B"/>
                </a:solidFill>
                <a:latin typeface="Arial"/>
                <a:ea typeface="Arial"/>
                <a:cs typeface="Arial"/>
              </a:defRPr>
            </a:lvl5pPr>
            <a:lvl6pPr>
              <a:buNone/>
              <a:defRPr sz="2025" b="0">
                <a:solidFill>
                  <a:srgbClr val="53636B"/>
                </a:solidFill>
                <a:latin typeface="Arial"/>
                <a:ea typeface="Arial"/>
                <a:cs typeface="Arial"/>
              </a:defRPr>
            </a:lvl6pPr>
            <a:lvl7pPr>
              <a:buNone/>
              <a:defRPr sz="2025" b="0">
                <a:solidFill>
                  <a:srgbClr val="53636B"/>
                </a:solidFill>
                <a:latin typeface="Arial"/>
                <a:ea typeface="Arial"/>
                <a:cs typeface="Arial"/>
              </a:defRPr>
            </a:lvl7pPr>
            <a:lvl8pPr>
              <a:buNone/>
              <a:defRPr sz="2025" b="0">
                <a:solidFill>
                  <a:srgbClr val="53636B"/>
                </a:solidFill>
                <a:latin typeface="Arial"/>
                <a:ea typeface="Arial"/>
                <a:cs typeface="Arial"/>
              </a:defRPr>
            </a:lvl8pPr>
            <a:lvl9pPr>
              <a:buNone/>
              <a:defRPr sz="2025" b="0">
                <a:solidFill>
                  <a:srgbClr val="53636B"/>
                </a:solidFill>
                <a:latin typeface="Arial"/>
                <a:ea typeface="Arial"/>
                <a:cs typeface="Arial"/>
              </a:defRPr>
            </a:lvl9pPr>
          </a:lstStyle>
          <a:p xmlns:a="http://schemas.openxmlformats.org/drawingml/2006/main">
            <a:pPr>
              <a:buNone/>
              <a:defRPr sz="2025" b="0">
                <a:solidFill>
                  <a:srgbClr val="53636B"/>
                </a:solidFill>
                <a:latin typeface="Arial"/>
                <a:ea typeface="Arial"/>
                <a:cs typeface="Arial"/>
              </a:defRPr>
            </a:pPr>
            <a:r>
              <a:rPr sz="2025" b="0">
                <a:solidFill>
                  <a:srgbClr val="53636B"/>
                </a:solidFill>
                <a:latin typeface="Arial"/>
                <a:ea typeface="Arial"/>
                <a:cs typeface="Arial"/>
              </a:rPr>
              <a:t>Ask Copilot to create a power graph for a hypothetical two-arm trial.</a:t>
            </a:r>
          </a:p>
        </p:txBody>
      </p:sp>
      <p:sp>
        <p:nvSpPr>
          <p:cNvPr id="4" name="exercise-instructions">
            <a:extLst xmlns:a="http://schemas.openxmlformats.org/drawingml/2006/main">
              <a:ext uri="{FF2B5EF4-FFF2-40B4-BE49-F238E27FC236}">
                <a16:creationId xmlns:a16="http://schemas.microsoft.com/office/drawing/2014/main" id="{D1F3E361-91C2-4F04-B008-8E6BA4316EB4}"/>
              </a:ext>
            </a:extLst>
          </p:cNvPr>
          <p:cNvSpPr>
            <a:spLocks xmlns:a="http://schemas.openxmlformats.org/drawingml/2006/main" noGrp="1"/>
          </p:cNvSpPr>
          <p:nvPr/>
        </p:nvSpPr>
        <p:spPr>
          <a:xfrm xmlns:a="http://schemas.openxmlformats.org/drawingml/2006/main">
            <a:off x="685800" y="3819525"/>
            <a:ext cx="342900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2B36"/>
                </a:solidFill>
                <a:latin typeface="Arial"/>
                <a:ea typeface="Arial"/>
                <a:cs typeface="Arial"/>
              </a:defRPr>
            </a:defPPr>
            <a:lvl1pPr>
              <a:buNone/>
              <a:defRPr sz="1950" b="0">
                <a:solidFill>
                  <a:srgbClr val="182B36"/>
                </a:solidFill>
                <a:latin typeface="Arial"/>
                <a:ea typeface="Arial"/>
                <a:cs typeface="Arial"/>
              </a:defRPr>
            </a:lvl1pPr>
            <a:lvl2pPr>
              <a:buNone/>
              <a:defRPr sz="1950" b="0">
                <a:solidFill>
                  <a:srgbClr val="182B36"/>
                </a:solidFill>
                <a:latin typeface="Arial"/>
                <a:ea typeface="Arial"/>
                <a:cs typeface="Arial"/>
              </a:defRPr>
            </a:lvl2pPr>
            <a:lvl3pPr>
              <a:buNone/>
              <a:defRPr sz="1950" b="0">
                <a:solidFill>
                  <a:srgbClr val="182B36"/>
                </a:solidFill>
                <a:latin typeface="Arial"/>
                <a:ea typeface="Arial"/>
                <a:cs typeface="Arial"/>
              </a:defRPr>
            </a:lvl3pPr>
            <a:lvl4pPr>
              <a:buNone/>
              <a:defRPr sz="1950" b="0">
                <a:solidFill>
                  <a:srgbClr val="182B36"/>
                </a:solidFill>
                <a:latin typeface="Arial"/>
                <a:ea typeface="Arial"/>
                <a:cs typeface="Arial"/>
              </a:defRPr>
            </a:lvl4pPr>
            <a:lvl5pPr>
              <a:buNone/>
              <a:defRPr sz="1950" b="0">
                <a:solidFill>
                  <a:srgbClr val="182B36"/>
                </a:solidFill>
                <a:latin typeface="Arial"/>
                <a:ea typeface="Arial"/>
                <a:cs typeface="Arial"/>
              </a:defRPr>
            </a:lvl5pPr>
            <a:lvl6pPr>
              <a:buNone/>
              <a:defRPr sz="1950" b="0">
                <a:solidFill>
                  <a:srgbClr val="182B36"/>
                </a:solidFill>
                <a:latin typeface="Arial"/>
                <a:ea typeface="Arial"/>
                <a:cs typeface="Arial"/>
              </a:defRPr>
            </a:lvl6pPr>
            <a:lvl7pPr>
              <a:buNone/>
              <a:defRPr sz="1950" b="0">
                <a:solidFill>
                  <a:srgbClr val="182B36"/>
                </a:solidFill>
                <a:latin typeface="Arial"/>
                <a:ea typeface="Arial"/>
                <a:cs typeface="Arial"/>
              </a:defRPr>
            </a:lvl7pPr>
            <a:lvl8pPr>
              <a:buNone/>
              <a:defRPr sz="1950" b="0">
                <a:solidFill>
                  <a:srgbClr val="182B36"/>
                </a:solidFill>
                <a:latin typeface="Arial"/>
                <a:ea typeface="Arial"/>
                <a:cs typeface="Arial"/>
              </a:defRPr>
            </a:lvl8pPr>
            <a:lvl9pPr>
              <a:buNone/>
              <a:defRPr sz="1950" b="0">
                <a:solidFill>
                  <a:srgbClr val="182B36"/>
                </a:solidFill>
                <a:latin typeface="Arial"/>
                <a:ea typeface="Arial"/>
                <a:cs typeface="Arial"/>
              </a:defRPr>
            </a:lvl9pPr>
          </a:lstStyle>
          <a:p xmlns:a="http://schemas.openxmlformats.org/drawingml/2006/main">
            <a:pPr marL="228600" indent="-114300">
              <a:spcAft>
                <a:spcPts val="1400"/>
              </a:spcAft>
              <a:buChar char="•"/>
              <a:defRPr sz="1950" b="0">
                <a:solidFill>
                  <a:srgbClr val="182B36"/>
                </a:solidFill>
                <a:latin typeface="Arial"/>
                <a:ea typeface="Arial"/>
                <a:cs typeface="Arial"/>
              </a:defRPr>
            </a:pPr>
            <a:r>
              <a:rPr sz="1950">
                <a:solidFill>
                  <a:srgbClr val="182B36"/>
                </a:solidFill>
                <a:latin typeface="Arial"/>
                <a:ea typeface="Arial"/>
                <a:cs typeface="Arial"/>
              </a:rPr>
              <a:t>Start a new Copilot chat.</a:t>
            </a:r>
          </a:p>
          <a:p xmlns:a="http://schemas.openxmlformats.org/drawingml/2006/main">
            <a:pPr marL="228600" indent="-114300">
              <a:spcAft>
                <a:spcPts val="1400"/>
              </a:spcAft>
              <a:buChar char="•"/>
              <a:defRPr sz="1950" b="0">
                <a:solidFill>
                  <a:srgbClr val="182B36"/>
                </a:solidFill>
                <a:latin typeface="Arial"/>
                <a:ea typeface="Arial"/>
                <a:cs typeface="Arial"/>
              </a:defRPr>
            </a:pPr>
            <a:r>
              <a:rPr sz="1950">
                <a:solidFill>
                  <a:srgbClr val="182B36"/>
                </a:solidFill>
                <a:latin typeface="Arial"/>
                <a:ea typeface="Arial"/>
                <a:cs typeface="Arial"/>
              </a:rPr>
              <a:t>Follow the exercise on the website.</a:t>
            </a:r>
          </a:p>
          <a:p xmlns:a="http://schemas.openxmlformats.org/drawingml/2006/main">
            <a:pPr marL="228600" indent="-114300">
              <a:spcAft>
                <a:spcPts val="1400"/>
              </a:spcAft>
              <a:buChar char="•"/>
              <a:defRPr sz="1950" b="0">
                <a:solidFill>
                  <a:srgbClr val="182B36"/>
                </a:solidFill>
                <a:latin typeface="Arial"/>
                <a:ea typeface="Arial"/>
                <a:cs typeface="Arial"/>
              </a:defRPr>
            </a:pPr>
            <a:r>
              <a:rPr sz="1950">
                <a:solidFill>
                  <a:srgbClr val="182B36"/>
                </a:solidFill>
                <a:latin typeface="Arial"/>
                <a:ea typeface="Arial"/>
                <a:cs typeface="Arial"/>
              </a:rPr>
              <a:t>Try a follow-up and review the changes.</a:t>
            </a:r>
          </a:p>
        </p:txBody>
      </p:sp>
      <p:sp>
        <p:nvSpPr>
          <p:cNvPr id="5" name="prompt-heading">
            <a:extLst xmlns:a="http://schemas.openxmlformats.org/drawingml/2006/main">
              <a:ext uri="{FF2B5EF4-FFF2-40B4-BE49-F238E27FC236}">
                <a16:creationId xmlns:a16="http://schemas.microsoft.com/office/drawing/2014/main" id="{18C31ADF-EFDE-4D72-82F1-AF35A6FBE7DC}"/>
              </a:ext>
            </a:extLst>
          </p:cNvPr>
          <p:cNvSpPr>
            <a:spLocks xmlns:a="http://schemas.openxmlformats.org/drawingml/2006/main" noGrp="1"/>
          </p:cNvSpPr>
          <p:nvPr/>
        </p:nvSpPr>
        <p:spPr>
          <a:xfrm xmlns:a="http://schemas.openxmlformats.org/drawingml/2006/main">
            <a:off x="4914900" y="1838325"/>
            <a:ext cx="659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076C70"/>
                </a:solidFill>
                <a:latin typeface="Arial"/>
                <a:ea typeface="Arial"/>
                <a:cs typeface="Arial"/>
              </a:defRPr>
            </a:defPPr>
            <a:lvl1pPr>
              <a:buNone/>
              <a:defRPr sz="2400" b="1">
                <a:solidFill>
                  <a:srgbClr val="076C70"/>
                </a:solidFill>
                <a:latin typeface="Arial"/>
                <a:ea typeface="Arial"/>
                <a:cs typeface="Arial"/>
              </a:defRPr>
            </a:lvl1pPr>
            <a:lvl2pPr>
              <a:buNone/>
              <a:defRPr sz="2400" b="1">
                <a:solidFill>
                  <a:srgbClr val="076C70"/>
                </a:solidFill>
                <a:latin typeface="Arial"/>
                <a:ea typeface="Arial"/>
                <a:cs typeface="Arial"/>
              </a:defRPr>
            </a:lvl2pPr>
            <a:lvl3pPr>
              <a:buNone/>
              <a:defRPr sz="2400" b="1">
                <a:solidFill>
                  <a:srgbClr val="076C70"/>
                </a:solidFill>
                <a:latin typeface="Arial"/>
                <a:ea typeface="Arial"/>
                <a:cs typeface="Arial"/>
              </a:defRPr>
            </a:lvl3pPr>
            <a:lvl4pPr>
              <a:buNone/>
              <a:defRPr sz="2400" b="1">
                <a:solidFill>
                  <a:srgbClr val="076C70"/>
                </a:solidFill>
                <a:latin typeface="Arial"/>
                <a:ea typeface="Arial"/>
                <a:cs typeface="Arial"/>
              </a:defRPr>
            </a:lvl4pPr>
            <a:lvl5pPr>
              <a:buNone/>
              <a:defRPr sz="2400" b="1">
                <a:solidFill>
                  <a:srgbClr val="076C70"/>
                </a:solidFill>
                <a:latin typeface="Arial"/>
                <a:ea typeface="Arial"/>
                <a:cs typeface="Arial"/>
              </a:defRPr>
            </a:lvl5pPr>
            <a:lvl6pPr>
              <a:buNone/>
              <a:defRPr sz="2400" b="1">
                <a:solidFill>
                  <a:srgbClr val="076C70"/>
                </a:solidFill>
                <a:latin typeface="Arial"/>
                <a:ea typeface="Arial"/>
                <a:cs typeface="Arial"/>
              </a:defRPr>
            </a:lvl6pPr>
            <a:lvl7pPr>
              <a:buNone/>
              <a:defRPr sz="2400" b="1">
                <a:solidFill>
                  <a:srgbClr val="076C70"/>
                </a:solidFill>
                <a:latin typeface="Arial"/>
                <a:ea typeface="Arial"/>
                <a:cs typeface="Arial"/>
              </a:defRPr>
            </a:lvl7pPr>
            <a:lvl8pPr>
              <a:buNone/>
              <a:defRPr sz="2400" b="1">
                <a:solidFill>
                  <a:srgbClr val="076C70"/>
                </a:solidFill>
                <a:latin typeface="Arial"/>
                <a:ea typeface="Arial"/>
                <a:cs typeface="Arial"/>
              </a:defRPr>
            </a:lvl8pPr>
            <a:lvl9pPr>
              <a:buNone/>
              <a:defRPr sz="2400" b="1">
                <a:solidFill>
                  <a:srgbClr val="076C70"/>
                </a:solidFill>
                <a:latin typeface="Arial"/>
                <a:ea typeface="Arial"/>
                <a:cs typeface="Arial"/>
              </a:defRPr>
            </a:lvl9pPr>
          </a:lstStyle>
          <a:p xmlns:a="http://schemas.openxmlformats.org/drawingml/2006/main">
            <a:pPr>
              <a:buNone/>
              <a:defRPr sz="2400" b="1">
                <a:solidFill>
                  <a:srgbClr val="076C70"/>
                </a:solidFill>
                <a:latin typeface="Arial"/>
                <a:ea typeface="Arial"/>
                <a:cs typeface="Arial"/>
              </a:defRPr>
            </a:pPr>
            <a:r>
              <a:rPr sz="2400" b="1">
                <a:solidFill>
                  <a:srgbClr val="076C70"/>
                </a:solidFill>
                <a:latin typeface="Arial"/>
                <a:ea typeface="Arial"/>
                <a:cs typeface="Arial"/>
                <a:hlinkClick xmlns:r="http://schemas.openxmlformats.org/officeDocument/2006/relationships" r:id="R8821085b80ec4984"/>
              </a:rPr>
              <a:t>Workshop website</a:t>
            </a:r>
          </a:p>
        </p:txBody>
      </p:sp>
      <p:sp>
        <p:nvSpPr>
          <p:cNvPr id="6" name="copilot-prompt">
            <a:extLst xmlns:a="http://schemas.openxmlformats.org/drawingml/2006/main">
              <a:ext uri="{FF2B5EF4-FFF2-40B4-BE49-F238E27FC236}">
                <a16:creationId xmlns:a16="http://schemas.microsoft.com/office/drawing/2014/main" id="{BD56669B-6E65-41B1-9196-0FC606869CDF}"/>
              </a:ext>
            </a:extLst>
          </p:cNvPr>
          <p:cNvSpPr>
            <a:spLocks xmlns:a="http://schemas.openxmlformats.org/drawingml/2006/main" noGrp="1"/>
          </p:cNvSpPr>
          <p:nvPr/>
        </p:nvSpPr>
        <p:spPr>
          <a:xfrm xmlns:a="http://schemas.openxmlformats.org/drawingml/2006/main">
            <a:off x="4914900" y="2428875"/>
            <a:ext cx="6591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2B36"/>
                </a:solidFill>
                <a:latin typeface="Arial"/>
                <a:ea typeface="Arial"/>
                <a:cs typeface="Arial"/>
              </a:defRPr>
            </a:defPPr>
            <a:lvl1pPr>
              <a:buNone/>
              <a:defRPr sz="2025" b="0">
                <a:solidFill>
                  <a:srgbClr val="182B36"/>
                </a:solidFill>
                <a:latin typeface="Arial"/>
                <a:ea typeface="Arial"/>
                <a:cs typeface="Arial"/>
              </a:defRPr>
            </a:lvl1pPr>
            <a:lvl2pPr>
              <a:buNone/>
              <a:defRPr sz="2025" b="0">
                <a:solidFill>
                  <a:srgbClr val="182B36"/>
                </a:solidFill>
                <a:latin typeface="Arial"/>
                <a:ea typeface="Arial"/>
                <a:cs typeface="Arial"/>
              </a:defRPr>
            </a:lvl2pPr>
            <a:lvl3pPr>
              <a:buNone/>
              <a:defRPr sz="2025" b="0">
                <a:solidFill>
                  <a:srgbClr val="182B36"/>
                </a:solidFill>
                <a:latin typeface="Arial"/>
                <a:ea typeface="Arial"/>
                <a:cs typeface="Arial"/>
              </a:defRPr>
            </a:lvl3pPr>
            <a:lvl4pPr>
              <a:buNone/>
              <a:defRPr sz="2025" b="0">
                <a:solidFill>
                  <a:srgbClr val="182B36"/>
                </a:solidFill>
                <a:latin typeface="Arial"/>
                <a:ea typeface="Arial"/>
                <a:cs typeface="Arial"/>
              </a:defRPr>
            </a:lvl4pPr>
            <a:lvl5pPr>
              <a:buNone/>
              <a:defRPr sz="2025" b="0">
                <a:solidFill>
                  <a:srgbClr val="182B36"/>
                </a:solidFill>
                <a:latin typeface="Arial"/>
                <a:ea typeface="Arial"/>
                <a:cs typeface="Arial"/>
              </a:defRPr>
            </a:lvl5pPr>
            <a:lvl6pPr>
              <a:buNone/>
              <a:defRPr sz="2025" b="0">
                <a:solidFill>
                  <a:srgbClr val="182B36"/>
                </a:solidFill>
                <a:latin typeface="Arial"/>
                <a:ea typeface="Arial"/>
                <a:cs typeface="Arial"/>
              </a:defRPr>
            </a:lvl6pPr>
            <a:lvl7pPr>
              <a:buNone/>
              <a:defRPr sz="2025" b="0">
                <a:solidFill>
                  <a:srgbClr val="182B36"/>
                </a:solidFill>
                <a:latin typeface="Arial"/>
                <a:ea typeface="Arial"/>
                <a:cs typeface="Arial"/>
              </a:defRPr>
            </a:lvl7pPr>
            <a:lvl8pPr>
              <a:buNone/>
              <a:defRPr sz="2025" b="0">
                <a:solidFill>
                  <a:srgbClr val="182B36"/>
                </a:solidFill>
                <a:latin typeface="Arial"/>
                <a:ea typeface="Arial"/>
                <a:cs typeface="Arial"/>
              </a:defRPr>
            </a:lvl8pPr>
            <a:lvl9pPr>
              <a:buNone/>
              <a:defRPr sz="2025" b="0">
                <a:solidFill>
                  <a:srgbClr val="182B36"/>
                </a:solidFill>
                <a:latin typeface="Arial"/>
                <a:ea typeface="Arial"/>
                <a:cs typeface="Arial"/>
              </a:defRPr>
            </a:lvl9pPr>
          </a:lstStyle>
          <a:p xmlns:a="http://schemas.openxmlformats.org/drawingml/2006/main">
            <a:pPr>
              <a:buNone/>
              <a:defRPr sz="2025" b="0">
                <a:solidFill>
                  <a:srgbClr val="182B36"/>
                </a:solidFill>
                <a:latin typeface="Arial"/>
                <a:ea typeface="Arial"/>
                <a:cs typeface="Arial"/>
              </a:defRPr>
            </a:pPr>
            <a:r>
              <a:rPr sz="2025" b="0">
                <a:solidFill>
                  <a:srgbClr val="182B36"/>
                </a:solidFill>
                <a:latin typeface="Arial"/>
                <a:ea typeface="Arial"/>
                <a:cs typeface="Arial"/>
              </a:rPr>
              <a:t>Open “</a:t>
            </a:r>
            <a:r>
              <a:rPr sz="2025" b="0">
                <a:solidFill>
                  <a:srgbClr val="182B36"/>
                </a:solidFill>
                <a:latin typeface="Arial"/>
                <a:ea typeface="Arial"/>
                <a:cs typeface="Arial"/>
                <a:hlinkClick xmlns:r="http://schemas.openxmlformats.org/officeDocument/2006/relationships" r:id="Rdbfe1c5900594219"/>
              </a:rPr>
              <a:t>First exercise</a:t>
            </a:r>
            <a:r>
              <a:rPr sz="2025" b="0">
                <a:solidFill>
                  <a:srgbClr val="182B36"/>
                </a:solidFill>
                <a:latin typeface="Arial"/>
                <a:ea typeface="Arial"/>
                <a:cs typeface="Arial"/>
              </a:rPr>
              <a:t>” for the instructions and prompts.</a:t>
            </a:r>
          </a:p>
        </p:txBody>
      </p:sp>
      <p:sp>
        <p:nvSpPr>
          <p:cNvPr id="7" name="slide-number">
            <a:extLst xmlns:a="http://schemas.openxmlformats.org/drawingml/2006/main">
              <a:ext uri="{FF2B5EF4-FFF2-40B4-BE49-F238E27FC236}">
                <a16:creationId xmlns:a16="http://schemas.microsoft.com/office/drawing/2014/main" id="{2DF72932-4F20-4625-8DDE-5EE6CC44AEFE}"/>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7</a:t>
            </a:r>
          </a:p>
        </p:txBody>
      </p:sp>
      <p:pic>
        <p:nvPicPr>
          <p:cNvPr id="9" name="">
            <a:extLst xmlns:a="http://schemas.openxmlformats.org/drawingml/2006/main">
              <a:ext uri="{FF2B5EF4-FFF2-40B4-BE49-F238E27FC236}">
                <a16:creationId xmlns:a16="http://schemas.microsoft.com/office/drawing/2014/main" id="{6C618FAC-75CD-476A-8DB0-E3CEC938A717}"/>
              </a:ext>
            </a:extLst>
          </p:cNvPr>
          <p:cNvPicPr>
            <a:picLocks xmlns:a="http://schemas.openxmlformats.org/drawingml/2006/main" noChangeAspect="1"/>
          </p:cNvPicPr>
          <p:nvPr/>
        </p:nvPicPr>
        <p:blipFill>
          <a:blip xmlns:r="http://schemas.openxmlformats.org/officeDocument/2006/relationships" xmlns:a="http://schemas.openxmlformats.org/drawingml/2006/main" r:embed="R3e487ae6cc8c4cc8"/>
          <a:stretch xmlns:a="http://schemas.openxmlformats.org/drawingml/2006/main"/>
        </p:blipFill>
        <p:spPr>
          <a:xfrm xmlns:a="http://schemas.openxmlformats.org/drawingml/2006/main">
            <a:off x="4914900" y="3305175"/>
            <a:ext cx="2571750" cy="2571750"/>
          </a:xfrm>
          <a:prstGeom xmlns:a="http://schemas.openxmlformats.org/drawingml/2006/main" prst="rect">
            <a:avLst/>
          </a:prstGeom>
        </p:spPr>
      </p:pic>
    </p:spTree>
    <p:extLst>
      <p:ext uri="{BB962C8B-B14F-4D97-AF65-F5344CB8AC3E}">
        <p14:creationId xmlns:p14="http://schemas.microsoft.com/office/powerpoint/2010/main" val="149433818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Discussing the results">
            <a:extLst xmlns:a="http://schemas.openxmlformats.org/drawingml/2006/main">
              <a:ext uri="{FF2B5EF4-FFF2-40B4-BE49-F238E27FC236}">
                <a16:creationId xmlns:a16="http://schemas.microsoft.com/office/drawing/2014/main" id="{13397468-4CDD-409A-9303-C957677AA4F2}"/>
              </a:ext>
            </a:extLst>
          </p:cNvPr>
          <p:cNvSpPr>
            <a:spLocks xmlns:a="http://schemas.openxmlformats.org/drawingml/2006/main" noGrp="1"/>
          </p:cNvSpPr>
          <p:nvPr/>
        </p:nvSpPr>
        <p:spPr>
          <a:xfrm xmlns:a="http://schemas.openxmlformats.org/drawingml/2006/main">
            <a:off x="685800" y="4572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1">
                <a:solidFill>
                  <a:srgbClr val="182B36"/>
                </a:solidFill>
                <a:latin typeface="Arial"/>
                <a:ea typeface="Arial"/>
                <a:cs typeface="Arial"/>
              </a:defRPr>
            </a:defPPr>
            <a:lvl1pPr>
              <a:buNone/>
              <a:defRPr sz="3300" b="1">
                <a:solidFill>
                  <a:srgbClr val="182B36"/>
                </a:solidFill>
                <a:latin typeface="Arial"/>
                <a:ea typeface="Arial"/>
                <a:cs typeface="Arial"/>
              </a:defRPr>
            </a:lvl1pPr>
            <a:lvl2pPr>
              <a:buNone/>
              <a:defRPr sz="3300" b="1">
                <a:solidFill>
                  <a:srgbClr val="182B36"/>
                </a:solidFill>
                <a:latin typeface="Arial"/>
                <a:ea typeface="Arial"/>
                <a:cs typeface="Arial"/>
              </a:defRPr>
            </a:lvl2pPr>
            <a:lvl3pPr>
              <a:buNone/>
              <a:defRPr sz="3300" b="1">
                <a:solidFill>
                  <a:srgbClr val="182B36"/>
                </a:solidFill>
                <a:latin typeface="Arial"/>
                <a:ea typeface="Arial"/>
                <a:cs typeface="Arial"/>
              </a:defRPr>
            </a:lvl3pPr>
            <a:lvl4pPr>
              <a:buNone/>
              <a:defRPr sz="3300" b="1">
                <a:solidFill>
                  <a:srgbClr val="182B36"/>
                </a:solidFill>
                <a:latin typeface="Arial"/>
                <a:ea typeface="Arial"/>
                <a:cs typeface="Arial"/>
              </a:defRPr>
            </a:lvl4pPr>
            <a:lvl5pPr>
              <a:buNone/>
              <a:defRPr sz="3300" b="1">
                <a:solidFill>
                  <a:srgbClr val="182B36"/>
                </a:solidFill>
                <a:latin typeface="Arial"/>
                <a:ea typeface="Arial"/>
                <a:cs typeface="Arial"/>
              </a:defRPr>
            </a:lvl5pPr>
            <a:lvl6pPr>
              <a:buNone/>
              <a:defRPr sz="3300" b="1">
                <a:solidFill>
                  <a:srgbClr val="182B36"/>
                </a:solidFill>
                <a:latin typeface="Arial"/>
                <a:ea typeface="Arial"/>
                <a:cs typeface="Arial"/>
              </a:defRPr>
            </a:lvl6pPr>
            <a:lvl7pPr>
              <a:buNone/>
              <a:defRPr sz="3300" b="1">
                <a:solidFill>
                  <a:srgbClr val="182B36"/>
                </a:solidFill>
                <a:latin typeface="Arial"/>
                <a:ea typeface="Arial"/>
                <a:cs typeface="Arial"/>
              </a:defRPr>
            </a:lvl7pPr>
            <a:lvl8pPr>
              <a:buNone/>
              <a:defRPr sz="3300" b="1">
                <a:solidFill>
                  <a:srgbClr val="182B36"/>
                </a:solidFill>
                <a:latin typeface="Arial"/>
                <a:ea typeface="Arial"/>
                <a:cs typeface="Arial"/>
              </a:defRPr>
            </a:lvl8pPr>
            <a:lvl9pPr>
              <a:buNone/>
              <a:defRPr sz="3300" b="1">
                <a:solidFill>
                  <a:srgbClr val="182B36"/>
                </a:solidFill>
                <a:latin typeface="Arial"/>
                <a:ea typeface="Arial"/>
                <a:cs typeface="Arial"/>
              </a:defRPr>
            </a:lvl9pPr>
          </a:lstStyle>
          <a:p xmlns:a="http://schemas.openxmlformats.org/drawingml/2006/main">
            <a:pPr>
              <a:buNone/>
              <a:defRPr sz="3300" b="1">
                <a:solidFill>
                  <a:srgbClr val="182B36"/>
                </a:solidFill>
                <a:latin typeface="Arial"/>
                <a:ea typeface="Arial"/>
                <a:cs typeface="Arial"/>
              </a:defRPr>
            </a:pPr>
            <a:r>
              <a:rPr sz="3300" b="1">
                <a:solidFill>
                  <a:srgbClr val="182B36"/>
                </a:solidFill>
                <a:latin typeface="Arial"/>
                <a:ea typeface="Arial"/>
                <a:cs typeface="Arial"/>
              </a:rPr>
              <a:t>Discussing the results</a:t>
            </a:r>
          </a:p>
        </p:txBody>
      </p:sp>
      <p:sp>
        <p:nvSpPr>
          <p:cNvPr id="2" name="9">
            <a:extLst xmlns:a="http://schemas.openxmlformats.org/drawingml/2006/main">
              <a:ext uri="{FF2B5EF4-FFF2-40B4-BE49-F238E27FC236}">
                <a16:creationId xmlns:a16="http://schemas.microsoft.com/office/drawing/2014/main" id="{11595DC5-5F1F-466E-83DE-709511D4D190}"/>
              </a:ext>
            </a:extLst>
          </p:cNvPr>
          <p:cNvSpPr>
            <a:spLocks xmlns:a="http://schemas.openxmlformats.org/drawingml/2006/main" noGrp="1"/>
          </p:cNvSpPr>
          <p:nvPr/>
        </p:nvSpPr>
        <p:spPr>
          <a:xfrm xmlns:a="http://schemas.openxmlformats.org/drawingml/2006/main">
            <a:off x="11125200" y="62865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75" b="0">
                <a:solidFill>
                  <a:srgbClr val="53636B"/>
                </a:solidFill>
                <a:latin typeface="Arial"/>
                <a:ea typeface="Arial"/>
                <a:cs typeface="Arial"/>
              </a:defRPr>
            </a:defPPr>
            <a:lvl1pPr algn="r">
              <a:buNone/>
              <a:defRPr sz="1275" b="0">
                <a:solidFill>
                  <a:srgbClr val="53636B"/>
                </a:solidFill>
                <a:latin typeface="Arial"/>
                <a:ea typeface="Arial"/>
                <a:cs typeface="Arial"/>
              </a:defRPr>
            </a:lvl1pPr>
            <a:lvl2pPr algn="r">
              <a:buNone/>
              <a:defRPr sz="1275" b="0">
                <a:solidFill>
                  <a:srgbClr val="53636B"/>
                </a:solidFill>
                <a:latin typeface="Arial"/>
                <a:ea typeface="Arial"/>
                <a:cs typeface="Arial"/>
              </a:defRPr>
            </a:lvl2pPr>
            <a:lvl3pPr algn="r">
              <a:buNone/>
              <a:defRPr sz="1275" b="0">
                <a:solidFill>
                  <a:srgbClr val="53636B"/>
                </a:solidFill>
                <a:latin typeface="Arial"/>
                <a:ea typeface="Arial"/>
                <a:cs typeface="Arial"/>
              </a:defRPr>
            </a:lvl3pPr>
            <a:lvl4pPr algn="r">
              <a:buNone/>
              <a:defRPr sz="1275" b="0">
                <a:solidFill>
                  <a:srgbClr val="53636B"/>
                </a:solidFill>
                <a:latin typeface="Arial"/>
                <a:ea typeface="Arial"/>
                <a:cs typeface="Arial"/>
              </a:defRPr>
            </a:lvl4pPr>
            <a:lvl5pPr algn="r">
              <a:buNone/>
              <a:defRPr sz="1275" b="0">
                <a:solidFill>
                  <a:srgbClr val="53636B"/>
                </a:solidFill>
                <a:latin typeface="Arial"/>
                <a:ea typeface="Arial"/>
                <a:cs typeface="Arial"/>
              </a:defRPr>
            </a:lvl5pPr>
            <a:lvl6pPr algn="r">
              <a:buNone/>
              <a:defRPr sz="1275" b="0">
                <a:solidFill>
                  <a:srgbClr val="53636B"/>
                </a:solidFill>
                <a:latin typeface="Arial"/>
                <a:ea typeface="Arial"/>
                <a:cs typeface="Arial"/>
              </a:defRPr>
            </a:lvl6pPr>
            <a:lvl7pPr algn="r">
              <a:buNone/>
              <a:defRPr sz="1275" b="0">
                <a:solidFill>
                  <a:srgbClr val="53636B"/>
                </a:solidFill>
                <a:latin typeface="Arial"/>
                <a:ea typeface="Arial"/>
                <a:cs typeface="Arial"/>
              </a:defRPr>
            </a:lvl7pPr>
            <a:lvl8pPr algn="r">
              <a:buNone/>
              <a:defRPr sz="1275" b="0">
                <a:solidFill>
                  <a:srgbClr val="53636B"/>
                </a:solidFill>
                <a:latin typeface="Arial"/>
                <a:ea typeface="Arial"/>
                <a:cs typeface="Arial"/>
              </a:defRPr>
            </a:lvl8pPr>
            <a:lvl9pPr algn="r">
              <a:buNone/>
              <a:defRPr sz="1275" b="0">
                <a:solidFill>
                  <a:srgbClr val="53636B"/>
                </a:solidFill>
                <a:latin typeface="Arial"/>
                <a:ea typeface="Arial"/>
                <a:cs typeface="Arial"/>
              </a:defRPr>
            </a:lvl9pPr>
          </a:lstStyle>
          <a:p xmlns:a="http://schemas.openxmlformats.org/drawingml/2006/main">
            <a:pPr algn="r">
              <a:buNone/>
              <a:defRPr sz="1275" b="0">
                <a:solidFill>
                  <a:srgbClr val="53636B"/>
                </a:solidFill>
                <a:latin typeface="Arial"/>
                <a:ea typeface="Arial"/>
                <a:cs typeface="Arial"/>
              </a:defRPr>
            </a:pPr>
            <a:r>
              <a:rPr sz="1275" b="0">
                <a:solidFill>
                  <a:srgbClr val="53636B"/>
                </a:solidFill>
                <a:latin typeface="Arial"/>
                <a:ea typeface="Arial"/>
                <a:cs typeface="Arial"/>
              </a:rPr>
              <a:t>8</a:t>
            </a:r>
          </a:p>
        </p:txBody>
      </p:sp>
      <p:sp>
        <p:nvSpPr>
          <p:cNvPr id="3" name="Discussion questions">
            <a:extLst xmlns:a="http://schemas.openxmlformats.org/drawingml/2006/main">
              <a:ext uri="{FF2B5EF4-FFF2-40B4-BE49-F238E27FC236}">
                <a16:creationId xmlns:a16="http://schemas.microsoft.com/office/drawing/2014/main" id="{8D985415-53BD-44EC-98DB-3963CBB2B9C8}"/>
              </a:ext>
            </a:extLst>
          </p:cNvPr>
          <p:cNvSpPr>
            <a:spLocks xmlns:a="http://schemas.openxmlformats.org/drawingml/2006/main" noGrp="1"/>
          </p:cNvSpPr>
          <p:nvPr/>
        </p:nvSpPr>
        <p:spPr>
          <a:xfrm xmlns:a="http://schemas.openxmlformats.org/drawingml/2006/main">
            <a:off x="685800" y="18097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82B36"/>
                </a:solidFill>
                <a:latin typeface="Arial"/>
                <a:ea typeface="Arial"/>
                <a:cs typeface="Arial"/>
              </a:defRPr>
            </a:defPPr>
            <a:lvl1pPr>
              <a:buNone/>
              <a:defRPr sz="2400" b="0">
                <a:solidFill>
                  <a:srgbClr val="182B36"/>
                </a:solidFill>
                <a:latin typeface="Arial"/>
                <a:ea typeface="Arial"/>
                <a:cs typeface="Arial"/>
              </a:defRPr>
            </a:lvl1pPr>
            <a:lvl2pPr>
              <a:buNone/>
              <a:defRPr sz="2400" b="0">
                <a:solidFill>
                  <a:srgbClr val="182B36"/>
                </a:solidFill>
                <a:latin typeface="Arial"/>
                <a:ea typeface="Arial"/>
                <a:cs typeface="Arial"/>
              </a:defRPr>
            </a:lvl2pPr>
            <a:lvl3pPr>
              <a:buNone/>
              <a:defRPr sz="2400" b="0">
                <a:solidFill>
                  <a:srgbClr val="182B36"/>
                </a:solidFill>
                <a:latin typeface="Arial"/>
                <a:ea typeface="Arial"/>
                <a:cs typeface="Arial"/>
              </a:defRPr>
            </a:lvl3pPr>
            <a:lvl4pPr>
              <a:buNone/>
              <a:defRPr sz="2400" b="0">
                <a:solidFill>
                  <a:srgbClr val="182B36"/>
                </a:solidFill>
                <a:latin typeface="Arial"/>
                <a:ea typeface="Arial"/>
                <a:cs typeface="Arial"/>
              </a:defRPr>
            </a:lvl4pPr>
            <a:lvl5pPr>
              <a:buNone/>
              <a:defRPr sz="2400" b="0">
                <a:solidFill>
                  <a:srgbClr val="182B36"/>
                </a:solidFill>
                <a:latin typeface="Arial"/>
                <a:ea typeface="Arial"/>
                <a:cs typeface="Arial"/>
              </a:defRPr>
            </a:lvl5pPr>
            <a:lvl6pPr>
              <a:buNone/>
              <a:defRPr sz="2400" b="0">
                <a:solidFill>
                  <a:srgbClr val="182B36"/>
                </a:solidFill>
                <a:latin typeface="Arial"/>
                <a:ea typeface="Arial"/>
                <a:cs typeface="Arial"/>
              </a:defRPr>
            </a:lvl6pPr>
            <a:lvl7pPr>
              <a:buNone/>
              <a:defRPr sz="2400" b="0">
                <a:solidFill>
                  <a:srgbClr val="182B36"/>
                </a:solidFill>
                <a:latin typeface="Arial"/>
                <a:ea typeface="Arial"/>
                <a:cs typeface="Arial"/>
              </a:defRPr>
            </a:lvl7pPr>
            <a:lvl8pPr>
              <a:buNone/>
              <a:defRPr sz="2400" b="0">
                <a:solidFill>
                  <a:srgbClr val="182B36"/>
                </a:solidFill>
                <a:latin typeface="Arial"/>
                <a:ea typeface="Arial"/>
                <a:cs typeface="Arial"/>
              </a:defRPr>
            </a:lvl8pPr>
            <a:lvl9pPr>
              <a:buNone/>
              <a:defRPr sz="2400" b="0">
                <a:solidFill>
                  <a:srgbClr val="182B36"/>
                </a:solidFill>
                <a:latin typeface="Arial"/>
                <a:ea typeface="Arial"/>
                <a:cs typeface="Arial"/>
              </a:defRPr>
            </a:lvl9pPr>
          </a:lstStyle>
          <a:p xmlns:a="http://schemas.openxmlformats.org/drawingml/2006/main">
            <a:pPr marL="304800" indent="-152400">
              <a:spcAft>
                <a:spcPts val="2400"/>
              </a:spcAft>
              <a:buChar char="•"/>
              <a:defRPr sz="2400" b="0">
                <a:solidFill>
                  <a:srgbClr val="182B36"/>
                </a:solidFill>
                <a:latin typeface="Arial"/>
                <a:ea typeface="Arial"/>
                <a:cs typeface="Arial"/>
              </a:defRPr>
            </a:pPr>
            <a:r>
              <a:rPr sz="2400" b="0">
                <a:solidFill>
                  <a:srgbClr val="182B36"/>
                </a:solidFill>
                <a:latin typeface="Arial"/>
                <a:ea typeface="Arial"/>
                <a:cs typeface="Arial"/>
              </a:rPr>
              <a:t>Did Copilot produce the graph you asked for?</a:t>
            </a:r>
          </a:p>
          <a:p xmlns:a="http://schemas.openxmlformats.org/drawingml/2006/main">
            <a:pPr marL="304800" indent="-152400">
              <a:spcAft>
                <a:spcPts val="2400"/>
              </a:spcAft>
              <a:buChar char="•"/>
              <a:defRPr sz="2400" b="0">
                <a:solidFill>
                  <a:srgbClr val="182B36"/>
                </a:solidFill>
                <a:latin typeface="Arial"/>
                <a:ea typeface="Arial"/>
                <a:cs typeface="Arial"/>
              </a:defRPr>
            </a:pPr>
            <a:r>
              <a:rPr sz="2400" b="0">
                <a:solidFill>
                  <a:srgbClr val="182B36"/>
                </a:solidFill>
                <a:latin typeface="Arial"/>
                <a:ea typeface="Arial"/>
                <a:cs typeface="Arial"/>
              </a:rPr>
              <a:t>Were the graph, labels and explanation clear?</a:t>
            </a:r>
          </a:p>
          <a:p xmlns:a="http://schemas.openxmlformats.org/drawingml/2006/main">
            <a:pPr marL="304800" indent="-152400">
              <a:spcAft>
                <a:spcPts val="2400"/>
              </a:spcAft>
              <a:buChar char="•"/>
              <a:defRPr sz="2400" b="0">
                <a:solidFill>
                  <a:srgbClr val="182B36"/>
                </a:solidFill>
                <a:latin typeface="Arial"/>
                <a:ea typeface="Arial"/>
                <a:cs typeface="Arial"/>
              </a:defRPr>
            </a:pPr>
            <a:r>
              <a:rPr sz="2400" b="0">
                <a:solidFill>
                  <a:srgbClr val="182B36"/>
                </a:solidFill>
                <a:latin typeface="Arial"/>
                <a:ea typeface="Arial"/>
                <a:cs typeface="Arial"/>
              </a:rPr>
              <a:t>How did Copilot respond to your follow-up prompts?</a:t>
            </a:r>
          </a:p>
          <a:p xmlns:a="http://schemas.openxmlformats.org/drawingml/2006/main">
            <a:pPr marL="304800" indent="-152400">
              <a:spcAft>
                <a:spcPts val="2400"/>
              </a:spcAft>
              <a:buChar char="•"/>
              <a:defRPr sz="2400" b="0">
                <a:solidFill>
                  <a:srgbClr val="182B36"/>
                </a:solidFill>
                <a:latin typeface="Arial"/>
                <a:ea typeface="Arial"/>
                <a:cs typeface="Arial"/>
              </a:defRPr>
            </a:pPr>
            <a:r>
              <a:rPr sz="2400" b="0">
                <a:solidFill>
                  <a:srgbClr val="182B36"/>
                </a:solidFill>
                <a:latin typeface="Arial"/>
                <a:ea typeface="Arial"/>
                <a:cs typeface="Arial"/>
              </a:rPr>
              <a:t>What did you ask Copilot to improve?</a:t>
            </a:r>
          </a:p>
        </p:txBody>
      </p:sp>
    </p:spTree>
    <p:extLst>
      <p:ext uri="{BB962C8B-B14F-4D97-AF65-F5344CB8AC3E}">
        <p14:creationId xmlns:p14="http://schemas.microsoft.com/office/powerpoint/2010/main" val="84578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2026-10-30T17:38:00.0370000Z</dcterms:created>
  <dcterms:modified xsi:type="dcterms:W3CDTF">2026-10-30T17:38:00.0370000Z</dcterms:modified>
</coreProperties>
</file>