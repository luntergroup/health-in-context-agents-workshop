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2be181884b64eb3" /><Relationship Type="http://schemas.openxmlformats.org/officeDocument/2006/relationships/extended-properties" Target="/docProps/app.xml" Id="Rc13e291038ce4872" /><Relationship Type="http://schemas.openxmlformats.org/officeDocument/2006/relationships/officeDocument" Target="/ppt/presentation.xml" Id="Rbdbeed7eebee4b43" /></Relationships>
</file>

<file path=ppt/presentation.xml><?xml version="1.0" encoding="utf-8"?>
<p:presentation xmlns:p="http://schemas.openxmlformats.org/presentationml/2006/main">
  <p:sldMasterIdLst>
    <p:sldMasterId xmlns:r="http://schemas.openxmlformats.org/officeDocument/2006/relationships" id="2147483648" r:id="R4f2f82e6711140c4"/>
  </p:sldMasterIdLst>
  <p:notesMasterIdLst>
    <p:notesMasterId xmlns:r="http://schemas.openxmlformats.org/officeDocument/2006/relationships" r:id="R50628d81fc0945f9"/>
  </p:notesMasterIdLst>
  <p:sldIdLst>
    <p:sldId xmlns:r="http://schemas.openxmlformats.org/officeDocument/2006/relationships" id="256" r:id="Re3cf8e2e52234252"/>
    <p:sldId xmlns:r="http://schemas.openxmlformats.org/officeDocument/2006/relationships" id="257" r:id="R0c927b3c7ea24f62"/>
    <p:sldId xmlns:r="http://schemas.openxmlformats.org/officeDocument/2006/relationships" id="258" r:id="R6d6300d5329c4ddf"/>
    <p:sldId xmlns:ns1="http://schemas.openxmlformats.org/officeDocument/2006/relationships" id="263" ns1:id="RModelSlide8"/>
    <p:sldId xmlns:r="http://schemas.openxmlformats.org/officeDocument/2006/relationships" id="259" r:id="R03b826080f6443f2"/>
    <p:sldId xmlns:r="http://schemas.openxmlformats.org/officeDocument/2006/relationships" id="260" r:id="R3294580a5c394aa0"/>
    <p:sldId xmlns:r="http://schemas.openxmlformats.org/officeDocument/2006/relationships" id="261" r:id="Rac0b4ea20d234603"/>
    <p:sldId xmlns:r="http://schemas.openxmlformats.org/officeDocument/2006/relationships" id="262" r:id="Rf204a0c6b37549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Type="http://schemas.openxmlformats.org/officeDocument/2006/relationships/theme" Target="/ppt/theme/theme1.xml" Id="R26993abca0894c96"/><Relationship Type="http://schemas.openxmlformats.org/officeDocument/2006/relationships/slideMaster" Target="/ppt/slideMasters/slideMaster1.xml" Id="R4f2f82e6711140c4"/><Relationship Type="http://schemas.openxmlformats.org/officeDocument/2006/relationships/notesMaster" Target="/ppt/notesMasters/notesMaster1.xml" Id="R50628d81fc0945f9"/><Relationship Type="http://schemas.openxmlformats.org/officeDocument/2006/relationships/presProps" Target="/ppt/presProps.xml" Id="Rb493819cd63e413b"/><Relationship Type="http://schemas.openxmlformats.org/officeDocument/2006/relationships/tableStyles" Target="/ppt/tableStyles.xml" Id="R483a3c0869254606"/><Relationship Type="http://schemas.openxmlformats.org/officeDocument/2006/relationships/slide" Target="/ppt/slides/slide1.xml" Id="Re3cf8e2e52234252"/><Relationship Type="http://schemas.openxmlformats.org/officeDocument/2006/relationships/slide" Target="/ppt/slides/slide2.xml" Id="R0c927b3c7ea24f62"/><Relationship Type="http://schemas.openxmlformats.org/officeDocument/2006/relationships/slide" Target="/ppt/slides/slide3.xml" Id="R6d6300d5329c4ddf"/><Relationship Type="http://schemas.openxmlformats.org/officeDocument/2006/relationships/slide" Target="/ppt/slides/slide4.xml" Id="R03b826080f6443f2"/><Relationship Type="http://schemas.openxmlformats.org/officeDocument/2006/relationships/slide" Target="/ppt/slides/slide5.xml" Id="R3294580a5c394aa0"/><Relationship Type="http://schemas.openxmlformats.org/officeDocument/2006/relationships/slide" Target="/ppt/slides/slide6.xml" Id="Rac0b4ea20d234603"/><Relationship Type="http://schemas.openxmlformats.org/officeDocument/2006/relationships/slide" Target="/ppt/slides/slide7.xml" Id="Rf204a0c6b37549fd"/><Relationship Id="RModelSlide8" Type="http://schemas.openxmlformats.org/officeDocument/2006/relationships/slide" Target="/ppt/slides/slide8.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35e5e8382a64e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45e1f7a660f4c46" /><Relationship Type="http://schemas.openxmlformats.org/officeDocument/2006/relationships/notesMaster" Target="/ppt/notesMasters/notesMaster1.xml" Id="R16a76af4305446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1770597bdc4889" /><Relationship Type="http://schemas.openxmlformats.org/officeDocument/2006/relationships/notesMaster" Target="/ppt/notesMasters/notesMaster1.xml" Id="Re960a9e8801340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23868dc0c4a44fa6" /><Relationship Type="http://schemas.openxmlformats.org/officeDocument/2006/relationships/notesMaster" Target="/ppt/notesMasters/notesMaster1.xml" Id="Re3df4103d2e34032" /></Relationships>
</file>

<file path=ppt/notesSlides/_rels/notesSlide4.xml.rels>&#65279;<?xml version="1.0" encoding="utf-8"?><Relationships xmlns="http://schemas.openxmlformats.org/package/2006/relationships"><Relationship Type="http://schemas.openxmlformats.org/officeDocument/2006/relationships/slide" Target="/ppt/slides/slide4.xml" Id="R4ae5d1a75e734b09" /><Relationship Type="http://schemas.openxmlformats.org/officeDocument/2006/relationships/notesMaster" Target="/ppt/notesMasters/notesMaster1.xml" Id="Rc3ebf93538bd477a"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e3424642d34f1c" /><Relationship Type="http://schemas.openxmlformats.org/officeDocument/2006/relationships/notesMaster" Target="/ppt/notesMasters/notesMaster1.xml" Id="R241b0980a68a45e1"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c741e129ad408e" /><Relationship Type="http://schemas.openxmlformats.org/officeDocument/2006/relationships/notesMaster" Target="/ppt/notesMasters/notesMaster1.xml" Id="R7025d66a65bb4bfd" /></Relationships>
</file>

<file path=ppt/notesSlides/_rels/notesSlide7.xml.rels>&#65279;<?xml version="1.0" encoding="utf-8"?><Relationships xmlns="http://schemas.openxmlformats.org/package/2006/relationships"><Relationship Type="http://schemas.openxmlformats.org/officeDocument/2006/relationships/slide" Target="/ppt/slides/slide7.xml" Id="Rf12f9c299a444f96" /><Relationship Type="http://schemas.openxmlformats.org/officeDocument/2006/relationships/notesMaster" Target="/ppt/notesMasters/notesMaster1.xml" Id="R831821bf2f124b81" /></Relationships>
</file>

<file path=ppt/notesSlides/_rels/notesSlide8.xml.rels><?xml version='1.0' encoding='UTF-8' standalone='yes'?>
<Relationships xmlns="http://schemas.openxmlformats.org/package/2006/relationships"><Relationship Type="http://schemas.openxmlformats.org/officeDocument/2006/relationships/slide" Target="/ppt/slides/slide8.xml" Id="R4ae5d1a75e734b09"/><Relationship Type="http://schemas.openxmlformats.org/officeDocument/2006/relationships/notesMaster" Target="/ppt/notesMasters/notesMaster1.xml" Id="Rc3ebf93538bd477a"/></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workshop as an opportunity to delegate academic tasks to an AI assistant and inspect and refine the resulting work. Participants will explore the normal Copilot Chat experience before examining customisation. Slide 2 introduces questions and answers and task delegation as uses of an AI assistant. Slide 3 explains the supporting model-and-harness architecture.</a:t>
            </a:r>
          </a:p>
          <a:p xmlns:a="http://schemas.openxmlformats.org/drawingml/2006/main">
            <a:r>
              <a:t>The cover illustration symbolises work with research documents, data and presentations. Any apparent plot or table is decorative and represents no actual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introduces what an AI assistant does through two uses: questions and answers, and task delegation. The examples concern the same academic activity. Asking how data could be analysed seeks guidance. Asking the assistant to analyse the data and prepare a presentation delegates work and specifies a result. These uses can be combined within one conversation. A formal distinction between chatbot and agent is unnecessary here. The next slide explains the architecture supporting these uses.</a:t>
            </a:r>
          </a:p>
          <a:p xmlns:a="http://schemas.openxmlformats.org/drawingml/2006/main">
            <a:r>
              <a:t>The question-answer illustration represents conversational help. The tool-and-report illustration represents choosing actions, using tools and interpreting intermediate outputs to complete a task. Any apparent chart is decorative and makes no numerical claim.</a:t>
            </a:r>
          </a:p>
          <a:p xmlns:a="http://schemas.openxmlformats.org/drawingml/2006/main">
            <a:r>
              <a:t>Customisation is a separate concept: persistent instructions, knowledge and selected tools can tailor an assistant for recurring work, but prior customisation is not required to delegate a task to a general assistant.</a:t>
            </a:r>
          </a:p>
          <a:p xmlns:a="http://schemas.openxmlformats.org/drawingml/2006/main">
            <a:r>
              <a:t>Source: https://www.anthropic.com/engineering/building-effective-agents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model interprets requests, reasons and generates responses. The harness is the surrounding software environment: it supplies instructions and context, exposes tools and resources, executes tool calls, and applies permissions. Together they form the AI assistant.</a:t>
            </a:r>
          </a:p>
          <a:p xmlns:a="http://schemas.openxmlformats.org/drawingml/2006/main">
            <a:r>
              <a:t>The illustration is a workbench metaphor, not a literal system architecture. The central connected network represents the model. The enclosure and surrounding document, code, file and permission modules represent its harness. This makes the distinction between a model and the environment in which it works visible.</a:t>
            </a:r>
          </a:p>
          <a:p xmlns:a="http://schemas.openxmlformats.org/drawingml/2006/main">
            <a:r>
              <a:t>Source: https://www.anthropic.com/engineering/building-effective-agents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slide introduces the model and its harness. After considering the model, this slide describes execution and storage, capabilities, customisation, and permissions and restrictions. The next slide gives concrete implementations. Model hosting, code execution, and storage can occur in different places.</a:t>
            </a:r>
          </a:p>
          <ns0:p xmlns:ns0="http://schemas.openxmlformats.org/drawingml/2006/main">
            <ns0:r>
              <ns0:t>Cloud execution uses a remote environment with files and resources made available there. Local execution uses the user's computer and its accessible files and installed software, within permissions. Some environments combine local and cloud components. Local execution can still use a cloud-hosted model. The harness or application stores conversations and files and determines what is retrieved or supplied to the model in later requests.</ns0:t>
            </ns0:r>
          </ns0:p>
          <a:p xmlns:a="http://schemas.openxmlformats.org/drawingml/2006/main">
            <a:r>
              <a:t>Capabilities describe the tools and resources available. The model also influences how effectively the assistant uses them. Customisation can apply to both the assistant and its harness: reusable instructions, knowledge and skills shape how it works, while plugins and MCP connections can extend its working environment. These aspects are related. Adding an MCP connection is a customisation that can provide additional capabilities.</a:t>
            </a:r>
          </a:p>
          <a:p xmlns:a="http://schemas.openxmlformats.org/drawingml/2006/main">
            <a:r>
              <a:t>Permissions and restrictions have two dimensions. Sandboxing determines file and network access, while command rules can further restrict execution. Approval policies determine whether an action is blocked, requires permission, or can proceed without approval. The dimensions can interact: approval may sometimes permit an action beyond default sandbox restrictions, while other restrictions remain absolute. These controls are distinct from the agent choosing its own steps and tools. Introduce customisation briefly here and return to participants' recurring preferences after the exercise.</a:t>
            </a:r>
          </a:p>
          <a:p xmlns:a="http://schemas.openxmlformats.org/drawingml/2006/main">
            <a:r>
              <a:t>Framework developed in the workshop planning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applies selected aspects of the general harness framework to concrete environments. The middle column describes tools and execution environments consistently, rather than mixing use cases with tool access. The examples are not an exhaustive inventory or a ranking. chatUMCG is described by the workshop organiser as conversation only, with no customisation options.</a:t>
            </a:r>
          </a:p>
          <a:p xmlns:a="http://schemas.openxmlformats.org/drawingml/2006/main">
            <a:r>
              <a:t>Copilot Chat is shown on its own because participants use it in this workshop. Microsoft documents Python code execution in isolated Azure virtual machines and the processing and generation of files. JavaScript support is included on the basis of the workshop organiser's successful test of Node.js in the Copilot execution environment. In that test, webR was installed and loaded through JavaScript to run R compiled to WebAssembly; the simulation and analysis were performed in R. This observation describes the tested workshop environment, rather than a claim that every Copilot configuration guarantees Node.js or native R. Microsoft Agents created through Agent Builder package instructions, knowledge sources and selected capabilities. Availability depends on licensing and organisational settings.</a:t>
            </a:r>
          </a:p>
          <a:p xmlns:a="http://schemas.openxmlformats.org/drawingml/2006/main">
            <a:r>
              <a:t>The Codex / Claude Code row explicitly describes a local setup: terminal access, local files, and installed software, within permissions. Both also offer cloud execution options. Project instructions and reusable skills support customisation. Code execution can produce analyses and documents as well as software.</a:t>
            </a:r>
          </a:p>
          <a:p xmlns:a="http://schemas.openxmlformats.org/drawingml/2006/main">
            <a:r>
              <a:t>Discuss permissions and restrictions verbally in terms of approvals and execution boundaries rather than claiming directly comparable controls across these environments.</a:t>
            </a:r>
          </a:p>
          <a:p xmlns:a="http://schemas.openxmlformats.org/drawingml/2006/main">
            <a:r>
              <a:t>Sources: workshop organiser's descriptions of chatUMCG and the tested Copilot Node.js/webR workflow; https://learn.microsoft.com/en-us/microsoft-365/copilot/extensibility/code-interpreter-security; https://learn.microsoft.com/en-us/microsoft-365/copilot/extensibility/code-interpreter; https://learn.microsoft.com/en-us/microsoft-365/copilot/extensibility/agent-builder-build-agents; https://learn.microsoft.com/en-us/microsoft-365/copilot/extensibility/knowledge-sources; https://docs.r-wasm.org/webr/latest/downloading.html; https://developers.openai.com/codex/cli; https://developers.openai.com/codex/quickstart; https://code.claude.com/docs/en/overview; https://code.claude.com/docs/en/claude-code-on-the-web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column describes the exercise. The complete text in the right column is the prompt participants enter in a new conversation in normal Copilot Chat. Leave implementation choices open so participants can explore how the assistant approaches the request. Once an initial result is available, encourage them to inspect it and request a revision.</a:t>
            </a:r>
          </a:p>
          <a:p xmlns:a="http://schemas.openxmlformats.org/drawingml/2006/main">
            <a:r>
              <a:t>While the assistant works, explain how the model can choose tools, write and run Python, inspect outputs and generate files. Microsoft describes code interpreter as running in isolated Azure virtual machines. Python uses a prepared environment. Identify the actual analysis and PowerPoint libraries from the generated code if available rather than assuming which packages were used. Code serves as a means of producing the deliverables.</a:t>
            </a:r>
          </a:p>
          <a:p xmlns:a="http://schemas.openxmlformats.org/drawingml/2006/main">
            <a:r>
              <a:t>Source for the execution environment: https://learn.microsoft.com/en-us/microsoft-365/copilot/extensibility/code-interpreter-security</a:t>
            </a:r>
          </a:p>
          <a:p xmlns:a="http://schemas.openxmlformats.org/drawingml/2006/main">
            <a:r>
              <a:t>The trial is hypothetical. Different simulation assumptions and random draws will produce different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two or three participants to show their outputs. Use differences in simulation assumptions, analysis choices and presentation style to make the discussion concrete. Distinguish variation due to different simulated datasets from variation in the assistant’s approach. Check whether the assumptions, numerical results, figures and interpretation agree.</a:t>
            </a:r>
          </a:p>
          <a:p xmlns:a="http://schemas.openxmlformats.org/drawingml/2006/main">
            <a:r>
              <a:t>The final question bridges to customisation. Ask which instructions concern only this task and which preferences they would want to reuse across similar tasks. Introduce persistent instructions, relevant knowledge and selected tools in response to those recurring needs.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This slide follows the architecture overview and considers the model separately from the surrounding working environment. Hosting describes where model inference takes place: locally or through a cloud service. This is distinct from where tools run and where conversations and files are stored.</ns0:t>
            </ns0:r>
          </ns0:p>
          <ns1:p xmlns:ns1="http://schemas.openxmlformats.org/drawingml/2006/main">
            <ns1:r>
              <ns1:t>Reasoning capabilities concern how well the model can work through complex tasks. Available reasoning settings can also affect its approach. Input and output capabilities vary across models and may include text, images, audio or other formats.</ns1:t>
            </ns1:r>
          </ns1:p>
          <ns2:p xmlns:ns2="http://schemas.openxmlformats.org/drawingml/2006/main">
            <ns2:r>
              <ns2:t>Context capacity concerns how much information the model can consider in a request. It is different from session storage or persistent memory. The application manages stored conversations and files and selects the information supplied to the model. What the model can consider is different from what the application stores.</ns2:t>
            </ns2:r>
          </ns2:p>
          <ns3:p xmlns:ns3="http://schemas.openxmlformats.org/drawingml/2006/main">
            <ns3:r>
              <ns3:t>The next slide considers the harness, including execution and storage. A local harness can use a cloud-hosted model, and different components may run in different places.</ns3:t>
            </ns3:r>
          </ns3:p>
          <ns4:p xmlns:ns4="http://schemas.openxmlformats.org/drawingml/2006/main">
            <ns4:r>
              <ns4:t>Framework developed in the workshop planning discussion.</ns4:t>
            </ns4:r>
          </ns4: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3b8fe947d26424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dc0594838b744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314c2f83aa548c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cda9471d78f409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4daa0d769c742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a718f91e7ce4f6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BD0D71-12B7-42FB-B39C-5F427846D5C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13F6502-E1A5-47C2-9443-DC43B82744F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B36291D-08A8-4DCB-B783-8AE4FCD55A0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E2AB900-1ABC-4D1B-8FA1-70EEBB1552E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BBA106C-30F6-480D-80E9-BBA20EA8559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1F63287-9A84-4484-85FA-04CCCC5040C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39B803A-4525-401B-B997-7F18B977C29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5272E56-DF12-47C2-AB99-FB2E393D7C7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5D8B24C-6FF9-40CA-89E2-64115EE4D2B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31A94F9-95F9-4920-B568-4677D17E7B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b5fbdf8f52743b5" /><Relationship Type="http://schemas.openxmlformats.org/officeDocument/2006/relationships/slideLayout" Target="/ppt/slideLayouts/slideLayout1.xml" Id="R2194809e8eb241e2" /><Relationship Type="http://schemas.openxmlformats.org/officeDocument/2006/relationships/slideLayout" Target="/ppt/slideLayouts/slideLayout2.xml" Id="Raf6912ee2cce48ed" /><Relationship Type="http://schemas.openxmlformats.org/officeDocument/2006/relationships/slideLayout" Target="/ppt/slideLayouts/slideLayout3.xml" Id="R5ea274adc2344282" /><Relationship Type="http://schemas.openxmlformats.org/officeDocument/2006/relationships/slideLayout" Target="/ppt/slideLayouts/slideLayout4.xml" Id="R503a43cd7e3b4b24" /><Relationship Type="http://schemas.openxmlformats.org/officeDocument/2006/relationships/slideLayout" Target="/ppt/slideLayouts/slideLayout5.xml" Id="R19e356e97ace4638" /><Relationship Type="http://schemas.openxmlformats.org/officeDocument/2006/relationships/slideLayout" Target="/ppt/slideLayouts/slideLayout6.xml" Id="R4713ec75538f4c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194809e8eb241e2"/>
    <p:sldLayoutId xmlns:r="http://schemas.openxmlformats.org/officeDocument/2006/relationships" id="2147483650" r:id="Raf6912ee2cce48ed"/>
    <p:sldLayoutId xmlns:r="http://schemas.openxmlformats.org/officeDocument/2006/relationships" id="2147483651" r:id="R5ea274adc2344282"/>
    <p:sldLayoutId xmlns:r="http://schemas.openxmlformats.org/officeDocument/2006/relationships" id="2147483652" r:id="R503a43cd7e3b4b24"/>
    <p:sldLayoutId xmlns:r="http://schemas.openxmlformats.org/officeDocument/2006/relationships" id="2147483653" r:id="R19e356e97ace4638"/>
    <p:sldLayoutId xmlns:r="http://schemas.openxmlformats.org/officeDocument/2006/relationships" id="2147483654" r:id="R4713ec75538f4c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1dc3896406a41ce" /><Relationship Type="http://schemas.openxmlformats.org/officeDocument/2006/relationships/image" Target="/ppt/media/image.png" Id="R5492299558d84cb9" /><Relationship Type="http://schemas.openxmlformats.org/officeDocument/2006/relationships/notesSlide" Target="/ppt/notesSlides/notesSlide1.xml" Id="Rf3391e2b4ef0484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b9cab584d71483c" /><Relationship Type="http://schemas.openxmlformats.org/officeDocument/2006/relationships/image" Target="/ppt/media/image2.png" Id="R074f11b90667478f" /><Relationship Type="http://schemas.openxmlformats.org/officeDocument/2006/relationships/image" Target="/ppt/media/image3.png" Id="R9890c2641e5a42ca" /><Relationship Type="http://schemas.openxmlformats.org/officeDocument/2006/relationships/notesSlide" Target="/ppt/notesSlides/notesSlide2.xml" Id="R0c391df5127b4b9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9c9395e1cbd4bca" /><Relationship Type="http://schemas.openxmlformats.org/officeDocument/2006/relationships/image" Target="/ppt/media/image4.png" Id="Rf3b71433ec0d4874" /><Relationship Type="http://schemas.openxmlformats.org/officeDocument/2006/relationships/notesSlide" Target="/ppt/notesSlides/notesSlide3.xml" Id="Rbc4c895dab414da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20bed255dfa49ee" /><Relationship Type="http://schemas.openxmlformats.org/officeDocument/2006/relationships/notesSlide" Target="/ppt/notesSlides/notesSlide4.xml" Id="R0dac40baba8c46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1c16386db4841d4" /><Relationship Type="http://schemas.openxmlformats.org/officeDocument/2006/relationships/notesSlide" Target="/ppt/notesSlides/notesSlide5.xml" Id="Ra0c1ae6bb90a40f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81bd70dd833439f" /><Relationship Type="http://schemas.openxmlformats.org/officeDocument/2006/relationships/notesSlide" Target="/ppt/notesSlides/notesSlide6.xml" Id="R797f0adecf0644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b08b995a718e41c4" /><Relationship Type="http://schemas.openxmlformats.org/officeDocument/2006/relationships/notesSlide" Target="/ppt/notesSlides/notesSlide7.xml" Id="R4ed5abc33751436c" /></Relationships>
</file>

<file path=ppt/slides/_rels/slide8.xml.rels><?xml version='1.0' encoding='UTF-8' standalone='yes'?>
<Relationships xmlns="http://schemas.openxmlformats.org/package/2006/relationships"><Relationship Type="http://schemas.openxmlformats.org/officeDocument/2006/relationships/slideLayout" Target="/ppt/slideLayouts/slideLayout6.xml" Id="R020bed255dfa49ee"/><Relationship Type="http://schemas.openxmlformats.org/officeDocument/2006/relationships/notesSlide" Target="/ppt/notesSlides/notesSlide8.xml" Id="R0dac40baba8c467a"/></Relationships>
</file>

<file path=ppt/slides/slide1.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pic>
        <p:nvPicPr>
          <p:cNvPr id="4" name="">
            <a:extLst xmlns:a="http://schemas.openxmlformats.org/drawingml/2006/main">
              <a:ext uri="{FF2B5EF4-FFF2-40B4-BE49-F238E27FC236}">
                <a16:creationId xmlns:a16="http://schemas.microsoft.com/office/drawing/2014/main" id="{C925CFFC-2846-47E2-83D3-28BA01875B94}"/>
              </a:ext>
            </a:extLst>
          </p:cNvPr>
          <p:cNvPicPr>
            <a:picLocks xmlns:a="http://schemas.openxmlformats.org/drawingml/2006/main" noChangeAspect="1"/>
          </p:cNvPicPr>
          <p:nvPr/>
        </p:nvPicPr>
        <p:blipFill>
          <a:blip xmlns:r="http://schemas.openxmlformats.org/officeDocument/2006/relationships" xmlns:a="http://schemas.openxmlformats.org/drawingml/2006/main" r:embed="R5492299558d84cb9"/>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cover-title">
            <a:extLst xmlns:a="http://schemas.openxmlformats.org/drawingml/2006/main">
              <a:ext uri="{FF2B5EF4-FFF2-40B4-BE49-F238E27FC236}">
                <a16:creationId xmlns:a16="http://schemas.microsoft.com/office/drawing/2014/main" id="{3D1D58B6-111E-4AB2-A708-54A13CBAB234}"/>
              </a:ext>
            </a:extLst>
          </p:cNvPr>
          <p:cNvSpPr>
            <a:spLocks xmlns:a="http://schemas.openxmlformats.org/drawingml/2006/main" noGrp="1"/>
          </p:cNvSpPr>
          <p:nvPr/>
        </p:nvSpPr>
        <p:spPr>
          <a:xfrm xmlns:a="http://schemas.openxmlformats.org/drawingml/2006/main">
            <a:off x="685800" y="1819275"/>
            <a:ext cx="533400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4800" b="1">
                <a:solidFill>
                  <a:srgbClr val="182B36"/>
                </a:solidFill>
                <a:latin typeface="Arial"/>
                <a:ea typeface="Arial"/>
                <a:cs typeface="Arial"/>
              </a:defRPr>
            </a:defPPr>
            <a:lvl1pPr>
              <a:buNone/>
              <a:defRPr sz="4800" b="1">
                <a:solidFill>
                  <a:srgbClr val="182B36"/>
                </a:solidFill>
                <a:latin typeface="Arial"/>
                <a:ea typeface="Arial"/>
                <a:cs typeface="Arial"/>
              </a:defRPr>
            </a:lvl1pPr>
            <a:lvl2pPr>
              <a:buNone/>
              <a:defRPr sz="4800" b="1">
                <a:solidFill>
                  <a:srgbClr val="182B36"/>
                </a:solidFill>
                <a:latin typeface="Arial"/>
                <a:ea typeface="Arial"/>
                <a:cs typeface="Arial"/>
              </a:defRPr>
            </a:lvl2pPr>
            <a:lvl3pPr>
              <a:buNone/>
              <a:defRPr sz="4800" b="1">
                <a:solidFill>
                  <a:srgbClr val="182B36"/>
                </a:solidFill>
                <a:latin typeface="Arial"/>
                <a:ea typeface="Arial"/>
                <a:cs typeface="Arial"/>
              </a:defRPr>
            </a:lvl3pPr>
            <a:lvl4pPr>
              <a:buNone/>
              <a:defRPr sz="4800" b="1">
                <a:solidFill>
                  <a:srgbClr val="182B36"/>
                </a:solidFill>
                <a:latin typeface="Arial"/>
                <a:ea typeface="Arial"/>
                <a:cs typeface="Arial"/>
              </a:defRPr>
            </a:lvl4pPr>
            <a:lvl5pPr>
              <a:buNone/>
              <a:defRPr sz="4800" b="1">
                <a:solidFill>
                  <a:srgbClr val="182B36"/>
                </a:solidFill>
                <a:latin typeface="Arial"/>
                <a:ea typeface="Arial"/>
                <a:cs typeface="Arial"/>
              </a:defRPr>
            </a:lvl5pPr>
            <a:lvl6pPr>
              <a:buNone/>
              <a:defRPr sz="4800" b="1">
                <a:solidFill>
                  <a:srgbClr val="182B36"/>
                </a:solidFill>
                <a:latin typeface="Arial"/>
                <a:ea typeface="Arial"/>
                <a:cs typeface="Arial"/>
              </a:defRPr>
            </a:lvl6pPr>
            <a:lvl7pPr>
              <a:buNone/>
              <a:defRPr sz="4800" b="1">
                <a:solidFill>
                  <a:srgbClr val="182B36"/>
                </a:solidFill>
                <a:latin typeface="Arial"/>
                <a:ea typeface="Arial"/>
                <a:cs typeface="Arial"/>
              </a:defRPr>
            </a:lvl7pPr>
            <a:lvl8pPr>
              <a:buNone/>
              <a:defRPr sz="4800" b="1">
                <a:solidFill>
                  <a:srgbClr val="182B36"/>
                </a:solidFill>
                <a:latin typeface="Arial"/>
                <a:ea typeface="Arial"/>
                <a:cs typeface="Arial"/>
              </a:defRPr>
            </a:lvl8pPr>
            <a:lvl9pPr>
              <a:buNone/>
              <a:defRPr sz="4800" b="1">
                <a:solidFill>
                  <a:srgbClr val="182B36"/>
                </a:solidFill>
                <a:latin typeface="Arial"/>
                <a:ea typeface="Arial"/>
                <a:cs typeface="Arial"/>
              </a:defRPr>
            </a:lvl9pPr>
          </a:lstStyle>
          <a:p xmlns:a="http://schemas.openxmlformats.org/drawingml/2006/main">
            <a:pPr>
              <a:buNone/>
              <a:defRPr sz="4800" b="1">
                <a:solidFill>
                  <a:srgbClr val="182B36"/>
                </a:solidFill>
                <a:latin typeface="Arial"/>
                <a:ea typeface="Arial"/>
                <a:cs typeface="Arial"/>
              </a:defRPr>
            </a:pPr>
            <a:r>
              <a:rPr sz="4800" b="1">
                <a:solidFill>
                  <a:srgbClr val="182B36"/>
                </a:solidFill>
                <a:latin typeface="Arial"/>
                <a:ea typeface="Arial"/>
                <a:cs typeface="Arial"/>
              </a:rPr>
              <a:t>AI assistants</a:t>
            </a:r>
          </a:p>
          <a:p xmlns:a="http://schemas.openxmlformats.org/drawingml/2006/main">
            <a:pPr>
              <a:buNone/>
              <a:defRPr sz="4800" b="1">
                <a:solidFill>
                  <a:srgbClr val="182B36"/>
                </a:solidFill>
                <a:latin typeface="Arial"/>
                <a:ea typeface="Arial"/>
                <a:cs typeface="Arial"/>
              </a:defRPr>
            </a:pPr>
            <a:r>
              <a:rPr sz="4800" b="1">
                <a:solidFill>
                  <a:srgbClr val="182B36"/>
                </a:solidFill>
                <a:latin typeface="Arial"/>
                <a:ea typeface="Arial"/>
                <a:cs typeface="Arial"/>
              </a:rPr>
              <a:t>at work</a:t>
            </a:r>
          </a:p>
        </p:txBody>
      </p:sp>
      <p:sp>
        <p:nvSpPr>
          <p:cNvPr id="3" name="cover-subtitle">
            <a:extLst xmlns:a="http://schemas.openxmlformats.org/drawingml/2006/main">
              <a:ext uri="{FF2B5EF4-FFF2-40B4-BE49-F238E27FC236}">
                <a16:creationId xmlns:a16="http://schemas.microsoft.com/office/drawing/2014/main" id="{8CF9265D-96DA-4187-9EE2-A291C5CC2CE1}"/>
              </a:ext>
            </a:extLst>
          </p:cNvPr>
          <p:cNvSpPr>
            <a:spLocks xmlns:a="http://schemas.openxmlformats.org/drawingml/2006/main" noGrp="1"/>
          </p:cNvSpPr>
          <p:nvPr/>
        </p:nvSpPr>
        <p:spPr>
          <a:xfrm xmlns:a="http://schemas.openxmlformats.org/drawingml/2006/main">
            <a:off x="685800" y="3895725"/>
            <a:ext cx="4572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400" b="0">
                <a:solidFill>
                  <a:srgbClr val="076C70"/>
                </a:solidFill>
                <a:latin typeface="Arial"/>
                <a:ea typeface="Arial"/>
                <a:cs typeface="Arial"/>
              </a:defRPr>
            </a:defPPr>
            <a:lvl1pPr>
              <a:buNone/>
              <a:defRPr sz="2400" b="0">
                <a:solidFill>
                  <a:srgbClr val="076C70"/>
                </a:solidFill>
                <a:latin typeface="Arial"/>
                <a:ea typeface="Arial"/>
                <a:cs typeface="Arial"/>
              </a:defRPr>
            </a:lvl1pPr>
            <a:lvl2pPr>
              <a:buNone/>
              <a:defRPr sz="2400" b="0">
                <a:solidFill>
                  <a:srgbClr val="076C70"/>
                </a:solidFill>
                <a:latin typeface="Arial"/>
                <a:ea typeface="Arial"/>
                <a:cs typeface="Arial"/>
              </a:defRPr>
            </a:lvl2pPr>
            <a:lvl3pPr>
              <a:buNone/>
              <a:defRPr sz="2400" b="0">
                <a:solidFill>
                  <a:srgbClr val="076C70"/>
                </a:solidFill>
                <a:latin typeface="Arial"/>
                <a:ea typeface="Arial"/>
                <a:cs typeface="Arial"/>
              </a:defRPr>
            </a:lvl3pPr>
            <a:lvl4pPr>
              <a:buNone/>
              <a:defRPr sz="2400" b="0">
                <a:solidFill>
                  <a:srgbClr val="076C70"/>
                </a:solidFill>
                <a:latin typeface="Arial"/>
                <a:ea typeface="Arial"/>
                <a:cs typeface="Arial"/>
              </a:defRPr>
            </a:lvl4pPr>
            <a:lvl5pPr>
              <a:buNone/>
              <a:defRPr sz="2400" b="0">
                <a:solidFill>
                  <a:srgbClr val="076C70"/>
                </a:solidFill>
                <a:latin typeface="Arial"/>
                <a:ea typeface="Arial"/>
                <a:cs typeface="Arial"/>
              </a:defRPr>
            </a:lvl5pPr>
            <a:lvl6pPr>
              <a:buNone/>
              <a:defRPr sz="2400" b="0">
                <a:solidFill>
                  <a:srgbClr val="076C70"/>
                </a:solidFill>
                <a:latin typeface="Arial"/>
                <a:ea typeface="Arial"/>
                <a:cs typeface="Arial"/>
              </a:defRPr>
            </a:lvl6pPr>
            <a:lvl7pPr>
              <a:buNone/>
              <a:defRPr sz="2400" b="0">
                <a:solidFill>
                  <a:srgbClr val="076C70"/>
                </a:solidFill>
                <a:latin typeface="Arial"/>
                <a:ea typeface="Arial"/>
                <a:cs typeface="Arial"/>
              </a:defRPr>
            </a:lvl7pPr>
            <a:lvl8pPr>
              <a:buNone/>
              <a:defRPr sz="2400" b="0">
                <a:solidFill>
                  <a:srgbClr val="076C70"/>
                </a:solidFill>
                <a:latin typeface="Arial"/>
                <a:ea typeface="Arial"/>
                <a:cs typeface="Arial"/>
              </a:defRPr>
            </a:lvl8pPr>
            <a:lvl9pPr>
              <a:buNone/>
              <a:defRPr sz="2400" b="0">
                <a:solidFill>
                  <a:srgbClr val="076C70"/>
                </a:solidFill>
                <a:latin typeface="Arial"/>
                <a:ea typeface="Arial"/>
                <a:cs typeface="Arial"/>
              </a:defRPr>
            </a:lvl9pPr>
          </a:lstStyle>
          <a:p xmlns:a="http://schemas.openxmlformats.org/drawingml/2006/main">
            <a:pPr>
              <a:buNone/>
              <a:defRPr sz="2400" b="0">
                <a:solidFill>
                  <a:srgbClr val="076C70"/>
                </a:solidFill>
                <a:latin typeface="Arial"/>
                <a:ea typeface="Arial"/>
                <a:cs typeface="Arial"/>
              </a:defRPr>
            </a:pPr>
            <a:r>
              <a:rPr sz="2400" b="0">
                <a:solidFill>
                  <a:srgbClr val="076C70"/>
                </a:solidFill>
                <a:latin typeface="Arial"/>
                <a:ea typeface="Arial"/>
                <a:cs typeface="Arial"/>
              </a:rPr>
              <a:t>A hands-on workshop</a:t>
            </a:r>
          </a:p>
          <a:p xmlns:a="http://schemas.openxmlformats.org/drawingml/2006/main">
            <a:pPr>
              <a:buNone/>
              <a:defRPr sz="2400" b="0">
                <a:solidFill>
                  <a:srgbClr val="076C70"/>
                </a:solidFill>
                <a:latin typeface="Arial"/>
                <a:ea typeface="Arial"/>
                <a:cs typeface="Arial"/>
              </a:defRPr>
            </a:pPr>
            <a:r>
              <a:rPr sz="2400" b="0">
                <a:solidFill>
                  <a:srgbClr val="076C70"/>
                </a:solidFill>
                <a:latin typeface="Arial"/>
                <a:ea typeface="Arial"/>
                <a:cs typeface="Arial"/>
              </a:rPr>
              <a:t>for academic work</a:t>
            </a:r>
          </a:p>
        </p:txBody>
      </p:sp>
    </p:spTree>
    <p:extLst>
      <p:ext uri="{BB962C8B-B14F-4D97-AF65-F5344CB8AC3E}">
        <p14:creationId xmlns:p14="http://schemas.microsoft.com/office/powerpoint/2010/main" val="1752265680"/>
      </p:ext>
    </p:extLst>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2" name="slide-title">
            <a:extLst xmlns:a="http://schemas.openxmlformats.org/drawingml/2006/main">
              <a:ext uri="{FF2B5EF4-FFF2-40B4-BE49-F238E27FC236}">
                <a16:creationId xmlns:a16="http://schemas.microsoft.com/office/drawing/2014/main" id="{B2732924-E59B-4BF7-9579-E6A5EF519074}"/>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3300" b="1">
                <a:solidFill>
                  <a:srgbClr val="182B36"/>
                </a:solidFill>
                <a:latin typeface="Arial"/>
                <a:ea typeface="Arial"/>
                <a:cs typeface="Arial"/>
              </a:defRPr>
            </a:defPPr>
            <a:lvl1pPr>
              <a:buNone/>
              <a:defRPr sz="3300" b="1">
                <a:solidFill>
                  <a:srgbClr val="182B36"/>
                </a:solidFill>
                <a:latin typeface="Arial"/>
                <a:ea typeface="Arial"/>
                <a:cs typeface="Arial"/>
              </a:defRPr>
            </a:lvl1pPr>
            <a:lvl2pPr>
              <a:buNone/>
              <a:defRPr sz="3300" b="1">
                <a:solidFill>
                  <a:srgbClr val="182B36"/>
                </a:solidFill>
                <a:latin typeface="Arial"/>
                <a:ea typeface="Arial"/>
                <a:cs typeface="Arial"/>
              </a:defRPr>
            </a:lvl2pPr>
            <a:lvl3pPr>
              <a:buNone/>
              <a:defRPr sz="3300" b="1">
                <a:solidFill>
                  <a:srgbClr val="182B36"/>
                </a:solidFill>
                <a:latin typeface="Arial"/>
                <a:ea typeface="Arial"/>
                <a:cs typeface="Arial"/>
              </a:defRPr>
            </a:lvl3pPr>
            <a:lvl4pPr>
              <a:buNone/>
              <a:defRPr sz="3300" b="1">
                <a:solidFill>
                  <a:srgbClr val="182B36"/>
                </a:solidFill>
                <a:latin typeface="Arial"/>
                <a:ea typeface="Arial"/>
                <a:cs typeface="Arial"/>
              </a:defRPr>
            </a:lvl4pPr>
            <a:lvl5pPr>
              <a:buNone/>
              <a:defRPr sz="3300" b="1">
                <a:solidFill>
                  <a:srgbClr val="182B36"/>
                </a:solidFill>
                <a:latin typeface="Arial"/>
                <a:ea typeface="Arial"/>
                <a:cs typeface="Arial"/>
              </a:defRPr>
            </a:lvl5pPr>
            <a:lvl6pPr>
              <a:buNone/>
              <a:defRPr sz="3300" b="1">
                <a:solidFill>
                  <a:srgbClr val="182B36"/>
                </a:solidFill>
                <a:latin typeface="Arial"/>
                <a:ea typeface="Arial"/>
                <a:cs typeface="Arial"/>
              </a:defRPr>
            </a:lvl6pPr>
            <a:lvl7pPr>
              <a:buNone/>
              <a:defRPr sz="3300" b="1">
                <a:solidFill>
                  <a:srgbClr val="182B36"/>
                </a:solidFill>
                <a:latin typeface="Arial"/>
                <a:ea typeface="Arial"/>
                <a:cs typeface="Arial"/>
              </a:defRPr>
            </a:lvl7pPr>
            <a:lvl8pPr>
              <a:buNone/>
              <a:defRPr sz="3300" b="1">
                <a:solidFill>
                  <a:srgbClr val="182B36"/>
                </a:solidFill>
                <a:latin typeface="Arial"/>
                <a:ea typeface="Arial"/>
                <a:cs typeface="Arial"/>
              </a:defRPr>
            </a:lvl8pPr>
            <a:lvl9pPr>
              <a:buNone/>
              <a:defRPr sz="3300" b="1">
                <a:solidFill>
                  <a:srgbClr val="182B36"/>
                </a:solidFill>
                <a:latin typeface="Arial"/>
                <a:ea typeface="Arial"/>
                <a:cs typeface="Arial"/>
              </a:defRPr>
            </a:lvl9pPr>
          </a:lstStyle>
          <a:p xmlns:a="http://schemas.openxmlformats.org/drawingml/2006/main">
            <a:pPr>
              <a:buNone/>
              <a:defRPr sz="3300" b="1">
                <a:solidFill>
                  <a:srgbClr val="182B36"/>
                </a:solidFill>
                <a:latin typeface="Arial"/>
                <a:ea typeface="Arial"/>
                <a:cs typeface="Arial"/>
              </a:defRPr>
            </a:pPr>
            <a:r>
              <a:rPr sz="3300" b="1">
                <a:solidFill>
                  <a:srgbClr val="182B36"/>
                </a:solidFill>
                <a:latin typeface="Arial"/>
                <a:ea typeface="Arial"/>
                <a:cs typeface="Arial"/>
              </a:rPr>
              <a:t>What is an AI assistant?</a:t>
            </a:r>
          </a:p>
        </p:txBody>
      </p:sp>
      <p:sp>
        <p:nvSpPr>
          <p:cNvPr id="2" name="context">
            <a:extLst xmlns:a="http://schemas.openxmlformats.org/drawingml/2006/main">
              <a:ext uri="{FF2B5EF4-FFF2-40B4-BE49-F238E27FC236}">
                <a16:creationId xmlns:a16="http://schemas.microsoft.com/office/drawing/2014/main" id="{B994CB7F-9803-4250-991D-C47B3169167F}"/>
              </a:ext>
            </a:extLst>
          </p:cNvPr>
          <p:cNvSpPr>
            <a:spLocks xmlns:a="http://schemas.openxmlformats.org/drawingml/2006/main" noGrp="1"/>
          </p:cNvSpPr>
          <p:nvPr/>
        </p:nvSpPr>
        <p:spPr>
          <a:xfrm xmlns:a="http://schemas.openxmlformats.org/drawingml/2006/main">
            <a:off x="685800" y="1381125"/>
            <a:ext cx="108204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100" b="0">
                <a:solidFill>
                  <a:srgbClr val="53636B"/>
                </a:solidFill>
                <a:latin typeface="Arial"/>
                <a:ea typeface="Arial"/>
                <a:cs typeface="Arial"/>
              </a:defRPr>
            </a:defPPr>
            <a:lvl1pPr>
              <a:buNone/>
              <a:defRPr sz="2100" b="0">
                <a:solidFill>
                  <a:srgbClr val="53636B"/>
                </a:solidFill>
                <a:latin typeface="Arial"/>
                <a:ea typeface="Arial"/>
                <a:cs typeface="Arial"/>
              </a:defRPr>
            </a:lvl1pPr>
            <a:lvl2pPr>
              <a:buNone/>
              <a:defRPr sz="2100" b="0">
                <a:solidFill>
                  <a:srgbClr val="53636B"/>
                </a:solidFill>
                <a:latin typeface="Arial"/>
                <a:ea typeface="Arial"/>
                <a:cs typeface="Arial"/>
              </a:defRPr>
            </a:lvl2pPr>
            <a:lvl3pPr>
              <a:buNone/>
              <a:defRPr sz="2100" b="0">
                <a:solidFill>
                  <a:srgbClr val="53636B"/>
                </a:solidFill>
                <a:latin typeface="Arial"/>
                <a:ea typeface="Arial"/>
                <a:cs typeface="Arial"/>
              </a:defRPr>
            </a:lvl3pPr>
            <a:lvl4pPr>
              <a:buNone/>
              <a:defRPr sz="2100" b="0">
                <a:solidFill>
                  <a:srgbClr val="53636B"/>
                </a:solidFill>
                <a:latin typeface="Arial"/>
                <a:ea typeface="Arial"/>
                <a:cs typeface="Arial"/>
              </a:defRPr>
            </a:lvl4pPr>
            <a:lvl5pPr>
              <a:buNone/>
              <a:defRPr sz="2100" b="0">
                <a:solidFill>
                  <a:srgbClr val="53636B"/>
                </a:solidFill>
                <a:latin typeface="Arial"/>
                <a:ea typeface="Arial"/>
                <a:cs typeface="Arial"/>
              </a:defRPr>
            </a:lvl5pPr>
            <a:lvl6pPr>
              <a:buNone/>
              <a:defRPr sz="2100" b="0">
                <a:solidFill>
                  <a:srgbClr val="53636B"/>
                </a:solidFill>
                <a:latin typeface="Arial"/>
                <a:ea typeface="Arial"/>
                <a:cs typeface="Arial"/>
              </a:defRPr>
            </a:lvl6pPr>
            <a:lvl7pPr>
              <a:buNone/>
              <a:defRPr sz="2100" b="0">
                <a:solidFill>
                  <a:srgbClr val="53636B"/>
                </a:solidFill>
                <a:latin typeface="Arial"/>
                <a:ea typeface="Arial"/>
                <a:cs typeface="Arial"/>
              </a:defRPr>
            </a:lvl7pPr>
            <a:lvl8pPr>
              <a:buNone/>
              <a:defRPr sz="2100" b="0">
                <a:solidFill>
                  <a:srgbClr val="53636B"/>
                </a:solidFill>
                <a:latin typeface="Arial"/>
                <a:ea typeface="Arial"/>
                <a:cs typeface="Arial"/>
              </a:defRPr>
            </a:lvl8pPr>
            <a:lvl9pPr>
              <a:buNone/>
              <a:defRPr sz="2100" b="0">
                <a:solidFill>
                  <a:srgbClr val="53636B"/>
                </a:solidFill>
                <a:latin typeface="Arial"/>
                <a:ea typeface="Arial"/>
                <a:cs typeface="Arial"/>
              </a:defRPr>
            </a:lvl9pPr>
          </a:lstStyle>
          <a:p xmlns:a="http://schemas.openxmlformats.org/drawingml/2006/main">
            <a:pPr>
              <a:buNone/>
              <a:defRPr sz="2100" b="0">
                <a:solidFill>
                  <a:srgbClr val="53636B"/>
                </a:solidFill>
                <a:latin typeface="Arial"/>
                <a:ea typeface="Arial"/>
                <a:cs typeface="Arial"/>
              </a:defRPr>
            </a:pPr>
            <a:r>
              <a:rPr sz="2100" b="0">
                <a:solidFill>
                  <a:srgbClr val="53636B"/>
                </a:solidFill>
                <a:latin typeface="Arial"/>
                <a:ea typeface="Arial"/>
                <a:cs typeface="Arial"/>
              </a:rPr>
              <a:t>An AI assistant helps with questions and can carry out delegated tasks.</a:t>
            </a:r>
          </a:p>
        </p:txBody>
      </p:sp>
      <p:sp>
        <p:nvSpPr>
          <p:cNvPr id="3" name="chatbot-heading">
            <a:extLst xmlns:a="http://schemas.openxmlformats.org/drawingml/2006/main">
              <a:ext uri="{FF2B5EF4-FFF2-40B4-BE49-F238E27FC236}">
                <a16:creationId xmlns:a16="http://schemas.microsoft.com/office/drawing/2014/main" id="{FB2EDF8C-CEF5-4D1D-8FFA-00A033FFAD2C}"/>
              </a:ext>
            </a:extLst>
          </p:cNvPr>
          <p:cNvSpPr>
            <a:spLocks xmlns:a="http://schemas.openxmlformats.org/drawingml/2006/main" noGrp="1"/>
          </p:cNvSpPr>
          <p:nvPr/>
        </p:nvSpPr>
        <p:spPr>
          <a:xfrm xmlns:a="http://schemas.openxmlformats.org/drawingml/2006/main">
            <a:off x="685800" y="2200275"/>
            <a:ext cx="48577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625" b="1">
                <a:solidFill>
                  <a:srgbClr val="53636B"/>
                </a:solidFill>
                <a:latin typeface="Arial"/>
                <a:ea typeface="Arial"/>
                <a:cs typeface="Arial"/>
              </a:defRPr>
            </a:defPPr>
            <a:lvl1pPr>
              <a:buNone/>
              <a:defRPr sz="2625" b="1">
                <a:solidFill>
                  <a:srgbClr val="53636B"/>
                </a:solidFill>
                <a:latin typeface="Arial"/>
                <a:ea typeface="Arial"/>
                <a:cs typeface="Arial"/>
              </a:defRPr>
            </a:lvl1pPr>
            <a:lvl2pPr>
              <a:buNone/>
              <a:defRPr sz="2625" b="1">
                <a:solidFill>
                  <a:srgbClr val="53636B"/>
                </a:solidFill>
                <a:latin typeface="Arial"/>
                <a:ea typeface="Arial"/>
                <a:cs typeface="Arial"/>
              </a:defRPr>
            </a:lvl2pPr>
            <a:lvl3pPr>
              <a:buNone/>
              <a:defRPr sz="2625" b="1">
                <a:solidFill>
                  <a:srgbClr val="53636B"/>
                </a:solidFill>
                <a:latin typeface="Arial"/>
                <a:ea typeface="Arial"/>
                <a:cs typeface="Arial"/>
              </a:defRPr>
            </a:lvl3pPr>
            <a:lvl4pPr>
              <a:buNone/>
              <a:defRPr sz="2625" b="1">
                <a:solidFill>
                  <a:srgbClr val="53636B"/>
                </a:solidFill>
                <a:latin typeface="Arial"/>
                <a:ea typeface="Arial"/>
                <a:cs typeface="Arial"/>
              </a:defRPr>
            </a:lvl4pPr>
            <a:lvl5pPr>
              <a:buNone/>
              <a:defRPr sz="2625" b="1">
                <a:solidFill>
                  <a:srgbClr val="53636B"/>
                </a:solidFill>
                <a:latin typeface="Arial"/>
                <a:ea typeface="Arial"/>
                <a:cs typeface="Arial"/>
              </a:defRPr>
            </a:lvl5pPr>
            <a:lvl6pPr>
              <a:buNone/>
              <a:defRPr sz="2625" b="1">
                <a:solidFill>
                  <a:srgbClr val="53636B"/>
                </a:solidFill>
                <a:latin typeface="Arial"/>
                <a:ea typeface="Arial"/>
                <a:cs typeface="Arial"/>
              </a:defRPr>
            </a:lvl6pPr>
            <a:lvl7pPr>
              <a:buNone/>
              <a:defRPr sz="2625" b="1">
                <a:solidFill>
                  <a:srgbClr val="53636B"/>
                </a:solidFill>
                <a:latin typeface="Arial"/>
                <a:ea typeface="Arial"/>
                <a:cs typeface="Arial"/>
              </a:defRPr>
            </a:lvl7pPr>
            <a:lvl8pPr>
              <a:buNone/>
              <a:defRPr sz="2625" b="1">
                <a:solidFill>
                  <a:srgbClr val="53636B"/>
                </a:solidFill>
                <a:latin typeface="Arial"/>
                <a:ea typeface="Arial"/>
                <a:cs typeface="Arial"/>
              </a:defRPr>
            </a:lvl8pPr>
            <a:lvl9pPr>
              <a:buNone/>
              <a:defRPr sz="2625" b="1">
                <a:solidFill>
                  <a:srgbClr val="53636B"/>
                </a:solidFill>
                <a:latin typeface="Arial"/>
                <a:ea typeface="Arial"/>
                <a:cs typeface="Arial"/>
              </a:defRPr>
            </a:lvl9pPr>
          </a:lstStyle>
          <a:p xmlns:a="http://schemas.openxmlformats.org/drawingml/2006/main">
            <a:pPr>
              <a:buNone/>
              <a:defRPr sz="2625" b="1">
                <a:solidFill>
                  <a:srgbClr val="53636B"/>
                </a:solidFill>
                <a:latin typeface="Arial"/>
                <a:ea typeface="Arial"/>
                <a:cs typeface="Arial"/>
              </a:defRPr>
            </a:pPr>
            <a:r>
              <a:rPr sz="2625" b="1">
                <a:solidFill>
                  <a:srgbClr val="53636B"/>
                </a:solidFill>
                <a:latin typeface="Arial"/>
                <a:ea typeface="Arial"/>
                <a:cs typeface="Arial"/>
              </a:rPr>
              <a:t>Questions and answers</a:t>
            </a:r>
          </a:p>
        </p:txBody>
      </p:sp>
      <p:sp>
        <p:nvSpPr>
          <p:cNvPr id="4" name="agent-heading">
            <a:extLst xmlns:a="http://schemas.openxmlformats.org/drawingml/2006/main">
              <a:ext uri="{FF2B5EF4-FFF2-40B4-BE49-F238E27FC236}">
                <a16:creationId xmlns:a16="http://schemas.microsoft.com/office/drawing/2014/main" id="{EB9A755B-B732-47A1-A5A2-4E4233708353}"/>
              </a:ext>
            </a:extLst>
          </p:cNvPr>
          <p:cNvSpPr>
            <a:spLocks xmlns:a="http://schemas.openxmlformats.org/drawingml/2006/main" noGrp="1"/>
          </p:cNvSpPr>
          <p:nvPr/>
        </p:nvSpPr>
        <p:spPr>
          <a:xfrm xmlns:a="http://schemas.openxmlformats.org/drawingml/2006/main">
            <a:off x="6477000" y="2200275"/>
            <a:ext cx="48577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625" b="1">
                <a:solidFill>
                  <a:srgbClr val="076C70"/>
                </a:solidFill>
                <a:latin typeface="Arial"/>
                <a:ea typeface="Arial"/>
                <a:cs typeface="Arial"/>
              </a:defRPr>
            </a:defPPr>
            <a:lvl1pPr>
              <a:buNone/>
              <a:defRPr sz="2625" b="1">
                <a:solidFill>
                  <a:srgbClr val="076C70"/>
                </a:solidFill>
                <a:latin typeface="Arial"/>
                <a:ea typeface="Arial"/>
                <a:cs typeface="Arial"/>
              </a:defRPr>
            </a:lvl1pPr>
            <a:lvl2pPr>
              <a:buNone/>
              <a:defRPr sz="2625" b="1">
                <a:solidFill>
                  <a:srgbClr val="076C70"/>
                </a:solidFill>
                <a:latin typeface="Arial"/>
                <a:ea typeface="Arial"/>
                <a:cs typeface="Arial"/>
              </a:defRPr>
            </a:lvl2pPr>
            <a:lvl3pPr>
              <a:buNone/>
              <a:defRPr sz="2625" b="1">
                <a:solidFill>
                  <a:srgbClr val="076C70"/>
                </a:solidFill>
                <a:latin typeface="Arial"/>
                <a:ea typeface="Arial"/>
                <a:cs typeface="Arial"/>
              </a:defRPr>
            </a:lvl3pPr>
            <a:lvl4pPr>
              <a:buNone/>
              <a:defRPr sz="2625" b="1">
                <a:solidFill>
                  <a:srgbClr val="076C70"/>
                </a:solidFill>
                <a:latin typeface="Arial"/>
                <a:ea typeface="Arial"/>
                <a:cs typeface="Arial"/>
              </a:defRPr>
            </a:lvl4pPr>
            <a:lvl5pPr>
              <a:buNone/>
              <a:defRPr sz="2625" b="1">
                <a:solidFill>
                  <a:srgbClr val="076C70"/>
                </a:solidFill>
                <a:latin typeface="Arial"/>
                <a:ea typeface="Arial"/>
                <a:cs typeface="Arial"/>
              </a:defRPr>
            </a:lvl5pPr>
            <a:lvl6pPr>
              <a:buNone/>
              <a:defRPr sz="2625" b="1">
                <a:solidFill>
                  <a:srgbClr val="076C70"/>
                </a:solidFill>
                <a:latin typeface="Arial"/>
                <a:ea typeface="Arial"/>
                <a:cs typeface="Arial"/>
              </a:defRPr>
            </a:lvl6pPr>
            <a:lvl7pPr>
              <a:buNone/>
              <a:defRPr sz="2625" b="1">
                <a:solidFill>
                  <a:srgbClr val="076C70"/>
                </a:solidFill>
                <a:latin typeface="Arial"/>
                <a:ea typeface="Arial"/>
                <a:cs typeface="Arial"/>
              </a:defRPr>
            </a:lvl7pPr>
            <a:lvl8pPr>
              <a:buNone/>
              <a:defRPr sz="2625" b="1">
                <a:solidFill>
                  <a:srgbClr val="076C70"/>
                </a:solidFill>
                <a:latin typeface="Arial"/>
                <a:ea typeface="Arial"/>
                <a:cs typeface="Arial"/>
              </a:defRPr>
            </a:lvl8pPr>
            <a:lvl9pPr>
              <a:buNone/>
              <a:defRPr sz="2625" b="1">
                <a:solidFill>
                  <a:srgbClr val="076C70"/>
                </a:solidFill>
                <a:latin typeface="Arial"/>
                <a:ea typeface="Arial"/>
                <a:cs typeface="Arial"/>
              </a:defRPr>
            </a:lvl9pPr>
          </a:lstStyle>
          <a:p xmlns:a="http://schemas.openxmlformats.org/drawingml/2006/main">
            <a:pPr>
              <a:buNone/>
              <a:defRPr sz="2625" b="1">
                <a:solidFill>
                  <a:srgbClr val="076C70"/>
                </a:solidFill>
                <a:latin typeface="Arial"/>
                <a:ea typeface="Arial"/>
                <a:cs typeface="Arial"/>
              </a:defRPr>
            </a:pPr>
            <a:r>
              <a:rPr sz="2625" b="1">
                <a:solidFill>
                  <a:srgbClr val="076C70"/>
                </a:solidFill>
                <a:latin typeface="Arial"/>
                <a:ea typeface="Arial"/>
                <a:cs typeface="Arial"/>
              </a:rPr>
              <a:t>Task delegation</a:t>
            </a:r>
          </a:p>
        </p:txBody>
      </p:sp>
      <p:pic>
        <p:nvPicPr>
          <p:cNvPr id="5" name="">
            <a:extLst xmlns:a="http://schemas.openxmlformats.org/drawingml/2006/main">
              <a:ext uri="{FF2B5EF4-FFF2-40B4-BE49-F238E27FC236}">
                <a16:creationId xmlns:a16="http://schemas.microsoft.com/office/drawing/2014/main" id="{9ED2A2F2-AE76-4C0D-8527-AE446BBBF1B1}"/>
              </a:ext>
            </a:extLst>
          </p:cNvPr>
          <p:cNvPicPr>
            <a:picLocks xmlns:a="http://schemas.openxmlformats.org/drawingml/2006/main" noChangeAspect="1"/>
          </p:cNvPicPr>
          <p:nvPr/>
        </p:nvPicPr>
        <p:blipFill>
          <a:blip xmlns:r="http://schemas.openxmlformats.org/officeDocument/2006/relationships" xmlns:a="http://schemas.openxmlformats.org/drawingml/2006/main" r:embed="R074f11b90667478f"/>
          <a:stretch xmlns:a="http://schemas.openxmlformats.org/drawingml/2006/main"/>
        </p:blipFill>
        <p:spPr>
          <a:xfrm xmlns:a="http://schemas.openxmlformats.org/drawingml/2006/main">
            <a:off x="1717675" y="2676525"/>
            <a:ext cx="2794000" cy="2095500"/>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452D7C47-5EE2-440A-96FB-AB042624A5C1}"/>
              </a:ext>
            </a:extLst>
          </p:cNvPr>
          <p:cNvPicPr>
            <a:picLocks xmlns:a="http://schemas.openxmlformats.org/drawingml/2006/main" noChangeAspect="1"/>
          </p:cNvPicPr>
          <p:nvPr/>
        </p:nvPicPr>
        <p:blipFill>
          <a:blip xmlns:r="http://schemas.openxmlformats.org/officeDocument/2006/relationships" xmlns:a="http://schemas.openxmlformats.org/drawingml/2006/main" r:embed="R9890c2641e5a42ca"/>
          <a:stretch xmlns:a="http://schemas.openxmlformats.org/drawingml/2006/main"/>
        </p:blipFill>
        <p:spPr>
          <a:xfrm xmlns:a="http://schemas.openxmlformats.org/drawingml/2006/main">
            <a:off x="7508875" y="2676525"/>
            <a:ext cx="2794000" cy="2095500"/>
          </a:xfrm>
          <a:prstGeom xmlns:a="http://schemas.openxmlformats.org/drawingml/2006/main" prst="rect">
            <a:avLst/>
          </a:prstGeom>
        </p:spPr>
      </p:pic>
      <p:sp>
        <p:nvSpPr>
          <p:cNvPr id="7" name="chatbot-description">
            <a:extLst xmlns:a="http://schemas.openxmlformats.org/drawingml/2006/main">
              <a:ext uri="{FF2B5EF4-FFF2-40B4-BE49-F238E27FC236}">
                <a16:creationId xmlns:a16="http://schemas.microsoft.com/office/drawing/2014/main" id="{7DA2B115-C214-416B-AED6-E2AD6BED674F}"/>
              </a:ext>
            </a:extLst>
          </p:cNvPr>
          <p:cNvSpPr>
            <a:spLocks xmlns:a="http://schemas.openxmlformats.org/drawingml/2006/main" noGrp="1"/>
          </p:cNvSpPr>
          <p:nvPr/>
        </p:nvSpPr>
        <p:spPr>
          <a:xfrm xmlns:a="http://schemas.openxmlformats.org/drawingml/2006/main">
            <a:off x="685800" y="4848225"/>
            <a:ext cx="4857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100" b="0">
                <a:solidFill>
                  <a:srgbClr val="182B36"/>
                </a:solidFill>
                <a:latin typeface="Arial"/>
                <a:ea typeface="Arial"/>
                <a:cs typeface="Arial"/>
              </a:defRPr>
            </a:defPPr>
            <a:lvl1pPr>
              <a:buNone/>
              <a:defRPr sz="2100" b="0">
                <a:solidFill>
                  <a:srgbClr val="182B36"/>
                </a:solidFill>
                <a:latin typeface="Arial"/>
                <a:ea typeface="Arial"/>
                <a:cs typeface="Arial"/>
              </a:defRPr>
            </a:lvl1pPr>
            <a:lvl2pPr>
              <a:buNone/>
              <a:defRPr sz="2100" b="0">
                <a:solidFill>
                  <a:srgbClr val="182B36"/>
                </a:solidFill>
                <a:latin typeface="Arial"/>
                <a:ea typeface="Arial"/>
                <a:cs typeface="Arial"/>
              </a:defRPr>
            </a:lvl2pPr>
            <a:lvl3pPr>
              <a:buNone/>
              <a:defRPr sz="2100" b="0">
                <a:solidFill>
                  <a:srgbClr val="182B36"/>
                </a:solidFill>
                <a:latin typeface="Arial"/>
                <a:ea typeface="Arial"/>
                <a:cs typeface="Arial"/>
              </a:defRPr>
            </a:lvl3pPr>
            <a:lvl4pPr>
              <a:buNone/>
              <a:defRPr sz="2100" b="0">
                <a:solidFill>
                  <a:srgbClr val="182B36"/>
                </a:solidFill>
                <a:latin typeface="Arial"/>
                <a:ea typeface="Arial"/>
                <a:cs typeface="Arial"/>
              </a:defRPr>
            </a:lvl4pPr>
            <a:lvl5pPr>
              <a:buNone/>
              <a:defRPr sz="2100" b="0">
                <a:solidFill>
                  <a:srgbClr val="182B36"/>
                </a:solidFill>
                <a:latin typeface="Arial"/>
                <a:ea typeface="Arial"/>
                <a:cs typeface="Arial"/>
              </a:defRPr>
            </a:lvl5pPr>
            <a:lvl6pPr>
              <a:buNone/>
              <a:defRPr sz="2100" b="0">
                <a:solidFill>
                  <a:srgbClr val="182B36"/>
                </a:solidFill>
                <a:latin typeface="Arial"/>
                <a:ea typeface="Arial"/>
                <a:cs typeface="Arial"/>
              </a:defRPr>
            </a:lvl6pPr>
            <a:lvl7pPr>
              <a:buNone/>
              <a:defRPr sz="2100" b="0">
                <a:solidFill>
                  <a:srgbClr val="182B36"/>
                </a:solidFill>
                <a:latin typeface="Arial"/>
                <a:ea typeface="Arial"/>
                <a:cs typeface="Arial"/>
              </a:defRPr>
            </a:lvl7pPr>
            <a:lvl8pPr>
              <a:buNone/>
              <a:defRPr sz="2100" b="0">
                <a:solidFill>
                  <a:srgbClr val="182B36"/>
                </a:solidFill>
                <a:latin typeface="Arial"/>
                <a:ea typeface="Arial"/>
                <a:cs typeface="Arial"/>
              </a:defRPr>
            </a:lvl8pPr>
            <a:lvl9pPr>
              <a:buNone/>
              <a:defRPr sz="2100" b="0">
                <a:solidFill>
                  <a:srgbClr val="182B36"/>
                </a:solidFill>
                <a:latin typeface="Arial"/>
                <a:ea typeface="Arial"/>
                <a:cs typeface="Arial"/>
              </a:defRPr>
            </a:lvl9pPr>
          </a:lstStyle>
          <a:p xmlns:a="http://schemas.openxmlformats.org/drawingml/2006/main">
            <a:pPr>
              <a:buNone/>
              <a:defRPr sz="2100" b="0">
                <a:solidFill>
                  <a:srgbClr val="182B36"/>
                </a:solidFill>
                <a:latin typeface="Arial"/>
                <a:ea typeface="Arial"/>
                <a:cs typeface="Arial"/>
              </a:defRPr>
            </a:pPr>
            <a:r>
              <a:rPr sz="2100" b="0">
                <a:solidFill>
                  <a:srgbClr val="182B36"/>
                </a:solidFill>
                <a:latin typeface="Arial"/>
                <a:ea typeface="Arial"/>
                <a:cs typeface="Arial"/>
              </a:rPr>
              <a:t>Ask for explanations, advice,</a:t>
            </a:r>
          </a:p>
          <a:p xmlns:a="http://schemas.openxmlformats.org/drawingml/2006/main">
            <a:pPr>
              <a:buNone/>
              <a:defRPr sz="2100" b="0">
                <a:solidFill>
                  <a:srgbClr val="182B36"/>
                </a:solidFill>
                <a:latin typeface="Arial"/>
                <a:ea typeface="Arial"/>
                <a:cs typeface="Arial"/>
              </a:defRPr>
            </a:pPr>
            <a:r>
              <a:rPr sz="2100" b="0">
                <a:solidFill>
                  <a:srgbClr val="182B36"/>
                </a:solidFill>
                <a:latin typeface="Arial"/>
                <a:ea typeface="Arial"/>
                <a:cs typeface="Arial"/>
              </a:rPr>
              <a:t>or suggestions.</a:t>
            </a:r>
          </a:p>
        </p:txBody>
      </p:sp>
      <p:sp>
        <p:nvSpPr>
          <p:cNvPr id="8" name="agent-description">
            <a:extLst xmlns:a="http://schemas.openxmlformats.org/drawingml/2006/main">
              <a:ext uri="{FF2B5EF4-FFF2-40B4-BE49-F238E27FC236}">
                <a16:creationId xmlns:a16="http://schemas.microsoft.com/office/drawing/2014/main" id="{54ADC516-F90E-4AEA-BAA0-E7842ACDEC6B}"/>
              </a:ext>
            </a:extLst>
          </p:cNvPr>
          <p:cNvSpPr>
            <a:spLocks xmlns:a="http://schemas.openxmlformats.org/drawingml/2006/main" noGrp="1"/>
          </p:cNvSpPr>
          <p:nvPr/>
        </p:nvSpPr>
        <p:spPr>
          <a:xfrm xmlns:a="http://schemas.openxmlformats.org/drawingml/2006/main">
            <a:off x="6477000" y="4848225"/>
            <a:ext cx="4857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100" b="0">
                <a:solidFill>
                  <a:srgbClr val="182B36"/>
                </a:solidFill>
                <a:latin typeface="Arial"/>
                <a:ea typeface="Arial"/>
                <a:cs typeface="Arial"/>
              </a:defRPr>
            </a:defPPr>
            <a:lvl1pPr>
              <a:buNone/>
              <a:defRPr sz="2100" b="0">
                <a:solidFill>
                  <a:srgbClr val="182B36"/>
                </a:solidFill>
                <a:latin typeface="Arial"/>
                <a:ea typeface="Arial"/>
                <a:cs typeface="Arial"/>
              </a:defRPr>
            </a:lvl1pPr>
            <a:lvl2pPr>
              <a:buNone/>
              <a:defRPr sz="2100" b="0">
                <a:solidFill>
                  <a:srgbClr val="182B36"/>
                </a:solidFill>
                <a:latin typeface="Arial"/>
                <a:ea typeface="Arial"/>
                <a:cs typeface="Arial"/>
              </a:defRPr>
            </a:lvl2pPr>
            <a:lvl3pPr>
              <a:buNone/>
              <a:defRPr sz="2100" b="0">
                <a:solidFill>
                  <a:srgbClr val="182B36"/>
                </a:solidFill>
                <a:latin typeface="Arial"/>
                <a:ea typeface="Arial"/>
                <a:cs typeface="Arial"/>
              </a:defRPr>
            </a:lvl3pPr>
            <a:lvl4pPr>
              <a:buNone/>
              <a:defRPr sz="2100" b="0">
                <a:solidFill>
                  <a:srgbClr val="182B36"/>
                </a:solidFill>
                <a:latin typeface="Arial"/>
                <a:ea typeface="Arial"/>
                <a:cs typeface="Arial"/>
              </a:defRPr>
            </a:lvl4pPr>
            <a:lvl5pPr>
              <a:buNone/>
              <a:defRPr sz="2100" b="0">
                <a:solidFill>
                  <a:srgbClr val="182B36"/>
                </a:solidFill>
                <a:latin typeface="Arial"/>
                <a:ea typeface="Arial"/>
                <a:cs typeface="Arial"/>
              </a:defRPr>
            </a:lvl5pPr>
            <a:lvl6pPr>
              <a:buNone/>
              <a:defRPr sz="2100" b="0">
                <a:solidFill>
                  <a:srgbClr val="182B36"/>
                </a:solidFill>
                <a:latin typeface="Arial"/>
                <a:ea typeface="Arial"/>
                <a:cs typeface="Arial"/>
              </a:defRPr>
            </a:lvl6pPr>
            <a:lvl7pPr>
              <a:buNone/>
              <a:defRPr sz="2100" b="0">
                <a:solidFill>
                  <a:srgbClr val="182B36"/>
                </a:solidFill>
                <a:latin typeface="Arial"/>
                <a:ea typeface="Arial"/>
                <a:cs typeface="Arial"/>
              </a:defRPr>
            </a:lvl7pPr>
            <a:lvl8pPr>
              <a:buNone/>
              <a:defRPr sz="2100" b="0">
                <a:solidFill>
                  <a:srgbClr val="182B36"/>
                </a:solidFill>
                <a:latin typeface="Arial"/>
                <a:ea typeface="Arial"/>
                <a:cs typeface="Arial"/>
              </a:defRPr>
            </a:lvl8pPr>
            <a:lvl9pPr>
              <a:buNone/>
              <a:defRPr sz="2100" b="0">
                <a:solidFill>
                  <a:srgbClr val="182B36"/>
                </a:solidFill>
                <a:latin typeface="Arial"/>
                <a:ea typeface="Arial"/>
                <a:cs typeface="Arial"/>
              </a:defRPr>
            </a:lvl9pPr>
          </a:lstStyle>
          <a:p xmlns:a="http://schemas.openxmlformats.org/drawingml/2006/main">
            <a:pPr>
              <a:buNone/>
              <a:defRPr sz="2100" b="0">
                <a:solidFill>
                  <a:srgbClr val="182B36"/>
                </a:solidFill>
                <a:latin typeface="Arial"/>
                <a:ea typeface="Arial"/>
                <a:cs typeface="Arial"/>
              </a:defRPr>
            </a:pPr>
            <a:r>
              <a:rPr sz="2100" b="0">
                <a:solidFill>
                  <a:srgbClr val="182B36"/>
                </a:solidFill>
                <a:latin typeface="Arial"/>
                <a:ea typeface="Arial"/>
                <a:cs typeface="Arial"/>
              </a:rPr>
              <a:t>Ask the assistant to carry out work</a:t>
            </a:r>
          </a:p>
          <a:p xmlns:a="http://schemas.openxmlformats.org/drawingml/2006/main">
            <a:pPr>
              <a:buNone/>
              <a:defRPr sz="2100" b="0">
                <a:solidFill>
                  <a:srgbClr val="182B36"/>
                </a:solidFill>
                <a:latin typeface="Arial"/>
                <a:ea typeface="Arial"/>
                <a:cs typeface="Arial"/>
              </a:defRPr>
            </a:pPr>
            <a:r>
              <a:rPr sz="2100" b="0">
                <a:solidFill>
                  <a:srgbClr val="182B36"/>
                </a:solidFill>
                <a:latin typeface="Arial"/>
                <a:ea typeface="Arial"/>
                <a:cs typeface="Arial"/>
              </a:rPr>
              <a:t>and produce a result.</a:t>
            </a:r>
          </a:p>
        </p:txBody>
      </p:sp>
      <p:sp>
        <p:nvSpPr>
          <p:cNvPr id="9" name="chatbot-example">
            <a:extLst xmlns:a="http://schemas.openxmlformats.org/drawingml/2006/main">
              <a:ext uri="{FF2B5EF4-FFF2-40B4-BE49-F238E27FC236}">
                <a16:creationId xmlns:a16="http://schemas.microsoft.com/office/drawing/2014/main" id="{0DD9264E-8AB1-493F-A3D4-149F3D4F0FF3}"/>
              </a:ext>
            </a:extLst>
          </p:cNvPr>
          <p:cNvSpPr>
            <a:spLocks xmlns:a="http://schemas.openxmlformats.org/drawingml/2006/main" noGrp="1"/>
          </p:cNvSpPr>
          <p:nvPr/>
        </p:nvSpPr>
        <p:spPr>
          <a:xfrm xmlns:a="http://schemas.openxmlformats.org/drawingml/2006/main">
            <a:off x="685800" y="5657850"/>
            <a:ext cx="4857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1875" b="0">
                <a:solidFill>
                  <a:srgbClr val="53636B"/>
                </a:solidFill>
                <a:latin typeface="Arial"/>
                <a:ea typeface="Arial"/>
                <a:cs typeface="Arial"/>
              </a:defRPr>
            </a:defPPr>
            <a:lvl1pPr>
              <a:buNone/>
              <a:defRPr sz="1875" b="0">
                <a:solidFill>
                  <a:srgbClr val="53636B"/>
                </a:solidFill>
                <a:latin typeface="Arial"/>
                <a:ea typeface="Arial"/>
                <a:cs typeface="Arial"/>
              </a:defRPr>
            </a:lvl1pPr>
            <a:lvl2pPr>
              <a:buNone/>
              <a:defRPr sz="1875" b="0">
                <a:solidFill>
                  <a:srgbClr val="53636B"/>
                </a:solidFill>
                <a:latin typeface="Arial"/>
                <a:ea typeface="Arial"/>
                <a:cs typeface="Arial"/>
              </a:defRPr>
            </a:lvl2pPr>
            <a:lvl3pPr>
              <a:buNone/>
              <a:defRPr sz="1875" b="0">
                <a:solidFill>
                  <a:srgbClr val="53636B"/>
                </a:solidFill>
                <a:latin typeface="Arial"/>
                <a:ea typeface="Arial"/>
                <a:cs typeface="Arial"/>
              </a:defRPr>
            </a:lvl3pPr>
            <a:lvl4pPr>
              <a:buNone/>
              <a:defRPr sz="1875" b="0">
                <a:solidFill>
                  <a:srgbClr val="53636B"/>
                </a:solidFill>
                <a:latin typeface="Arial"/>
                <a:ea typeface="Arial"/>
                <a:cs typeface="Arial"/>
              </a:defRPr>
            </a:lvl4pPr>
            <a:lvl5pPr>
              <a:buNone/>
              <a:defRPr sz="1875" b="0">
                <a:solidFill>
                  <a:srgbClr val="53636B"/>
                </a:solidFill>
                <a:latin typeface="Arial"/>
                <a:ea typeface="Arial"/>
                <a:cs typeface="Arial"/>
              </a:defRPr>
            </a:lvl5pPr>
            <a:lvl6pPr>
              <a:buNone/>
              <a:defRPr sz="1875" b="0">
                <a:solidFill>
                  <a:srgbClr val="53636B"/>
                </a:solidFill>
                <a:latin typeface="Arial"/>
                <a:ea typeface="Arial"/>
                <a:cs typeface="Arial"/>
              </a:defRPr>
            </a:lvl6pPr>
            <a:lvl7pPr>
              <a:buNone/>
              <a:defRPr sz="1875" b="0">
                <a:solidFill>
                  <a:srgbClr val="53636B"/>
                </a:solidFill>
                <a:latin typeface="Arial"/>
                <a:ea typeface="Arial"/>
                <a:cs typeface="Arial"/>
              </a:defRPr>
            </a:lvl7pPr>
            <a:lvl8pPr>
              <a:buNone/>
              <a:defRPr sz="1875" b="0">
                <a:solidFill>
                  <a:srgbClr val="53636B"/>
                </a:solidFill>
                <a:latin typeface="Arial"/>
                <a:ea typeface="Arial"/>
                <a:cs typeface="Arial"/>
              </a:defRPr>
            </a:lvl8pPr>
            <a:lvl9pPr>
              <a:buNone/>
              <a:defRPr sz="1875" b="0">
                <a:solidFill>
                  <a:srgbClr val="53636B"/>
                </a:solidFill>
                <a:latin typeface="Arial"/>
                <a:ea typeface="Arial"/>
                <a:cs typeface="Arial"/>
              </a:defRPr>
            </a:lvl9pPr>
          </a:lstStyle>
          <a:p xmlns:a="http://schemas.openxmlformats.org/drawingml/2006/main">
            <a:pPr>
              <a:buNone/>
              <a:defRPr sz="1875" b="0">
                <a:solidFill>
                  <a:srgbClr val="53636B"/>
                </a:solidFill>
                <a:latin typeface="Arial"/>
                <a:ea typeface="Arial"/>
                <a:cs typeface="Arial"/>
              </a:defRPr>
            </a:pPr>
            <a:r>
              <a:rPr sz="1875" b="0">
                <a:solidFill>
                  <a:srgbClr val="53636B"/>
                </a:solidFill>
                <a:latin typeface="Arial"/>
                <a:ea typeface="Arial"/>
                <a:cs typeface="Arial"/>
              </a:rPr>
              <a:t>“How could these data be analysed?”</a:t>
            </a:r>
          </a:p>
        </p:txBody>
      </p:sp>
      <p:sp>
        <p:nvSpPr>
          <p:cNvPr id="10" name="agent-example">
            <a:extLst xmlns:a="http://schemas.openxmlformats.org/drawingml/2006/main">
              <a:ext uri="{FF2B5EF4-FFF2-40B4-BE49-F238E27FC236}">
                <a16:creationId xmlns:a16="http://schemas.microsoft.com/office/drawing/2014/main" id="{EF31E612-7131-412A-9929-EFE534A873F9}"/>
              </a:ext>
            </a:extLst>
          </p:cNvPr>
          <p:cNvSpPr>
            <a:spLocks xmlns:a="http://schemas.openxmlformats.org/drawingml/2006/main" noGrp="1"/>
          </p:cNvSpPr>
          <p:nvPr/>
        </p:nvSpPr>
        <p:spPr>
          <a:xfrm xmlns:a="http://schemas.openxmlformats.org/drawingml/2006/main">
            <a:off x="6477000" y="5657850"/>
            <a:ext cx="4857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1875" b="0">
                <a:solidFill>
                  <a:srgbClr val="076C70"/>
                </a:solidFill>
                <a:latin typeface="Arial"/>
                <a:ea typeface="Arial"/>
                <a:cs typeface="Arial"/>
              </a:defRPr>
            </a:defPPr>
            <a:lvl1pPr>
              <a:buNone/>
              <a:defRPr sz="1875" b="0">
                <a:solidFill>
                  <a:srgbClr val="076C70"/>
                </a:solidFill>
                <a:latin typeface="Arial"/>
                <a:ea typeface="Arial"/>
                <a:cs typeface="Arial"/>
              </a:defRPr>
            </a:lvl1pPr>
            <a:lvl2pPr>
              <a:buNone/>
              <a:defRPr sz="1875" b="0">
                <a:solidFill>
                  <a:srgbClr val="076C70"/>
                </a:solidFill>
                <a:latin typeface="Arial"/>
                <a:ea typeface="Arial"/>
                <a:cs typeface="Arial"/>
              </a:defRPr>
            </a:lvl2pPr>
            <a:lvl3pPr>
              <a:buNone/>
              <a:defRPr sz="1875" b="0">
                <a:solidFill>
                  <a:srgbClr val="076C70"/>
                </a:solidFill>
                <a:latin typeface="Arial"/>
                <a:ea typeface="Arial"/>
                <a:cs typeface="Arial"/>
              </a:defRPr>
            </a:lvl3pPr>
            <a:lvl4pPr>
              <a:buNone/>
              <a:defRPr sz="1875" b="0">
                <a:solidFill>
                  <a:srgbClr val="076C70"/>
                </a:solidFill>
                <a:latin typeface="Arial"/>
                <a:ea typeface="Arial"/>
                <a:cs typeface="Arial"/>
              </a:defRPr>
            </a:lvl4pPr>
            <a:lvl5pPr>
              <a:buNone/>
              <a:defRPr sz="1875" b="0">
                <a:solidFill>
                  <a:srgbClr val="076C70"/>
                </a:solidFill>
                <a:latin typeface="Arial"/>
                <a:ea typeface="Arial"/>
                <a:cs typeface="Arial"/>
              </a:defRPr>
            </a:lvl5pPr>
            <a:lvl6pPr>
              <a:buNone/>
              <a:defRPr sz="1875" b="0">
                <a:solidFill>
                  <a:srgbClr val="076C70"/>
                </a:solidFill>
                <a:latin typeface="Arial"/>
                <a:ea typeface="Arial"/>
                <a:cs typeface="Arial"/>
              </a:defRPr>
            </a:lvl6pPr>
            <a:lvl7pPr>
              <a:buNone/>
              <a:defRPr sz="1875" b="0">
                <a:solidFill>
                  <a:srgbClr val="076C70"/>
                </a:solidFill>
                <a:latin typeface="Arial"/>
                <a:ea typeface="Arial"/>
                <a:cs typeface="Arial"/>
              </a:defRPr>
            </a:lvl7pPr>
            <a:lvl8pPr>
              <a:buNone/>
              <a:defRPr sz="1875" b="0">
                <a:solidFill>
                  <a:srgbClr val="076C70"/>
                </a:solidFill>
                <a:latin typeface="Arial"/>
                <a:ea typeface="Arial"/>
                <a:cs typeface="Arial"/>
              </a:defRPr>
            </a:lvl8pPr>
            <a:lvl9pPr>
              <a:buNone/>
              <a:defRPr sz="1875" b="0">
                <a:solidFill>
                  <a:srgbClr val="076C70"/>
                </a:solidFill>
                <a:latin typeface="Arial"/>
                <a:ea typeface="Arial"/>
                <a:cs typeface="Arial"/>
              </a:defRPr>
            </a:lvl9pPr>
          </a:lstStyle>
          <a:p xmlns:a="http://schemas.openxmlformats.org/drawingml/2006/main">
            <a:pPr>
              <a:buNone/>
              <a:defRPr sz="1875" b="0">
                <a:solidFill>
                  <a:srgbClr val="076C70"/>
                </a:solidFill>
                <a:latin typeface="Arial"/>
                <a:ea typeface="Arial"/>
                <a:cs typeface="Arial"/>
              </a:defRPr>
            </a:pPr>
            <a:r>
              <a:rPr sz="1875" b="0">
                <a:solidFill>
                  <a:srgbClr val="076C70"/>
                </a:solidFill>
                <a:latin typeface="Arial"/>
                <a:ea typeface="Arial"/>
                <a:cs typeface="Arial"/>
              </a:rPr>
              <a:t>“Analyse these data and prepare</a:t>
            </a:r>
          </a:p>
          <a:p xmlns:a="http://schemas.openxmlformats.org/drawingml/2006/main">
            <a:pPr>
              <a:buNone/>
              <a:defRPr sz="1875" b="0">
                <a:solidFill>
                  <a:srgbClr val="076C70"/>
                </a:solidFill>
                <a:latin typeface="Arial"/>
                <a:ea typeface="Arial"/>
                <a:cs typeface="Arial"/>
              </a:defRPr>
            </a:pPr>
            <a:r>
              <a:rPr sz="1875" b="0">
                <a:solidFill>
                  <a:srgbClr val="076C70"/>
                </a:solidFill>
                <a:latin typeface="Arial"/>
                <a:ea typeface="Arial"/>
                <a:cs typeface="Arial"/>
              </a:rPr>
              <a:t>a short presentation.”</a:t>
            </a:r>
          </a:p>
        </p:txBody>
      </p:sp>
      <p:sp>
        <p:nvSpPr>
          <p:cNvPr id="11" name="slide-number">
            <a:extLst xmlns:a="http://schemas.openxmlformats.org/drawingml/2006/main">
              <a:ext uri="{FF2B5EF4-FFF2-40B4-BE49-F238E27FC236}">
                <a16:creationId xmlns:a16="http://schemas.microsoft.com/office/drawing/2014/main" id="{13C9F37E-0F0F-419D-B1FB-D7DABCDD931D}"/>
              </a:ext>
            </a:extLst>
          </p:cNvPr>
          <p:cNvSpPr>
            <a:spLocks xmlns:a="http://schemas.openxmlformats.org/drawingml/2006/main" noGrp="1"/>
          </p:cNvSpPr>
          <p:nvPr/>
        </p:nvSpPr>
        <p:spPr>
          <a:xfrm xmlns:a="http://schemas.openxmlformats.org/drawingml/2006/main">
            <a:off x="11125200" y="628650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53636B"/>
                </a:solidFill>
                <a:latin typeface="Arial"/>
                <a:ea typeface="Arial"/>
                <a:cs typeface="Arial"/>
              </a:defRPr>
            </a:defPPr>
            <a:lvl1pPr algn="r">
              <a:buNone/>
              <a:defRPr sz="1275" b="0">
                <a:solidFill>
                  <a:srgbClr val="53636B"/>
                </a:solidFill>
                <a:latin typeface="Arial"/>
                <a:ea typeface="Arial"/>
                <a:cs typeface="Arial"/>
              </a:defRPr>
            </a:lvl1pPr>
            <a:lvl2pPr algn="r">
              <a:buNone/>
              <a:defRPr sz="1275" b="0">
                <a:solidFill>
                  <a:srgbClr val="53636B"/>
                </a:solidFill>
                <a:latin typeface="Arial"/>
                <a:ea typeface="Arial"/>
                <a:cs typeface="Arial"/>
              </a:defRPr>
            </a:lvl2pPr>
            <a:lvl3pPr algn="r">
              <a:buNone/>
              <a:defRPr sz="1275" b="0">
                <a:solidFill>
                  <a:srgbClr val="53636B"/>
                </a:solidFill>
                <a:latin typeface="Arial"/>
                <a:ea typeface="Arial"/>
                <a:cs typeface="Arial"/>
              </a:defRPr>
            </a:lvl3pPr>
            <a:lvl4pPr algn="r">
              <a:buNone/>
              <a:defRPr sz="1275" b="0">
                <a:solidFill>
                  <a:srgbClr val="53636B"/>
                </a:solidFill>
                <a:latin typeface="Arial"/>
                <a:ea typeface="Arial"/>
                <a:cs typeface="Arial"/>
              </a:defRPr>
            </a:lvl4pPr>
            <a:lvl5pPr algn="r">
              <a:buNone/>
              <a:defRPr sz="1275" b="0">
                <a:solidFill>
                  <a:srgbClr val="53636B"/>
                </a:solidFill>
                <a:latin typeface="Arial"/>
                <a:ea typeface="Arial"/>
                <a:cs typeface="Arial"/>
              </a:defRPr>
            </a:lvl5pPr>
            <a:lvl6pPr algn="r">
              <a:buNone/>
              <a:defRPr sz="1275" b="0">
                <a:solidFill>
                  <a:srgbClr val="53636B"/>
                </a:solidFill>
                <a:latin typeface="Arial"/>
                <a:ea typeface="Arial"/>
                <a:cs typeface="Arial"/>
              </a:defRPr>
            </a:lvl6pPr>
            <a:lvl7pPr algn="r">
              <a:buNone/>
              <a:defRPr sz="1275" b="0">
                <a:solidFill>
                  <a:srgbClr val="53636B"/>
                </a:solidFill>
                <a:latin typeface="Arial"/>
                <a:ea typeface="Arial"/>
                <a:cs typeface="Arial"/>
              </a:defRPr>
            </a:lvl7pPr>
            <a:lvl8pPr algn="r">
              <a:buNone/>
              <a:defRPr sz="1275" b="0">
                <a:solidFill>
                  <a:srgbClr val="53636B"/>
                </a:solidFill>
                <a:latin typeface="Arial"/>
                <a:ea typeface="Arial"/>
                <a:cs typeface="Arial"/>
              </a:defRPr>
            </a:lvl8pPr>
            <a:lvl9pPr algn="r">
              <a:buNone/>
              <a:defRPr sz="1275" b="0">
                <a:solidFill>
                  <a:srgbClr val="53636B"/>
                </a:solidFill>
                <a:latin typeface="Arial"/>
                <a:ea typeface="Arial"/>
                <a:cs typeface="Arial"/>
              </a:defRPr>
            </a:lvl9pPr>
          </a:lstStyle>
          <a:p xmlns:a="http://schemas.openxmlformats.org/drawingml/2006/main">
            <a:pPr algn="r">
              <a:buNone/>
              <a:defRPr sz="1275" b="0">
                <a:solidFill>
                  <a:srgbClr val="53636B"/>
                </a:solidFill>
                <a:latin typeface="Arial"/>
                <a:ea typeface="Arial"/>
                <a:cs typeface="Arial"/>
              </a:defRPr>
            </a:pPr>
            <a:r>
              <a:rPr sz="1275" b="0">
                <a:solidFill>
                  <a:srgbClr val="53636B"/>
                </a:solidFill>
                <a:latin typeface="Arial"/>
                <a:ea typeface="Arial"/>
                <a:cs typeface="Arial"/>
              </a:rPr>
              <a:t>2</a:t>
            </a:r>
          </a:p>
        </p:txBody>
      </p:sp>
    </p:spTree>
    <p:extLst>
      <p:ext uri="{BB962C8B-B14F-4D97-AF65-F5344CB8AC3E}">
        <p14:creationId xmlns:p14="http://schemas.microsoft.com/office/powerpoint/2010/main" val="1173935382"/>
      </p:ext>
    </p:extLst>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0" name="harness-slide-title">
            <a:extLst xmlns:a="http://schemas.openxmlformats.org/drawingml/2006/main">
              <a:ext uri="{FF2B5EF4-FFF2-40B4-BE49-F238E27FC236}">
                <a16:creationId xmlns:a16="http://schemas.microsoft.com/office/drawing/2014/main" id="{2BE57367-51CE-4A99-A182-F0AF4817A8EA}"/>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3300" b="1">
                <a:solidFill>
                  <a:srgbClr val="182B36"/>
                </a:solidFill>
                <a:latin typeface="Arial"/>
                <a:ea typeface="Arial"/>
                <a:cs typeface="Arial"/>
              </a:defRPr>
            </a:defPPr>
            <a:lvl1pPr>
              <a:buNone/>
              <a:defRPr sz="3300" b="1">
                <a:solidFill>
                  <a:srgbClr val="182B36"/>
                </a:solidFill>
                <a:latin typeface="Arial"/>
                <a:ea typeface="Arial"/>
                <a:cs typeface="Arial"/>
              </a:defRPr>
            </a:lvl1pPr>
            <a:lvl2pPr>
              <a:buNone/>
              <a:defRPr sz="3300" b="1">
                <a:solidFill>
                  <a:srgbClr val="182B36"/>
                </a:solidFill>
                <a:latin typeface="Arial"/>
                <a:ea typeface="Arial"/>
                <a:cs typeface="Arial"/>
              </a:defRPr>
            </a:lvl2pPr>
            <a:lvl3pPr>
              <a:buNone/>
              <a:defRPr sz="3300" b="1">
                <a:solidFill>
                  <a:srgbClr val="182B36"/>
                </a:solidFill>
                <a:latin typeface="Arial"/>
                <a:ea typeface="Arial"/>
                <a:cs typeface="Arial"/>
              </a:defRPr>
            </a:lvl3pPr>
            <a:lvl4pPr>
              <a:buNone/>
              <a:defRPr sz="3300" b="1">
                <a:solidFill>
                  <a:srgbClr val="182B36"/>
                </a:solidFill>
                <a:latin typeface="Arial"/>
                <a:ea typeface="Arial"/>
                <a:cs typeface="Arial"/>
              </a:defRPr>
            </a:lvl4pPr>
            <a:lvl5pPr>
              <a:buNone/>
              <a:defRPr sz="3300" b="1">
                <a:solidFill>
                  <a:srgbClr val="182B36"/>
                </a:solidFill>
                <a:latin typeface="Arial"/>
                <a:ea typeface="Arial"/>
                <a:cs typeface="Arial"/>
              </a:defRPr>
            </a:lvl5pPr>
            <a:lvl6pPr>
              <a:buNone/>
              <a:defRPr sz="3300" b="1">
                <a:solidFill>
                  <a:srgbClr val="182B36"/>
                </a:solidFill>
                <a:latin typeface="Arial"/>
                <a:ea typeface="Arial"/>
                <a:cs typeface="Arial"/>
              </a:defRPr>
            </a:lvl6pPr>
            <a:lvl7pPr>
              <a:buNone/>
              <a:defRPr sz="3300" b="1">
                <a:solidFill>
                  <a:srgbClr val="182B36"/>
                </a:solidFill>
                <a:latin typeface="Arial"/>
                <a:ea typeface="Arial"/>
                <a:cs typeface="Arial"/>
              </a:defRPr>
            </a:lvl7pPr>
            <a:lvl8pPr>
              <a:buNone/>
              <a:defRPr sz="3300" b="1">
                <a:solidFill>
                  <a:srgbClr val="182B36"/>
                </a:solidFill>
                <a:latin typeface="Arial"/>
                <a:ea typeface="Arial"/>
                <a:cs typeface="Arial"/>
              </a:defRPr>
            </a:lvl8pPr>
            <a:lvl9pPr>
              <a:buNone/>
              <a:defRPr sz="3300" b="1">
                <a:solidFill>
                  <a:srgbClr val="182B36"/>
                </a:solidFill>
                <a:latin typeface="Arial"/>
                <a:ea typeface="Arial"/>
                <a:cs typeface="Arial"/>
              </a:defRPr>
            </a:lvl9pPr>
          </a:lstStyle>
          <a:p xmlns:a="http://schemas.openxmlformats.org/drawingml/2006/main">
            <a:pPr>
              <a:buNone/>
              <a:defRPr sz="3300" b="1">
                <a:solidFill>
                  <a:srgbClr val="182B36"/>
                </a:solidFill>
                <a:latin typeface="Arial"/>
                <a:ea typeface="Arial"/>
                <a:cs typeface="Arial"/>
              </a:defRPr>
            </a:pPr>
            <a:r>
              <a:rPr sz="3300" b="1">
                <a:solidFill>
                  <a:srgbClr val="182B36"/>
                </a:solidFill>
                <a:latin typeface="Arial"/>
                <a:ea typeface="Arial"/>
                <a:cs typeface="Arial"/>
              </a:rPr>
              <a:t>The architecture of an AI assistant</a:t>
            </a:r>
          </a:p>
        </p:txBody>
      </p:sp>
      <p:pic>
        <p:nvPicPr>
          <p:cNvPr id="2" name="">
            <a:extLst xmlns:a="http://schemas.openxmlformats.org/drawingml/2006/main">
              <a:ext uri="{FF2B5EF4-FFF2-40B4-BE49-F238E27FC236}">
                <a16:creationId xmlns:a16="http://schemas.microsoft.com/office/drawing/2014/main" id="{9CAF62A3-BA01-40E1-A4C6-52E898369899}"/>
              </a:ext>
            </a:extLst>
          </p:cNvPr>
          <p:cNvPicPr>
            <a:picLocks xmlns:a="http://schemas.openxmlformats.org/drawingml/2006/main" noChangeAspect="1"/>
          </p:cNvPicPr>
          <p:nvPr/>
        </p:nvPicPr>
        <p:blipFill>
          <a:blip xmlns:r="http://schemas.openxmlformats.org/officeDocument/2006/relationships" xmlns:a="http://schemas.openxmlformats.org/drawingml/2006/main" r:embed="Rf3b71433ec0d4874"/>
          <a:stretch xmlns:a="http://schemas.openxmlformats.org/drawingml/2006/main"/>
        </p:blipFill>
        <p:spPr>
          <a:xfrm xmlns:a="http://schemas.openxmlformats.org/drawingml/2006/main">
            <a:off x="409575" y="1924050"/>
            <a:ext cx="6734175" cy="4762500"/>
          </a:xfrm>
          <a:prstGeom xmlns:a="http://schemas.openxmlformats.org/drawingml/2006/main" prst="rect">
            <a:avLst/>
          </a:prstGeom>
        </p:spPr>
      </p:pic>
      <p:sp>
        <p:nvSpPr>
          <p:cNvPr id="3" name="model-label">
            <a:extLst xmlns:a="http://schemas.openxmlformats.org/drawingml/2006/main">
              <a:ext uri="{FF2B5EF4-FFF2-40B4-BE49-F238E27FC236}">
                <a16:creationId xmlns:a16="http://schemas.microsoft.com/office/drawing/2014/main" id="{27A3D374-6B96-4FB6-8A29-E24DCA633324}"/>
              </a:ext>
            </a:extLst>
          </p:cNvPr>
          <p:cNvSpPr>
            <a:spLocks xmlns:a="http://schemas.openxmlformats.org/drawingml/2006/main" noGrp="1"/>
          </p:cNvSpPr>
          <p:nvPr/>
        </p:nvSpPr>
        <p:spPr>
          <a:xfrm xmlns:a="http://schemas.openxmlformats.org/drawingml/2006/main">
            <a:off x="7791450" y="20193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550" b="1">
                <a:solidFill>
                  <a:srgbClr val="182B36"/>
                </a:solidFill>
                <a:latin typeface="Arial"/>
                <a:ea typeface="Arial"/>
                <a:cs typeface="Arial"/>
              </a:defRPr>
            </a:defPPr>
            <a:lvl1pPr>
              <a:buNone/>
              <a:defRPr sz="2550" b="1">
                <a:solidFill>
                  <a:srgbClr val="182B36"/>
                </a:solidFill>
                <a:latin typeface="Arial"/>
                <a:ea typeface="Arial"/>
                <a:cs typeface="Arial"/>
              </a:defRPr>
            </a:lvl1pPr>
            <a:lvl2pPr>
              <a:buNone/>
              <a:defRPr sz="2550" b="1">
                <a:solidFill>
                  <a:srgbClr val="182B36"/>
                </a:solidFill>
                <a:latin typeface="Arial"/>
                <a:ea typeface="Arial"/>
                <a:cs typeface="Arial"/>
              </a:defRPr>
            </a:lvl2pPr>
            <a:lvl3pPr>
              <a:buNone/>
              <a:defRPr sz="2550" b="1">
                <a:solidFill>
                  <a:srgbClr val="182B36"/>
                </a:solidFill>
                <a:latin typeface="Arial"/>
                <a:ea typeface="Arial"/>
                <a:cs typeface="Arial"/>
              </a:defRPr>
            </a:lvl3pPr>
            <a:lvl4pPr>
              <a:buNone/>
              <a:defRPr sz="2550" b="1">
                <a:solidFill>
                  <a:srgbClr val="182B36"/>
                </a:solidFill>
                <a:latin typeface="Arial"/>
                <a:ea typeface="Arial"/>
                <a:cs typeface="Arial"/>
              </a:defRPr>
            </a:lvl4pPr>
            <a:lvl5pPr>
              <a:buNone/>
              <a:defRPr sz="2550" b="1">
                <a:solidFill>
                  <a:srgbClr val="182B36"/>
                </a:solidFill>
                <a:latin typeface="Arial"/>
                <a:ea typeface="Arial"/>
                <a:cs typeface="Arial"/>
              </a:defRPr>
            </a:lvl5pPr>
            <a:lvl6pPr>
              <a:buNone/>
              <a:defRPr sz="2550" b="1">
                <a:solidFill>
                  <a:srgbClr val="182B36"/>
                </a:solidFill>
                <a:latin typeface="Arial"/>
                <a:ea typeface="Arial"/>
                <a:cs typeface="Arial"/>
              </a:defRPr>
            </a:lvl6pPr>
            <a:lvl7pPr>
              <a:buNone/>
              <a:defRPr sz="2550" b="1">
                <a:solidFill>
                  <a:srgbClr val="182B36"/>
                </a:solidFill>
                <a:latin typeface="Arial"/>
                <a:ea typeface="Arial"/>
                <a:cs typeface="Arial"/>
              </a:defRPr>
            </a:lvl7pPr>
            <a:lvl8pPr>
              <a:buNone/>
              <a:defRPr sz="2550" b="1">
                <a:solidFill>
                  <a:srgbClr val="182B36"/>
                </a:solidFill>
                <a:latin typeface="Arial"/>
                <a:ea typeface="Arial"/>
                <a:cs typeface="Arial"/>
              </a:defRPr>
            </a:lvl8pPr>
            <a:lvl9pPr>
              <a:buNone/>
              <a:defRPr sz="2550" b="1">
                <a:solidFill>
                  <a:srgbClr val="182B36"/>
                </a:solidFill>
                <a:latin typeface="Arial"/>
                <a:ea typeface="Arial"/>
                <a:cs typeface="Arial"/>
              </a:defRPr>
            </a:lvl9pPr>
          </a:lstStyle>
          <a:p xmlns:a="http://schemas.openxmlformats.org/drawingml/2006/main">
            <a:pPr>
              <a:buNone/>
              <a:defRPr sz="2550" b="1">
                <a:solidFill>
                  <a:srgbClr val="182B36"/>
                </a:solidFill>
                <a:latin typeface="Arial"/>
                <a:ea typeface="Arial"/>
                <a:cs typeface="Arial"/>
              </a:defRPr>
            </a:pPr>
            <a:r>
              <a:rPr sz="2550" b="1">
                <a:solidFill>
                  <a:srgbClr val="182B36"/>
                </a:solidFill>
                <a:latin typeface="Arial"/>
                <a:ea typeface="Arial"/>
                <a:cs typeface="Arial"/>
              </a:rPr>
              <a:t>Model</a:t>
            </a:r>
          </a:p>
        </p:txBody>
      </p:sp>
      <p:sp>
        <p:nvSpPr>
          <p:cNvPr id="4" name="model-description">
            <a:extLst xmlns:a="http://schemas.openxmlformats.org/drawingml/2006/main">
              <a:ext uri="{FF2B5EF4-FFF2-40B4-BE49-F238E27FC236}">
                <a16:creationId xmlns:a16="http://schemas.microsoft.com/office/drawing/2014/main" id="{850DE296-B00B-46FD-8E53-A9E7A2D0A1C5}"/>
              </a:ext>
            </a:extLst>
          </p:cNvPr>
          <p:cNvSpPr>
            <a:spLocks xmlns:a="http://schemas.openxmlformats.org/drawingml/2006/main" noGrp="1"/>
          </p:cNvSpPr>
          <p:nvPr/>
        </p:nvSpPr>
        <p:spPr>
          <a:xfrm xmlns:a="http://schemas.openxmlformats.org/drawingml/2006/main">
            <a:off x="7791450" y="2571750"/>
            <a:ext cx="36957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250" b="0">
                <a:solidFill>
                  <a:srgbClr val="182B36"/>
                </a:solidFill>
                <a:latin typeface="Arial"/>
                <a:ea typeface="Arial"/>
                <a:cs typeface="Arial"/>
              </a:defRPr>
            </a:defPPr>
            <a:lvl1pPr>
              <a:buNone/>
              <a:defRPr sz="2250" b="0">
                <a:solidFill>
                  <a:srgbClr val="182B36"/>
                </a:solidFill>
                <a:latin typeface="Arial"/>
                <a:ea typeface="Arial"/>
                <a:cs typeface="Arial"/>
              </a:defRPr>
            </a:lvl1pPr>
            <a:lvl2pPr>
              <a:buNone/>
              <a:defRPr sz="2250" b="0">
                <a:solidFill>
                  <a:srgbClr val="182B36"/>
                </a:solidFill>
                <a:latin typeface="Arial"/>
                <a:ea typeface="Arial"/>
                <a:cs typeface="Arial"/>
              </a:defRPr>
            </a:lvl2pPr>
            <a:lvl3pPr>
              <a:buNone/>
              <a:defRPr sz="2250" b="0">
                <a:solidFill>
                  <a:srgbClr val="182B36"/>
                </a:solidFill>
                <a:latin typeface="Arial"/>
                <a:ea typeface="Arial"/>
                <a:cs typeface="Arial"/>
              </a:defRPr>
            </a:lvl3pPr>
            <a:lvl4pPr>
              <a:buNone/>
              <a:defRPr sz="2250" b="0">
                <a:solidFill>
                  <a:srgbClr val="182B36"/>
                </a:solidFill>
                <a:latin typeface="Arial"/>
                <a:ea typeface="Arial"/>
                <a:cs typeface="Arial"/>
              </a:defRPr>
            </a:lvl4pPr>
            <a:lvl5pPr>
              <a:buNone/>
              <a:defRPr sz="2250" b="0">
                <a:solidFill>
                  <a:srgbClr val="182B36"/>
                </a:solidFill>
                <a:latin typeface="Arial"/>
                <a:ea typeface="Arial"/>
                <a:cs typeface="Arial"/>
              </a:defRPr>
            </a:lvl5pPr>
            <a:lvl6pPr>
              <a:buNone/>
              <a:defRPr sz="2250" b="0">
                <a:solidFill>
                  <a:srgbClr val="182B36"/>
                </a:solidFill>
                <a:latin typeface="Arial"/>
                <a:ea typeface="Arial"/>
                <a:cs typeface="Arial"/>
              </a:defRPr>
            </a:lvl6pPr>
            <a:lvl7pPr>
              <a:buNone/>
              <a:defRPr sz="2250" b="0">
                <a:solidFill>
                  <a:srgbClr val="182B36"/>
                </a:solidFill>
                <a:latin typeface="Arial"/>
                <a:ea typeface="Arial"/>
                <a:cs typeface="Arial"/>
              </a:defRPr>
            </a:lvl7pPr>
            <a:lvl8pPr>
              <a:buNone/>
              <a:defRPr sz="2250" b="0">
                <a:solidFill>
                  <a:srgbClr val="182B36"/>
                </a:solidFill>
                <a:latin typeface="Arial"/>
                <a:ea typeface="Arial"/>
                <a:cs typeface="Arial"/>
              </a:defRPr>
            </a:lvl8pPr>
            <a:lvl9pPr>
              <a:buNone/>
              <a:defRPr sz="2250" b="0">
                <a:solidFill>
                  <a:srgbClr val="182B36"/>
                </a:solidFill>
                <a:latin typeface="Arial"/>
                <a:ea typeface="Arial"/>
                <a:cs typeface="Arial"/>
              </a:defRPr>
            </a:lvl9pPr>
          </a:lstStyle>
          <a:p xmlns:a="http://schemas.openxmlformats.org/drawingml/2006/main">
            <a:pPr>
              <a:buNone/>
              <a:defRPr sz="2250" b="0">
                <a:solidFill>
                  <a:srgbClr val="182B36"/>
                </a:solidFill>
                <a:latin typeface="Arial"/>
                <a:ea typeface="Arial"/>
                <a:cs typeface="Arial"/>
              </a:defRPr>
            </a:pPr>
            <a:r>
              <a:rPr sz="2250" b="0">
                <a:solidFill>
                  <a:srgbClr val="182B36"/>
                </a:solidFill>
                <a:latin typeface="Arial"/>
                <a:ea typeface="Arial"/>
                <a:cs typeface="Arial"/>
              </a:rPr>
              <a:t>Interprets requests</a:t>
            </a:r>
          </a:p>
          <a:p xmlns:a="http://schemas.openxmlformats.org/drawingml/2006/main">
            <a:pPr>
              <a:buNone/>
              <a:defRPr sz="2250" b="0">
                <a:solidFill>
                  <a:srgbClr val="182B36"/>
                </a:solidFill>
                <a:latin typeface="Arial"/>
                <a:ea typeface="Arial"/>
                <a:cs typeface="Arial"/>
              </a:defRPr>
            </a:pPr>
            <a:r>
              <a:rPr sz="2250" b="0">
                <a:solidFill>
                  <a:srgbClr val="182B36"/>
                </a:solidFill>
                <a:latin typeface="Arial"/>
                <a:ea typeface="Arial"/>
                <a:cs typeface="Arial"/>
              </a:rPr>
              <a:t>and reasons.</a:t>
            </a:r>
          </a:p>
        </p:txBody>
      </p:sp>
      <p:sp>
        <p:nvSpPr>
          <p:cNvPr id="5" name="harness-label">
            <a:extLst xmlns:a="http://schemas.openxmlformats.org/drawingml/2006/main">
              <a:ext uri="{FF2B5EF4-FFF2-40B4-BE49-F238E27FC236}">
                <a16:creationId xmlns:a16="http://schemas.microsoft.com/office/drawing/2014/main" id="{3F0FA3C0-11C0-41E9-80EE-4645908FB609}"/>
              </a:ext>
            </a:extLst>
          </p:cNvPr>
          <p:cNvSpPr>
            <a:spLocks xmlns:a="http://schemas.openxmlformats.org/drawingml/2006/main" noGrp="1"/>
          </p:cNvSpPr>
          <p:nvPr/>
        </p:nvSpPr>
        <p:spPr>
          <a:xfrm xmlns:a="http://schemas.openxmlformats.org/drawingml/2006/main">
            <a:off x="7791450" y="38100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550" b="1">
                <a:solidFill>
                  <a:srgbClr val="076C70"/>
                </a:solidFill>
                <a:latin typeface="Arial"/>
                <a:ea typeface="Arial"/>
                <a:cs typeface="Arial"/>
              </a:defRPr>
            </a:defPPr>
            <a:lvl1pPr>
              <a:buNone/>
              <a:defRPr sz="2550" b="1">
                <a:solidFill>
                  <a:srgbClr val="076C70"/>
                </a:solidFill>
                <a:latin typeface="Arial"/>
                <a:ea typeface="Arial"/>
                <a:cs typeface="Arial"/>
              </a:defRPr>
            </a:lvl1pPr>
            <a:lvl2pPr>
              <a:buNone/>
              <a:defRPr sz="2550" b="1">
                <a:solidFill>
                  <a:srgbClr val="076C70"/>
                </a:solidFill>
                <a:latin typeface="Arial"/>
                <a:ea typeface="Arial"/>
                <a:cs typeface="Arial"/>
              </a:defRPr>
            </a:lvl2pPr>
            <a:lvl3pPr>
              <a:buNone/>
              <a:defRPr sz="2550" b="1">
                <a:solidFill>
                  <a:srgbClr val="076C70"/>
                </a:solidFill>
                <a:latin typeface="Arial"/>
                <a:ea typeface="Arial"/>
                <a:cs typeface="Arial"/>
              </a:defRPr>
            </a:lvl3pPr>
            <a:lvl4pPr>
              <a:buNone/>
              <a:defRPr sz="2550" b="1">
                <a:solidFill>
                  <a:srgbClr val="076C70"/>
                </a:solidFill>
                <a:latin typeface="Arial"/>
                <a:ea typeface="Arial"/>
                <a:cs typeface="Arial"/>
              </a:defRPr>
            </a:lvl4pPr>
            <a:lvl5pPr>
              <a:buNone/>
              <a:defRPr sz="2550" b="1">
                <a:solidFill>
                  <a:srgbClr val="076C70"/>
                </a:solidFill>
                <a:latin typeface="Arial"/>
                <a:ea typeface="Arial"/>
                <a:cs typeface="Arial"/>
              </a:defRPr>
            </a:lvl5pPr>
            <a:lvl6pPr>
              <a:buNone/>
              <a:defRPr sz="2550" b="1">
                <a:solidFill>
                  <a:srgbClr val="076C70"/>
                </a:solidFill>
                <a:latin typeface="Arial"/>
                <a:ea typeface="Arial"/>
                <a:cs typeface="Arial"/>
              </a:defRPr>
            </a:lvl6pPr>
            <a:lvl7pPr>
              <a:buNone/>
              <a:defRPr sz="2550" b="1">
                <a:solidFill>
                  <a:srgbClr val="076C70"/>
                </a:solidFill>
                <a:latin typeface="Arial"/>
                <a:ea typeface="Arial"/>
                <a:cs typeface="Arial"/>
              </a:defRPr>
            </a:lvl7pPr>
            <a:lvl8pPr>
              <a:buNone/>
              <a:defRPr sz="2550" b="1">
                <a:solidFill>
                  <a:srgbClr val="076C70"/>
                </a:solidFill>
                <a:latin typeface="Arial"/>
                <a:ea typeface="Arial"/>
                <a:cs typeface="Arial"/>
              </a:defRPr>
            </a:lvl8pPr>
            <a:lvl9pPr>
              <a:buNone/>
              <a:defRPr sz="2550" b="1">
                <a:solidFill>
                  <a:srgbClr val="076C70"/>
                </a:solidFill>
                <a:latin typeface="Arial"/>
                <a:ea typeface="Arial"/>
                <a:cs typeface="Arial"/>
              </a:defRPr>
            </a:lvl9pPr>
          </a:lstStyle>
          <a:p xmlns:a="http://schemas.openxmlformats.org/drawingml/2006/main">
            <a:pPr>
              <a:buNone/>
              <a:defRPr sz="2550" b="1">
                <a:solidFill>
                  <a:srgbClr val="076C70"/>
                </a:solidFill>
                <a:latin typeface="Arial"/>
                <a:ea typeface="Arial"/>
                <a:cs typeface="Arial"/>
              </a:defRPr>
            </a:pPr>
            <a:r>
              <a:rPr sz="2550" b="1">
                <a:solidFill>
                  <a:srgbClr val="076C70"/>
                </a:solidFill>
                <a:latin typeface="Arial"/>
                <a:ea typeface="Arial"/>
                <a:cs typeface="Arial"/>
              </a:rPr>
              <a:t>Harness</a:t>
            </a:r>
          </a:p>
        </p:txBody>
      </p:sp>
      <p:sp>
        <p:nvSpPr>
          <p:cNvPr id="6" name="harness-context">
            <a:extLst xmlns:a="http://schemas.openxmlformats.org/drawingml/2006/main">
              <a:ext uri="{FF2B5EF4-FFF2-40B4-BE49-F238E27FC236}">
                <a16:creationId xmlns:a16="http://schemas.microsoft.com/office/drawing/2014/main" id="{0DBF4D95-00C9-4FC7-B74A-D5399E53686C}"/>
              </a:ext>
            </a:extLst>
          </p:cNvPr>
          <p:cNvSpPr>
            <a:spLocks xmlns:a="http://schemas.openxmlformats.org/drawingml/2006/main" noGrp="1"/>
          </p:cNvSpPr>
          <p:nvPr/>
        </p:nvSpPr>
        <p:spPr>
          <a:xfrm xmlns:a="http://schemas.openxmlformats.org/drawingml/2006/main">
            <a:off x="7791450" y="4410075"/>
            <a:ext cx="36957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025" b="0">
                <a:solidFill>
                  <a:srgbClr val="182B36"/>
                </a:solidFill>
                <a:latin typeface="Arial"/>
                <a:ea typeface="Arial"/>
                <a:cs typeface="Arial"/>
              </a:defRPr>
            </a:defPPr>
            <a:lvl1pPr>
              <a:buNone/>
              <a:defRPr sz="2025" b="0">
                <a:solidFill>
                  <a:srgbClr val="182B36"/>
                </a:solidFill>
                <a:latin typeface="Arial"/>
                <a:ea typeface="Arial"/>
                <a:cs typeface="Arial"/>
              </a:defRPr>
            </a:lvl1pPr>
            <a:lvl2pPr>
              <a:buNone/>
              <a:defRPr sz="2025" b="0">
                <a:solidFill>
                  <a:srgbClr val="182B36"/>
                </a:solidFill>
                <a:latin typeface="Arial"/>
                <a:ea typeface="Arial"/>
                <a:cs typeface="Arial"/>
              </a:defRPr>
            </a:lvl2pPr>
            <a:lvl3pPr>
              <a:buNone/>
              <a:defRPr sz="2025" b="0">
                <a:solidFill>
                  <a:srgbClr val="182B36"/>
                </a:solidFill>
                <a:latin typeface="Arial"/>
                <a:ea typeface="Arial"/>
                <a:cs typeface="Arial"/>
              </a:defRPr>
            </a:lvl3pPr>
            <a:lvl4pPr>
              <a:buNone/>
              <a:defRPr sz="2025" b="0">
                <a:solidFill>
                  <a:srgbClr val="182B36"/>
                </a:solidFill>
                <a:latin typeface="Arial"/>
                <a:ea typeface="Arial"/>
                <a:cs typeface="Arial"/>
              </a:defRPr>
            </a:lvl4pPr>
            <a:lvl5pPr>
              <a:buNone/>
              <a:defRPr sz="2025" b="0">
                <a:solidFill>
                  <a:srgbClr val="182B36"/>
                </a:solidFill>
                <a:latin typeface="Arial"/>
                <a:ea typeface="Arial"/>
                <a:cs typeface="Arial"/>
              </a:defRPr>
            </a:lvl5pPr>
            <a:lvl6pPr>
              <a:buNone/>
              <a:defRPr sz="2025" b="0">
                <a:solidFill>
                  <a:srgbClr val="182B36"/>
                </a:solidFill>
                <a:latin typeface="Arial"/>
                <a:ea typeface="Arial"/>
                <a:cs typeface="Arial"/>
              </a:defRPr>
            </a:lvl6pPr>
            <a:lvl7pPr>
              <a:buNone/>
              <a:defRPr sz="2025" b="0">
                <a:solidFill>
                  <a:srgbClr val="182B36"/>
                </a:solidFill>
                <a:latin typeface="Arial"/>
                <a:ea typeface="Arial"/>
                <a:cs typeface="Arial"/>
              </a:defRPr>
            </a:lvl7pPr>
            <a:lvl8pPr>
              <a:buNone/>
              <a:defRPr sz="2025" b="0">
                <a:solidFill>
                  <a:srgbClr val="182B36"/>
                </a:solidFill>
                <a:latin typeface="Arial"/>
                <a:ea typeface="Arial"/>
                <a:cs typeface="Arial"/>
              </a:defRPr>
            </a:lvl8pPr>
            <a:lvl9pPr>
              <a:buNone/>
              <a:defRPr sz="2025" b="0">
                <a:solidFill>
                  <a:srgbClr val="182B36"/>
                </a:solidFill>
                <a:latin typeface="Arial"/>
                <a:ea typeface="Arial"/>
                <a:cs typeface="Arial"/>
              </a:defRPr>
            </a:lvl9pPr>
          </a:lstStyle>
          <a:p xmlns:a="http://schemas.openxmlformats.org/drawingml/2006/main">
            <a:pPr>
              <a:buNone/>
              <a:defRPr sz="2025" b="0">
                <a:solidFill>
                  <a:srgbClr val="182B36"/>
                </a:solidFill>
                <a:latin typeface="Arial"/>
                <a:ea typeface="Arial"/>
                <a:cs typeface="Arial"/>
              </a:defRPr>
            </a:pPr>
            <a:r>
              <a:rPr sz="2025" b="0">
                <a:solidFill>
                  <a:srgbClr val="182B36"/>
                </a:solidFill>
                <a:latin typeface="Arial"/>
                <a:ea typeface="Arial"/>
                <a:cs typeface="Arial"/>
              </a:rPr>
              <a:t>Instructions and context</a:t>
            </a:r>
          </a:p>
        </p:txBody>
      </p:sp>
      <p:sp>
        <p:nvSpPr>
          <p:cNvPr id="7" name="harness-tools">
            <a:extLst xmlns:a="http://schemas.openxmlformats.org/drawingml/2006/main">
              <a:ext uri="{FF2B5EF4-FFF2-40B4-BE49-F238E27FC236}">
                <a16:creationId xmlns:a16="http://schemas.microsoft.com/office/drawing/2014/main" id="{7F63934A-99CF-4972-BBDC-75D8CE99D5FF}"/>
              </a:ext>
            </a:extLst>
          </p:cNvPr>
          <p:cNvSpPr>
            <a:spLocks xmlns:a="http://schemas.openxmlformats.org/drawingml/2006/main" noGrp="1"/>
          </p:cNvSpPr>
          <p:nvPr/>
        </p:nvSpPr>
        <p:spPr>
          <a:xfrm xmlns:a="http://schemas.openxmlformats.org/drawingml/2006/main">
            <a:off x="7791450" y="4886325"/>
            <a:ext cx="36957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025" b="0">
                <a:solidFill>
                  <a:srgbClr val="182B36"/>
                </a:solidFill>
                <a:latin typeface="Arial"/>
                <a:ea typeface="Arial"/>
                <a:cs typeface="Arial"/>
              </a:defRPr>
            </a:defPPr>
            <a:lvl1pPr>
              <a:buNone/>
              <a:defRPr sz="2025" b="0">
                <a:solidFill>
                  <a:srgbClr val="182B36"/>
                </a:solidFill>
                <a:latin typeface="Arial"/>
                <a:ea typeface="Arial"/>
                <a:cs typeface="Arial"/>
              </a:defRPr>
            </a:lvl1pPr>
            <a:lvl2pPr>
              <a:buNone/>
              <a:defRPr sz="2025" b="0">
                <a:solidFill>
                  <a:srgbClr val="182B36"/>
                </a:solidFill>
                <a:latin typeface="Arial"/>
                <a:ea typeface="Arial"/>
                <a:cs typeface="Arial"/>
              </a:defRPr>
            </a:lvl2pPr>
            <a:lvl3pPr>
              <a:buNone/>
              <a:defRPr sz="2025" b="0">
                <a:solidFill>
                  <a:srgbClr val="182B36"/>
                </a:solidFill>
                <a:latin typeface="Arial"/>
                <a:ea typeface="Arial"/>
                <a:cs typeface="Arial"/>
              </a:defRPr>
            </a:lvl3pPr>
            <a:lvl4pPr>
              <a:buNone/>
              <a:defRPr sz="2025" b="0">
                <a:solidFill>
                  <a:srgbClr val="182B36"/>
                </a:solidFill>
                <a:latin typeface="Arial"/>
                <a:ea typeface="Arial"/>
                <a:cs typeface="Arial"/>
              </a:defRPr>
            </a:lvl4pPr>
            <a:lvl5pPr>
              <a:buNone/>
              <a:defRPr sz="2025" b="0">
                <a:solidFill>
                  <a:srgbClr val="182B36"/>
                </a:solidFill>
                <a:latin typeface="Arial"/>
                <a:ea typeface="Arial"/>
                <a:cs typeface="Arial"/>
              </a:defRPr>
            </a:lvl5pPr>
            <a:lvl6pPr>
              <a:buNone/>
              <a:defRPr sz="2025" b="0">
                <a:solidFill>
                  <a:srgbClr val="182B36"/>
                </a:solidFill>
                <a:latin typeface="Arial"/>
                <a:ea typeface="Arial"/>
                <a:cs typeface="Arial"/>
              </a:defRPr>
            </a:lvl6pPr>
            <a:lvl7pPr>
              <a:buNone/>
              <a:defRPr sz="2025" b="0">
                <a:solidFill>
                  <a:srgbClr val="182B36"/>
                </a:solidFill>
                <a:latin typeface="Arial"/>
                <a:ea typeface="Arial"/>
                <a:cs typeface="Arial"/>
              </a:defRPr>
            </a:lvl7pPr>
            <a:lvl8pPr>
              <a:buNone/>
              <a:defRPr sz="2025" b="0">
                <a:solidFill>
                  <a:srgbClr val="182B36"/>
                </a:solidFill>
                <a:latin typeface="Arial"/>
                <a:ea typeface="Arial"/>
                <a:cs typeface="Arial"/>
              </a:defRPr>
            </a:lvl8pPr>
            <a:lvl9pPr>
              <a:buNone/>
              <a:defRPr sz="2025" b="0">
                <a:solidFill>
                  <a:srgbClr val="182B36"/>
                </a:solidFill>
                <a:latin typeface="Arial"/>
                <a:ea typeface="Arial"/>
                <a:cs typeface="Arial"/>
              </a:defRPr>
            </a:lvl9pPr>
          </a:lstStyle>
          <a:p xmlns:a="http://schemas.openxmlformats.org/drawingml/2006/main">
            <a:pPr>
              <a:buNone/>
              <a:defRPr sz="2025" b="0">
                <a:solidFill>
                  <a:srgbClr val="182B36"/>
                </a:solidFill>
                <a:latin typeface="Arial"/>
                <a:ea typeface="Arial"/>
                <a:cs typeface="Arial"/>
              </a:defRPr>
            </a:pPr>
            <a:r>
              <a:rPr sz="2025" b="0">
                <a:solidFill>
                  <a:srgbClr val="182B36"/>
                </a:solidFill>
                <a:latin typeface="Arial"/>
                <a:ea typeface="Arial"/>
                <a:cs typeface="Arial"/>
              </a:rPr>
              <a:t>Tools and resources</a:t>
            </a:r>
          </a:p>
        </p:txBody>
      </p:sp>
      <p:sp>
        <p:nvSpPr>
          <p:cNvPr id="8" name="harness-permissions">
            <a:extLst xmlns:a="http://schemas.openxmlformats.org/drawingml/2006/main">
              <a:ext uri="{FF2B5EF4-FFF2-40B4-BE49-F238E27FC236}">
                <a16:creationId xmlns:a16="http://schemas.microsoft.com/office/drawing/2014/main" id="{C0400F32-150D-4505-92CA-105B18D7B308}"/>
              </a:ext>
            </a:extLst>
          </p:cNvPr>
          <p:cNvSpPr>
            <a:spLocks xmlns:a="http://schemas.openxmlformats.org/drawingml/2006/main" noGrp="1"/>
          </p:cNvSpPr>
          <p:nvPr/>
        </p:nvSpPr>
        <p:spPr>
          <a:xfrm xmlns:a="http://schemas.openxmlformats.org/drawingml/2006/main">
            <a:off x="7791450" y="5362575"/>
            <a:ext cx="36957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025" b="0">
                <a:solidFill>
                  <a:srgbClr val="182B36"/>
                </a:solidFill>
                <a:latin typeface="Arial"/>
                <a:ea typeface="Arial"/>
                <a:cs typeface="Arial"/>
              </a:defRPr>
            </a:defPPr>
            <a:lvl1pPr>
              <a:buNone/>
              <a:defRPr sz="2025" b="0">
                <a:solidFill>
                  <a:srgbClr val="182B36"/>
                </a:solidFill>
                <a:latin typeface="Arial"/>
                <a:ea typeface="Arial"/>
                <a:cs typeface="Arial"/>
              </a:defRPr>
            </a:lvl1pPr>
            <a:lvl2pPr>
              <a:buNone/>
              <a:defRPr sz="2025" b="0">
                <a:solidFill>
                  <a:srgbClr val="182B36"/>
                </a:solidFill>
                <a:latin typeface="Arial"/>
                <a:ea typeface="Arial"/>
                <a:cs typeface="Arial"/>
              </a:defRPr>
            </a:lvl2pPr>
            <a:lvl3pPr>
              <a:buNone/>
              <a:defRPr sz="2025" b="0">
                <a:solidFill>
                  <a:srgbClr val="182B36"/>
                </a:solidFill>
                <a:latin typeface="Arial"/>
                <a:ea typeface="Arial"/>
                <a:cs typeface="Arial"/>
              </a:defRPr>
            </a:lvl3pPr>
            <a:lvl4pPr>
              <a:buNone/>
              <a:defRPr sz="2025" b="0">
                <a:solidFill>
                  <a:srgbClr val="182B36"/>
                </a:solidFill>
                <a:latin typeface="Arial"/>
                <a:ea typeface="Arial"/>
                <a:cs typeface="Arial"/>
              </a:defRPr>
            </a:lvl4pPr>
            <a:lvl5pPr>
              <a:buNone/>
              <a:defRPr sz="2025" b="0">
                <a:solidFill>
                  <a:srgbClr val="182B36"/>
                </a:solidFill>
                <a:latin typeface="Arial"/>
                <a:ea typeface="Arial"/>
                <a:cs typeface="Arial"/>
              </a:defRPr>
            </a:lvl5pPr>
            <a:lvl6pPr>
              <a:buNone/>
              <a:defRPr sz="2025" b="0">
                <a:solidFill>
                  <a:srgbClr val="182B36"/>
                </a:solidFill>
                <a:latin typeface="Arial"/>
                <a:ea typeface="Arial"/>
                <a:cs typeface="Arial"/>
              </a:defRPr>
            </a:lvl6pPr>
            <a:lvl7pPr>
              <a:buNone/>
              <a:defRPr sz="2025" b="0">
                <a:solidFill>
                  <a:srgbClr val="182B36"/>
                </a:solidFill>
                <a:latin typeface="Arial"/>
                <a:ea typeface="Arial"/>
                <a:cs typeface="Arial"/>
              </a:defRPr>
            </a:lvl7pPr>
            <a:lvl8pPr>
              <a:buNone/>
              <a:defRPr sz="2025" b="0">
                <a:solidFill>
                  <a:srgbClr val="182B36"/>
                </a:solidFill>
                <a:latin typeface="Arial"/>
                <a:ea typeface="Arial"/>
                <a:cs typeface="Arial"/>
              </a:defRPr>
            </a:lvl8pPr>
            <a:lvl9pPr>
              <a:buNone/>
              <a:defRPr sz="2025" b="0">
                <a:solidFill>
                  <a:srgbClr val="182B36"/>
                </a:solidFill>
                <a:latin typeface="Arial"/>
                <a:ea typeface="Arial"/>
                <a:cs typeface="Arial"/>
              </a:defRPr>
            </a:lvl9pPr>
          </a:lstStyle>
          <a:p xmlns:a="http://schemas.openxmlformats.org/drawingml/2006/main">
            <a:pPr>
              <a:buNone/>
              <a:defRPr sz="2025" b="0">
                <a:solidFill>
                  <a:srgbClr val="182B36"/>
                </a:solidFill>
                <a:latin typeface="Arial"/>
                <a:ea typeface="Arial"/>
                <a:cs typeface="Arial"/>
              </a:defRPr>
            </a:pPr>
            <a:r>
              <a:rPr sz="2025" b="0">
                <a:solidFill>
                  <a:srgbClr val="182B36"/>
                </a:solidFill>
                <a:latin typeface="Arial"/>
                <a:ea typeface="Arial"/>
                <a:cs typeface="Arial"/>
              </a:rPr>
              <a:t>Execution and permissions</a:t>
            </a:r>
          </a:p>
        </p:txBody>
      </p:sp>
      <p:sp>
        <p:nvSpPr>
          <p:cNvPr id="9" name="slide-number">
            <a:extLst xmlns:a="http://schemas.openxmlformats.org/drawingml/2006/main">
              <a:ext uri="{FF2B5EF4-FFF2-40B4-BE49-F238E27FC236}">
                <a16:creationId xmlns:a16="http://schemas.microsoft.com/office/drawing/2014/main" id="{680DB4D3-231B-4C71-B9E8-E39D527A9774}"/>
              </a:ext>
            </a:extLst>
          </p:cNvPr>
          <p:cNvSpPr>
            <a:spLocks xmlns:a="http://schemas.openxmlformats.org/drawingml/2006/main" noGrp="1"/>
          </p:cNvSpPr>
          <p:nvPr/>
        </p:nvSpPr>
        <p:spPr>
          <a:xfrm xmlns:a="http://schemas.openxmlformats.org/drawingml/2006/main">
            <a:off x="11125200" y="628650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53636B"/>
                </a:solidFill>
                <a:latin typeface="Arial"/>
                <a:ea typeface="Arial"/>
                <a:cs typeface="Arial"/>
              </a:defRPr>
            </a:defPPr>
            <a:lvl1pPr algn="r">
              <a:buNone/>
              <a:defRPr sz="1275" b="0">
                <a:solidFill>
                  <a:srgbClr val="53636B"/>
                </a:solidFill>
                <a:latin typeface="Arial"/>
                <a:ea typeface="Arial"/>
                <a:cs typeface="Arial"/>
              </a:defRPr>
            </a:lvl1pPr>
            <a:lvl2pPr algn="r">
              <a:buNone/>
              <a:defRPr sz="1275" b="0">
                <a:solidFill>
                  <a:srgbClr val="53636B"/>
                </a:solidFill>
                <a:latin typeface="Arial"/>
                <a:ea typeface="Arial"/>
                <a:cs typeface="Arial"/>
              </a:defRPr>
            </a:lvl2pPr>
            <a:lvl3pPr algn="r">
              <a:buNone/>
              <a:defRPr sz="1275" b="0">
                <a:solidFill>
                  <a:srgbClr val="53636B"/>
                </a:solidFill>
                <a:latin typeface="Arial"/>
                <a:ea typeface="Arial"/>
                <a:cs typeface="Arial"/>
              </a:defRPr>
            </a:lvl3pPr>
            <a:lvl4pPr algn="r">
              <a:buNone/>
              <a:defRPr sz="1275" b="0">
                <a:solidFill>
                  <a:srgbClr val="53636B"/>
                </a:solidFill>
                <a:latin typeface="Arial"/>
                <a:ea typeface="Arial"/>
                <a:cs typeface="Arial"/>
              </a:defRPr>
            </a:lvl4pPr>
            <a:lvl5pPr algn="r">
              <a:buNone/>
              <a:defRPr sz="1275" b="0">
                <a:solidFill>
                  <a:srgbClr val="53636B"/>
                </a:solidFill>
                <a:latin typeface="Arial"/>
                <a:ea typeface="Arial"/>
                <a:cs typeface="Arial"/>
              </a:defRPr>
            </a:lvl5pPr>
            <a:lvl6pPr algn="r">
              <a:buNone/>
              <a:defRPr sz="1275" b="0">
                <a:solidFill>
                  <a:srgbClr val="53636B"/>
                </a:solidFill>
                <a:latin typeface="Arial"/>
                <a:ea typeface="Arial"/>
                <a:cs typeface="Arial"/>
              </a:defRPr>
            </a:lvl6pPr>
            <a:lvl7pPr algn="r">
              <a:buNone/>
              <a:defRPr sz="1275" b="0">
                <a:solidFill>
                  <a:srgbClr val="53636B"/>
                </a:solidFill>
                <a:latin typeface="Arial"/>
                <a:ea typeface="Arial"/>
                <a:cs typeface="Arial"/>
              </a:defRPr>
            </a:lvl7pPr>
            <a:lvl8pPr algn="r">
              <a:buNone/>
              <a:defRPr sz="1275" b="0">
                <a:solidFill>
                  <a:srgbClr val="53636B"/>
                </a:solidFill>
                <a:latin typeface="Arial"/>
                <a:ea typeface="Arial"/>
                <a:cs typeface="Arial"/>
              </a:defRPr>
            </a:lvl8pPr>
            <a:lvl9pPr algn="r">
              <a:buNone/>
              <a:defRPr sz="1275" b="0">
                <a:solidFill>
                  <a:srgbClr val="53636B"/>
                </a:solidFill>
                <a:latin typeface="Arial"/>
                <a:ea typeface="Arial"/>
                <a:cs typeface="Arial"/>
              </a:defRPr>
            </a:lvl9pPr>
          </a:lstStyle>
          <a:p xmlns:a="http://schemas.openxmlformats.org/drawingml/2006/main">
            <a:pPr algn="r">
              <a:buNone/>
              <a:defRPr sz="1275" b="0">
                <a:solidFill>
                  <a:srgbClr val="53636B"/>
                </a:solidFill>
                <a:latin typeface="Arial"/>
                <a:ea typeface="Arial"/>
                <a:cs typeface="Arial"/>
              </a:defRPr>
            </a:pPr>
            <a:r>
              <a:rPr sz="1275" b="0">
                <a:solidFill>
                  <a:srgbClr val="53636B"/>
                </a:solidFill>
                <a:latin typeface="Arial"/>
                <a:ea typeface="Arial"/>
                <a:cs typeface="Arial"/>
              </a:rPr>
              <a:t>3</a:t>
            </a:r>
          </a:p>
        </p:txBody>
      </p:sp>
      <p:sp>
        <p:nvSpPr>
          <p:cNvPr id="11" name="architecture-context">
            <a:extLst xmlns:a="http://schemas.openxmlformats.org/drawingml/2006/main">
              <a:ext uri="{FF2B5EF4-FFF2-40B4-BE49-F238E27FC236}">
                <a16:creationId xmlns:a16="http://schemas.microsoft.com/office/drawing/2014/main" id="{365BA2E3-5185-456C-AF9E-FACD0C6B9296}"/>
              </a:ext>
            </a:extLst>
          </p:cNvPr>
          <p:cNvSpPr>
            <a:spLocks xmlns:a="http://schemas.openxmlformats.org/drawingml/2006/main" noGrp="1"/>
          </p:cNvSpPr>
          <p:nvPr/>
        </p:nvSpPr>
        <p:spPr>
          <a:xfrm xmlns:a="http://schemas.openxmlformats.org/drawingml/2006/main">
            <a:off x="685800" y="1381125"/>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100">
                <a:solidFill>
                  <a:srgbClr val="53636B"/>
                </a:solidFill>
                <a:latin typeface="Arial"/>
                <a:ea typeface="Arial"/>
                <a:cs typeface="Arial"/>
              </a:defRPr>
            </a:defPPr>
            <a:lvl1pPr>
              <a:buNone/>
              <a:defRPr sz="2100">
                <a:solidFill>
                  <a:srgbClr val="53636B"/>
                </a:solidFill>
                <a:latin typeface="Arial"/>
                <a:ea typeface="Arial"/>
                <a:cs typeface="Arial"/>
              </a:defRPr>
            </a:lvl1pPr>
            <a:lvl2pPr>
              <a:buNone/>
              <a:defRPr sz="2100">
                <a:solidFill>
                  <a:srgbClr val="53636B"/>
                </a:solidFill>
                <a:latin typeface="Arial"/>
                <a:ea typeface="Arial"/>
                <a:cs typeface="Arial"/>
              </a:defRPr>
            </a:lvl2pPr>
            <a:lvl3pPr>
              <a:buNone/>
              <a:defRPr sz="2100">
                <a:solidFill>
                  <a:srgbClr val="53636B"/>
                </a:solidFill>
                <a:latin typeface="Arial"/>
                <a:ea typeface="Arial"/>
                <a:cs typeface="Arial"/>
              </a:defRPr>
            </a:lvl3pPr>
            <a:lvl4pPr>
              <a:buNone/>
              <a:defRPr sz="2100">
                <a:solidFill>
                  <a:srgbClr val="53636B"/>
                </a:solidFill>
                <a:latin typeface="Arial"/>
                <a:ea typeface="Arial"/>
                <a:cs typeface="Arial"/>
              </a:defRPr>
            </a:lvl4pPr>
            <a:lvl5pPr>
              <a:buNone/>
              <a:defRPr sz="2100">
                <a:solidFill>
                  <a:srgbClr val="53636B"/>
                </a:solidFill>
                <a:latin typeface="Arial"/>
                <a:ea typeface="Arial"/>
                <a:cs typeface="Arial"/>
              </a:defRPr>
            </a:lvl5pPr>
            <a:lvl6pPr>
              <a:buNone/>
              <a:defRPr sz="2100">
                <a:solidFill>
                  <a:srgbClr val="53636B"/>
                </a:solidFill>
                <a:latin typeface="Arial"/>
                <a:ea typeface="Arial"/>
                <a:cs typeface="Arial"/>
              </a:defRPr>
            </a:lvl6pPr>
            <a:lvl7pPr>
              <a:buNone/>
              <a:defRPr sz="2100">
                <a:solidFill>
                  <a:srgbClr val="53636B"/>
                </a:solidFill>
                <a:latin typeface="Arial"/>
                <a:ea typeface="Arial"/>
                <a:cs typeface="Arial"/>
              </a:defRPr>
            </a:lvl7pPr>
            <a:lvl8pPr>
              <a:buNone/>
              <a:defRPr sz="2100">
                <a:solidFill>
                  <a:srgbClr val="53636B"/>
                </a:solidFill>
                <a:latin typeface="Arial"/>
                <a:ea typeface="Arial"/>
                <a:cs typeface="Arial"/>
              </a:defRPr>
            </a:lvl8pPr>
            <a:lvl9pPr>
              <a:buNone/>
              <a:defRPr sz="2100">
                <a:solidFill>
                  <a:srgbClr val="53636B"/>
                </a:solidFill>
                <a:latin typeface="Arial"/>
                <a:ea typeface="Arial"/>
                <a:cs typeface="Arial"/>
              </a:defRPr>
            </a:lvl9pPr>
          </a:lstStyle>
          <a:p xmlns:a="http://schemas.openxmlformats.org/drawingml/2006/main">
            <a:pPr>
              <a:buNone/>
              <a:defRPr sz="2100">
                <a:solidFill>
                  <a:srgbClr val="53636B"/>
                </a:solidFill>
                <a:latin typeface="Arial"/>
                <a:ea typeface="Arial"/>
                <a:cs typeface="Arial"/>
              </a:defRPr>
            </a:pPr>
            <a:r>
              <a:rPr sz="2100">
                <a:solidFill>
                  <a:srgbClr val="53636B"/>
                </a:solidFill>
                <a:latin typeface="Arial"/>
                <a:ea typeface="Arial"/>
                <a:cs typeface="Arial"/>
              </a:rPr>
              <a:t>The model and its harness together form the AI assistant.</a:t>
            </a:r>
          </a:p>
        </p:txBody>
      </p:sp>
    </p:spTree>
    <p:extLst>
      <p:ext uri="{BB962C8B-B14F-4D97-AF65-F5344CB8AC3E}">
        <p14:creationId xmlns:p14="http://schemas.microsoft.com/office/powerpoint/2010/main" val="639764650"/>
      </p:ext>
    </p:extLst>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5" name="slide5-title">
            <a:extLst xmlns:a="http://schemas.openxmlformats.org/drawingml/2006/main">
              <a:ext uri="{FF2B5EF4-FFF2-40B4-BE49-F238E27FC236}">
                <a16:creationId xmlns:a16="http://schemas.microsoft.com/office/drawing/2014/main" id="{A02D6BA8-F99A-46EC-A336-3F578BF291F4}"/>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3300" b="1">
                <a:solidFill>
                  <a:srgbClr val="182B36"/>
                </a:solidFill>
                <a:latin typeface="Arial"/>
                <a:ea typeface="Arial"/>
                <a:cs typeface="Arial"/>
              </a:defRPr>
            </a:defPPr>
            <a:lvl1pPr>
              <a:buNone/>
              <a:defRPr sz="3300" b="1">
                <a:solidFill>
                  <a:srgbClr val="182B36"/>
                </a:solidFill>
                <a:latin typeface="Arial"/>
                <a:ea typeface="Arial"/>
                <a:cs typeface="Arial"/>
              </a:defRPr>
            </a:lvl1pPr>
            <a:lvl2pPr>
              <a:buNone/>
              <a:defRPr sz="3300" b="1">
                <a:solidFill>
                  <a:srgbClr val="182B36"/>
                </a:solidFill>
                <a:latin typeface="Arial"/>
                <a:ea typeface="Arial"/>
                <a:cs typeface="Arial"/>
              </a:defRPr>
            </a:lvl2pPr>
            <a:lvl3pPr>
              <a:buNone/>
              <a:defRPr sz="3300" b="1">
                <a:solidFill>
                  <a:srgbClr val="182B36"/>
                </a:solidFill>
                <a:latin typeface="Arial"/>
                <a:ea typeface="Arial"/>
                <a:cs typeface="Arial"/>
              </a:defRPr>
            </a:lvl3pPr>
            <a:lvl4pPr>
              <a:buNone/>
              <a:defRPr sz="3300" b="1">
                <a:solidFill>
                  <a:srgbClr val="182B36"/>
                </a:solidFill>
                <a:latin typeface="Arial"/>
                <a:ea typeface="Arial"/>
                <a:cs typeface="Arial"/>
              </a:defRPr>
            </a:lvl4pPr>
            <a:lvl5pPr>
              <a:buNone/>
              <a:defRPr sz="3300" b="1">
                <a:solidFill>
                  <a:srgbClr val="182B36"/>
                </a:solidFill>
                <a:latin typeface="Arial"/>
                <a:ea typeface="Arial"/>
                <a:cs typeface="Arial"/>
              </a:defRPr>
            </a:lvl5pPr>
            <a:lvl6pPr>
              <a:buNone/>
              <a:defRPr sz="3300" b="1">
                <a:solidFill>
                  <a:srgbClr val="182B36"/>
                </a:solidFill>
                <a:latin typeface="Arial"/>
                <a:ea typeface="Arial"/>
                <a:cs typeface="Arial"/>
              </a:defRPr>
            </a:lvl6pPr>
            <a:lvl7pPr>
              <a:buNone/>
              <a:defRPr sz="3300" b="1">
                <a:solidFill>
                  <a:srgbClr val="182B36"/>
                </a:solidFill>
                <a:latin typeface="Arial"/>
                <a:ea typeface="Arial"/>
                <a:cs typeface="Arial"/>
              </a:defRPr>
            </a:lvl7pPr>
            <a:lvl8pPr>
              <a:buNone/>
              <a:defRPr sz="3300" b="1">
                <a:solidFill>
                  <a:srgbClr val="182B36"/>
                </a:solidFill>
                <a:latin typeface="Arial"/>
                <a:ea typeface="Arial"/>
                <a:cs typeface="Arial"/>
              </a:defRPr>
            </a:lvl8pPr>
            <a:lvl9pPr>
              <a:buNone/>
              <a:defRPr sz="3300" b="1">
                <a:solidFill>
                  <a:srgbClr val="182B36"/>
                </a:solidFill>
                <a:latin typeface="Arial"/>
                <a:ea typeface="Arial"/>
                <a:cs typeface="Arial"/>
              </a:defRPr>
            </a:lvl9pPr>
          </a:lstStyle>
          <a:p xmlns:a="http://schemas.openxmlformats.org/drawingml/2006/main">
            <a:pPr>
              <a:buNone/>
              <a:defRPr sz="3300" b="1">
                <a:solidFill>
                  <a:srgbClr val="182B36"/>
                </a:solidFill>
                <a:latin typeface="Arial"/>
                <a:ea typeface="Arial"/>
                <a:cs typeface="Arial"/>
              </a:defRPr>
            </a:pPr>
            <a:r>
              <a:rPr sz="3300" b="1">
                <a:solidFill>
                  <a:srgbClr val="182B36"/>
                </a:solidFill>
                <a:latin typeface="Arial"/>
                <a:ea typeface="Arial"/>
                <a:cs typeface="Arial"/>
              </a:rPr>
              <a:t>The assistant's working environment</a:t>
            </a:r>
          </a:p>
        </p:txBody>
      </p:sp>
      <p:sp>
        <p:nvSpPr>
          <p:cNvPr id="2" name="slide5-context">
            <a:extLst xmlns:a="http://schemas.openxmlformats.org/drawingml/2006/main">
              <a:ext uri="{FF2B5EF4-FFF2-40B4-BE49-F238E27FC236}">
                <a16:creationId xmlns:a16="http://schemas.microsoft.com/office/drawing/2014/main" id="{492B68E0-E22F-4DBE-BB05-F6E9082B9AD3}"/>
              </a:ext>
            </a:extLst>
          </p:cNvPr>
          <p:cNvSpPr>
            <a:spLocks xmlns:a="http://schemas.openxmlformats.org/drawingml/2006/main" noGrp="1"/>
          </p:cNvSpPr>
          <p:nvPr/>
        </p:nvSpPr>
        <p:spPr>
          <a:xfrm xmlns:a="http://schemas.openxmlformats.org/drawingml/2006/main">
            <a:off x="685800" y="1362075"/>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100" b="0">
                <a:solidFill>
                  <a:srgbClr val="53636B"/>
                </a:solidFill>
                <a:latin typeface="Arial"/>
                <a:ea typeface="Arial"/>
                <a:cs typeface="Arial"/>
              </a:defRPr>
            </a:defPPr>
            <a:lvl1pPr>
              <a:buNone/>
              <a:defRPr sz="2100" b="0">
                <a:solidFill>
                  <a:srgbClr val="53636B"/>
                </a:solidFill>
                <a:latin typeface="Arial"/>
                <a:ea typeface="Arial"/>
                <a:cs typeface="Arial"/>
              </a:defRPr>
            </a:lvl1pPr>
            <a:lvl2pPr>
              <a:buNone/>
              <a:defRPr sz="2100" b="0">
                <a:solidFill>
                  <a:srgbClr val="53636B"/>
                </a:solidFill>
                <a:latin typeface="Arial"/>
                <a:ea typeface="Arial"/>
                <a:cs typeface="Arial"/>
              </a:defRPr>
            </a:lvl2pPr>
            <a:lvl3pPr>
              <a:buNone/>
              <a:defRPr sz="2100" b="0">
                <a:solidFill>
                  <a:srgbClr val="53636B"/>
                </a:solidFill>
                <a:latin typeface="Arial"/>
                <a:ea typeface="Arial"/>
                <a:cs typeface="Arial"/>
              </a:defRPr>
            </a:lvl3pPr>
            <a:lvl4pPr>
              <a:buNone/>
              <a:defRPr sz="2100" b="0">
                <a:solidFill>
                  <a:srgbClr val="53636B"/>
                </a:solidFill>
                <a:latin typeface="Arial"/>
                <a:ea typeface="Arial"/>
                <a:cs typeface="Arial"/>
              </a:defRPr>
            </a:lvl4pPr>
            <a:lvl5pPr>
              <a:buNone/>
              <a:defRPr sz="2100" b="0">
                <a:solidFill>
                  <a:srgbClr val="53636B"/>
                </a:solidFill>
                <a:latin typeface="Arial"/>
                <a:ea typeface="Arial"/>
                <a:cs typeface="Arial"/>
              </a:defRPr>
            </a:lvl5pPr>
            <a:lvl6pPr>
              <a:buNone/>
              <a:defRPr sz="2100" b="0">
                <a:solidFill>
                  <a:srgbClr val="53636B"/>
                </a:solidFill>
                <a:latin typeface="Arial"/>
                <a:ea typeface="Arial"/>
                <a:cs typeface="Arial"/>
              </a:defRPr>
            </a:lvl6pPr>
            <a:lvl7pPr>
              <a:buNone/>
              <a:defRPr sz="2100" b="0">
                <a:solidFill>
                  <a:srgbClr val="53636B"/>
                </a:solidFill>
                <a:latin typeface="Arial"/>
                <a:ea typeface="Arial"/>
                <a:cs typeface="Arial"/>
              </a:defRPr>
            </a:lvl7pPr>
            <a:lvl8pPr>
              <a:buNone/>
              <a:defRPr sz="2100" b="0">
                <a:solidFill>
                  <a:srgbClr val="53636B"/>
                </a:solidFill>
                <a:latin typeface="Arial"/>
                <a:ea typeface="Arial"/>
                <a:cs typeface="Arial"/>
              </a:defRPr>
            </a:lvl8pPr>
            <a:lvl9pPr>
              <a:buNone/>
              <a:defRPr sz="2100" b="0">
                <a:solidFill>
                  <a:srgbClr val="53636B"/>
                </a:solidFill>
                <a:latin typeface="Arial"/>
                <a:ea typeface="Arial"/>
                <a:cs typeface="Arial"/>
              </a:defRPr>
            </a:lvl9pPr>
          </a:lstStyle>
          <a:p xmlns:a="http://schemas.openxmlformats.org/drawingml/2006/main">
            <a:pPr>
              <a:buNone/>
              <a:defRPr sz="2100" b="0">
                <a:solidFill>
                  <a:srgbClr val="53636B"/>
                </a:solidFill>
                <a:latin typeface="Arial"/>
                <a:ea typeface="Arial"/>
                <a:cs typeface="Arial"/>
              </a:defRPr>
            </a:pPr>
            <a:r>
              <a:rPr sz="2100" b="0">
                <a:solidFill>
                  <a:srgbClr val="53636B"/>
                </a:solidFill>
                <a:latin typeface="Arial"/>
                <a:ea typeface="Arial"/>
                <a:cs typeface="Arial"/>
              </a:rPr>
              <a:t>The harness provides the working environment, including tool access, customisation options, and controls over execution.</a:t>
            </a:r>
          </a:p>
        </p:txBody>
      </p:sp>
      <p:graphicFrame>
        <p:nvGraphicFramePr>
          <p:cNvPr id="3" name="">
            <a:extLst xmlns:a="http://schemas.openxmlformats.org/drawingml/2006/main">
              <a:ext uri="{FF2B5EF4-FFF2-40B4-BE49-F238E27FC236}">
                <a16:creationId xmlns:a16="http://schemas.microsoft.com/office/drawing/2014/main" id="{EB7EEA1D-FE13-4DF2-B8AE-9728A74E5763}"/>
              </a:ext>
            </a:extLst>
          </p:cNvPr>
          <p:cNvGraphicFramePr/>
          <p:nvPr/>
        </p:nvGraphicFramePr>
        <p:xfrm>
          <a:off xmlns:a="http://schemas.openxmlformats.org/drawingml/2006/main" x="685800" y="2286000"/>
          <a:ext xmlns:a="http://schemas.openxmlformats.org/drawingml/2006/main" cx="10820400" cy="3848100"/>
        </p:xfrm>
        <a:graphic xmlns:a="http://schemas.openxmlformats.org/drawingml/2006/main">
          <a:graphicData uri="http://schemas.openxmlformats.org/drawingml/2006/table">
            <a:tbl>
              <a:tblPr/>
              <a:tblGrid>
                <a:gridCol w="3143250"/>
                <a:gridCol w="7677150"/>
              </a:tblGrid>
              <a:tr h="571500">
                <a:tc>
                  <a:txBody>
                    <a:bodyPr lIns="152400" tIns="152400" rIns="152400" bIns="152400"/>
                    <a:lstStyle/>
                    <a:p>
                      <a:r>
                        <a:rPr sz="1875" b="1">
                          <a:solidFill>
                            <a:srgbClr val="FFFFFF"/>
                          </a:solidFill>
                          <a:latin typeface="Arial"/>
                          <a:ea typeface="Arial"/>
                          <a:cs typeface="Arial"/>
                        </a:rPr>
                        <a:t>Aspect</a:t>
                      </a:r>
                    </a:p>
                  </a:txBody>
                  <a:tcPr marL="91440" marR="91440" marT="45720" marB="45720" anchor="ctr">
                    <a:lnL w="9525">
                      <a:solidFill>
                        <a:srgbClr val="CBD4D2"/>
                      </a:solidFill>
                      <a:prstDash val="solid"/>
                    </a:lnL>
                    <a:lnR w="9525">
                      <a:solidFill>
                        <a:srgbClr val="CBD4D2"/>
                      </a:solidFill>
                      <a:prstDash val="solid"/>
                    </a:lnR>
                    <a:lnT w="9525">
                      <a:solidFill>
                        <a:srgbClr val="CBD4D2"/>
                      </a:solidFill>
                      <a:prstDash val="solid"/>
                    </a:lnT>
                    <a:lnB w="9525">
                      <a:solidFill>
                        <a:srgbClr val="CBD4D2"/>
                      </a:solidFill>
                      <a:prstDash val="solid"/>
                    </a:lnB>
                    <a:solidFill>
                      <a:srgbClr val="076C70"/>
                    </a:solidFill>
                  </a:tcPr>
                </a:tc>
                <a:tc>
                  <a:txBody>
                    <a:bodyPr lIns="152400" tIns="152400" rIns="152400" bIns="152400"/>
                    <a:lstStyle/>
                    <a:p>
                      <a:r>
                        <a:rPr sz="1875" b="1">
                          <a:solidFill>
                            <a:srgbClr val="FFFFFF"/>
                          </a:solidFill>
                          <a:latin typeface="Arial"/>
                          <a:ea typeface="Arial"/>
                          <a:cs typeface="Arial"/>
                        </a:rPr>
                        <a:t>Practical question</a:t>
                      </a:r>
                    </a:p>
                  </a:txBody>
                  <a:tcPr marL="91440" marR="91440" marT="45720" marB="45720" anchor="ctr">
                    <a:lnR w="9525">
                      <a:solidFill>
                        <a:srgbClr val="CBD4D2"/>
                      </a:solidFill>
                      <a:prstDash val="solid"/>
                    </a:lnR>
                    <a:lnT w="9525">
                      <a:solidFill>
                        <a:srgbClr val="CBD4D2"/>
                      </a:solidFill>
                      <a:prstDash val="solid"/>
                    </a:lnT>
                    <a:lnB w="9525">
                      <a:solidFill>
                        <a:srgbClr val="CBD4D2"/>
                      </a:solidFill>
                      <a:prstDash val="solid"/>
                    </a:lnB>
                    <a:solidFill>
                      <a:srgbClr val="076C70"/>
                    </a:solidFill>
                  </a:tcPr>
                </a:tc>
              </a:tr>
              <a:tr h="819150">
                <a:tc>
                  <a:txBody>
                    <a:bodyPr lIns="152400" tIns="152400" rIns="152400" bIns="152400"/>
                    <a:lstStyle/>
                    <a:p>
                      <a:r>
                        <a:rPr sz="2025" b="1">
                          <a:solidFill>
                            <a:srgbClr val="182B36"/>
                          </a:solidFill>
                          <a:latin typeface="Arial"/>
                          <a:ea typeface="Arial"/>
                          <a:cs typeface="Arial"/>
                        </a:rPr>
                        <a:t>Execution and storage</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2025" b="0">
                          <a:solidFill>
                            <a:srgbClr val="182B36"/>
                          </a:solidFill>
                          <a:latin typeface="Arial"/>
                          <a:ea typeface="Arial"/>
                          <a:cs typeface="Arial"/>
                        </a:rPr>
                        <a:t>Where are tools run, files kept, and conversations stored?</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r h="819150">
                <a:tc>
                  <a:txBody>
                    <a:bodyPr lIns="152400" tIns="152400" rIns="152400" bIns="152400"/>
                    <a:lstStyle/>
                    <a:p>
                      <a:r>
                        <a:rPr sz="2025" b="1">
                          <a:solidFill>
                            <a:srgbClr val="182B36"/>
                          </a:solidFill>
                          <a:latin typeface="Arial"/>
                          <a:ea typeface="Arial"/>
                          <a:cs typeface="Arial"/>
                        </a:rPr>
                        <a:t>Capabilities</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2025" b="0">
                          <a:solidFill>
                            <a:srgbClr val="182B36"/>
                          </a:solidFill>
                          <a:latin typeface="Arial"/>
                          <a:ea typeface="Arial"/>
                          <a:cs typeface="Arial"/>
                        </a:rPr>
                        <a:t>What tools and resources are available to the assistant?</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r h="819150">
                <a:tc>
                  <a:txBody>
                    <a:bodyPr lIns="152400" tIns="152400" rIns="152400" bIns="152400"/>
                    <a:lstStyle/>
                    <a:p>
                      <a:r>
                        <a:rPr sz="2025" b="1">
                          <a:solidFill>
                            <a:srgbClr val="182B36"/>
                          </a:solidFill>
                          <a:latin typeface="Arial"/>
                          <a:ea typeface="Arial"/>
                          <a:cs typeface="Arial"/>
                        </a:rPr>
                        <a:t>Customisation</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2025" b="0">
                          <a:solidFill>
                            <a:srgbClr val="182B36"/>
                          </a:solidFill>
                          <a:latin typeface="Arial"/>
                          <a:ea typeface="Arial"/>
                          <a:cs typeface="Arial"/>
                        </a:rPr>
                        <a:t>How can we adapt the assistant and its working environment?</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r h="819150">
                <a:tc>
                  <a:txBody>
                    <a:bodyPr lIns="152400" tIns="152400" rIns="152400" bIns="152400"/>
                    <a:lstStyle/>
                    <a:p>
                      <a:r>
                        <a:rPr sz="2025" b="1">
                          <a:solidFill>
                            <a:srgbClr val="182B36"/>
                          </a:solidFill>
                          <a:latin typeface="Arial"/>
                          <a:ea typeface="Arial"/>
                          <a:cs typeface="Arial"/>
                        </a:rPr>
                        <a:t>Permissions and restrictions</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2025" b="0">
                          <a:solidFill>
                            <a:srgbClr val="182B36"/>
                          </a:solidFill>
                          <a:latin typeface="Arial"/>
                          <a:ea typeface="Arial"/>
                          <a:cs typeface="Arial"/>
                        </a:rPr>
                        <a:t>What may it access and execute, and when is approval required?</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bl>
          </a:graphicData>
        </a:graphic>
      </p:graphicFrame>
      <p:sp>
        <p:nvSpPr>
          <p:cNvPr id="4" name="slide-number">
            <a:extLst xmlns:a="http://schemas.openxmlformats.org/drawingml/2006/main">
              <a:ext uri="{FF2B5EF4-FFF2-40B4-BE49-F238E27FC236}">
                <a16:creationId xmlns:a16="http://schemas.microsoft.com/office/drawing/2014/main" id="{0E23BA7A-65B7-45EC-B0FA-06063713244E}"/>
              </a:ext>
            </a:extLst>
          </p:cNvPr>
          <p:cNvSpPr>
            <a:spLocks xmlns:a="http://schemas.openxmlformats.org/drawingml/2006/main" noGrp="1"/>
          </p:cNvSpPr>
          <p:nvPr/>
        </p:nvSpPr>
        <p:spPr>
          <a:xfrm xmlns:a="http://schemas.openxmlformats.org/drawingml/2006/main">
            <a:off x="11125200" y="628650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53636B"/>
                </a:solidFill>
                <a:latin typeface="Arial"/>
                <a:ea typeface="Arial"/>
                <a:cs typeface="Arial"/>
              </a:defRPr>
            </a:defPPr>
            <a:lvl1pPr algn="r">
              <a:buNone/>
              <a:defRPr sz="1275" b="0">
                <a:solidFill>
                  <a:srgbClr val="53636B"/>
                </a:solidFill>
                <a:latin typeface="Arial"/>
                <a:ea typeface="Arial"/>
                <a:cs typeface="Arial"/>
              </a:defRPr>
            </a:lvl1pPr>
            <a:lvl2pPr algn="r">
              <a:buNone/>
              <a:defRPr sz="1275" b="0">
                <a:solidFill>
                  <a:srgbClr val="53636B"/>
                </a:solidFill>
                <a:latin typeface="Arial"/>
                <a:ea typeface="Arial"/>
                <a:cs typeface="Arial"/>
              </a:defRPr>
            </a:lvl2pPr>
            <a:lvl3pPr algn="r">
              <a:buNone/>
              <a:defRPr sz="1275" b="0">
                <a:solidFill>
                  <a:srgbClr val="53636B"/>
                </a:solidFill>
                <a:latin typeface="Arial"/>
                <a:ea typeface="Arial"/>
                <a:cs typeface="Arial"/>
              </a:defRPr>
            </a:lvl3pPr>
            <a:lvl4pPr algn="r">
              <a:buNone/>
              <a:defRPr sz="1275" b="0">
                <a:solidFill>
                  <a:srgbClr val="53636B"/>
                </a:solidFill>
                <a:latin typeface="Arial"/>
                <a:ea typeface="Arial"/>
                <a:cs typeface="Arial"/>
              </a:defRPr>
            </a:lvl4pPr>
            <a:lvl5pPr algn="r">
              <a:buNone/>
              <a:defRPr sz="1275" b="0">
                <a:solidFill>
                  <a:srgbClr val="53636B"/>
                </a:solidFill>
                <a:latin typeface="Arial"/>
                <a:ea typeface="Arial"/>
                <a:cs typeface="Arial"/>
              </a:defRPr>
            </a:lvl5pPr>
            <a:lvl6pPr algn="r">
              <a:buNone/>
              <a:defRPr sz="1275" b="0">
                <a:solidFill>
                  <a:srgbClr val="53636B"/>
                </a:solidFill>
                <a:latin typeface="Arial"/>
                <a:ea typeface="Arial"/>
                <a:cs typeface="Arial"/>
              </a:defRPr>
            </a:lvl6pPr>
            <a:lvl7pPr algn="r">
              <a:buNone/>
              <a:defRPr sz="1275" b="0">
                <a:solidFill>
                  <a:srgbClr val="53636B"/>
                </a:solidFill>
                <a:latin typeface="Arial"/>
                <a:ea typeface="Arial"/>
                <a:cs typeface="Arial"/>
              </a:defRPr>
            </a:lvl7pPr>
            <a:lvl8pPr algn="r">
              <a:buNone/>
              <a:defRPr sz="1275" b="0">
                <a:solidFill>
                  <a:srgbClr val="53636B"/>
                </a:solidFill>
                <a:latin typeface="Arial"/>
                <a:ea typeface="Arial"/>
                <a:cs typeface="Arial"/>
              </a:defRPr>
            </a:lvl8pPr>
            <a:lvl9pPr algn="r">
              <a:buNone/>
              <a:defRPr sz="1275" b="0">
                <a:solidFill>
                  <a:srgbClr val="53636B"/>
                </a:solidFill>
                <a:latin typeface="Arial"/>
                <a:ea typeface="Arial"/>
                <a:cs typeface="Arial"/>
              </a:defRPr>
            </a:lvl9pPr>
          </a:lstStyle>
          <a:p xmlns:a="http://schemas.openxmlformats.org/drawingml/2006/main">
            <a:pPr algn="r">
              <a:buNone/>
              <a:defRPr sz="1275" b="0">
                <a:solidFill>
                  <a:srgbClr val="53636B"/>
                </a:solidFill>
                <a:latin typeface="Arial"/>
                <a:ea typeface="Arial"/>
                <a:cs typeface="Arial"/>
              </a:defRPr>
            </a:pPr>
            <a:r>
              <a:rPr sz="1275" b="0">
                <a:solidFill>
                  <a:srgbClr val="53636B"/>
                </a:solidFill>
                <a:latin typeface="Arial"/>
                <a:ea typeface="Arial"/>
                <a:cs typeface="Arial"/>
              </a:rPr>
              <a:t>5</a:t>
            </a:r>
          </a:p>
        </p:txBody>
      </p:sp>
    </p:spTree>
    <p:extLst>
      <p:ext uri="{BB962C8B-B14F-4D97-AF65-F5344CB8AC3E}">
        <p14:creationId xmlns:p14="http://schemas.microsoft.com/office/powerpoint/2010/main" val="550712089"/>
      </p:ext>
    </p:extLst>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implementation-title">
            <a:extLst xmlns:a="http://schemas.openxmlformats.org/drawingml/2006/main">
              <a:ext uri="{FF2B5EF4-FFF2-40B4-BE49-F238E27FC236}">
                <a16:creationId xmlns:a16="http://schemas.microsoft.com/office/drawing/2014/main" id="{81AF9E35-713C-406F-AD41-CD9EFEE9E89C}"/>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3300" b="1">
                <a:solidFill>
                  <a:srgbClr val="182B36"/>
                </a:solidFill>
                <a:latin typeface="Arial"/>
                <a:ea typeface="Arial"/>
                <a:cs typeface="Arial"/>
              </a:defRPr>
            </a:defPPr>
            <a:lvl1pPr>
              <a:buNone/>
              <a:defRPr sz="3300" b="1">
                <a:solidFill>
                  <a:srgbClr val="182B36"/>
                </a:solidFill>
                <a:latin typeface="Arial"/>
                <a:ea typeface="Arial"/>
                <a:cs typeface="Arial"/>
              </a:defRPr>
            </a:lvl1pPr>
            <a:lvl2pPr>
              <a:buNone/>
              <a:defRPr sz="3300" b="1">
                <a:solidFill>
                  <a:srgbClr val="182B36"/>
                </a:solidFill>
                <a:latin typeface="Arial"/>
                <a:ea typeface="Arial"/>
                <a:cs typeface="Arial"/>
              </a:defRPr>
            </a:lvl2pPr>
            <a:lvl3pPr>
              <a:buNone/>
              <a:defRPr sz="3300" b="1">
                <a:solidFill>
                  <a:srgbClr val="182B36"/>
                </a:solidFill>
                <a:latin typeface="Arial"/>
                <a:ea typeface="Arial"/>
                <a:cs typeface="Arial"/>
              </a:defRPr>
            </a:lvl3pPr>
            <a:lvl4pPr>
              <a:buNone/>
              <a:defRPr sz="3300" b="1">
                <a:solidFill>
                  <a:srgbClr val="182B36"/>
                </a:solidFill>
                <a:latin typeface="Arial"/>
                <a:ea typeface="Arial"/>
                <a:cs typeface="Arial"/>
              </a:defRPr>
            </a:lvl4pPr>
            <a:lvl5pPr>
              <a:buNone/>
              <a:defRPr sz="3300" b="1">
                <a:solidFill>
                  <a:srgbClr val="182B36"/>
                </a:solidFill>
                <a:latin typeface="Arial"/>
                <a:ea typeface="Arial"/>
                <a:cs typeface="Arial"/>
              </a:defRPr>
            </a:lvl5pPr>
            <a:lvl6pPr>
              <a:buNone/>
              <a:defRPr sz="3300" b="1">
                <a:solidFill>
                  <a:srgbClr val="182B36"/>
                </a:solidFill>
                <a:latin typeface="Arial"/>
                <a:ea typeface="Arial"/>
                <a:cs typeface="Arial"/>
              </a:defRPr>
            </a:lvl6pPr>
            <a:lvl7pPr>
              <a:buNone/>
              <a:defRPr sz="3300" b="1">
                <a:solidFill>
                  <a:srgbClr val="182B36"/>
                </a:solidFill>
                <a:latin typeface="Arial"/>
                <a:ea typeface="Arial"/>
                <a:cs typeface="Arial"/>
              </a:defRPr>
            </a:lvl7pPr>
            <a:lvl8pPr>
              <a:buNone/>
              <a:defRPr sz="3300" b="1">
                <a:solidFill>
                  <a:srgbClr val="182B36"/>
                </a:solidFill>
                <a:latin typeface="Arial"/>
                <a:ea typeface="Arial"/>
                <a:cs typeface="Arial"/>
              </a:defRPr>
            </a:lvl8pPr>
            <a:lvl9pPr>
              <a:buNone/>
              <a:defRPr sz="3300" b="1">
                <a:solidFill>
                  <a:srgbClr val="182B36"/>
                </a:solidFill>
                <a:latin typeface="Arial"/>
                <a:ea typeface="Arial"/>
                <a:cs typeface="Arial"/>
              </a:defRPr>
            </a:lvl9pPr>
          </a:lstStyle>
          <a:p xmlns:a="http://schemas.openxmlformats.org/drawingml/2006/main">
            <a:pPr>
              <a:buNone/>
              <a:defRPr sz="3300" b="1">
                <a:solidFill>
                  <a:srgbClr val="182B36"/>
                </a:solidFill>
                <a:latin typeface="Arial"/>
                <a:ea typeface="Arial"/>
                <a:cs typeface="Arial"/>
              </a:defRPr>
            </a:pPr>
            <a:r>
              <a:rPr sz="3300" b="1">
                <a:solidFill>
                  <a:srgbClr val="182B36"/>
                </a:solidFill>
                <a:latin typeface="Arial"/>
                <a:ea typeface="Arial"/>
                <a:cs typeface="Arial"/>
              </a:rPr>
              <a:t>Different harnesses, different possibilities</a:t>
            </a:r>
          </a:p>
        </p:txBody>
      </p:sp>
      <p:sp>
        <p:nvSpPr>
          <p:cNvPr id="2" name="implementation-context">
            <a:extLst xmlns:a="http://schemas.openxmlformats.org/drawingml/2006/main">
              <a:ext uri="{FF2B5EF4-FFF2-40B4-BE49-F238E27FC236}">
                <a16:creationId xmlns:a16="http://schemas.microsoft.com/office/drawing/2014/main" id="{6BC8B49A-7B86-4C5F-9DC0-6C4C6918F218}"/>
              </a:ext>
            </a:extLst>
          </p:cNvPr>
          <p:cNvSpPr>
            <a:spLocks xmlns:a="http://schemas.openxmlformats.org/drawingml/2006/main" noGrp="1"/>
          </p:cNvSpPr>
          <p:nvPr/>
        </p:nvSpPr>
        <p:spPr>
          <a:xfrm xmlns:a="http://schemas.openxmlformats.org/drawingml/2006/main">
            <a:off x="685800" y="1381125"/>
            <a:ext cx="108204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100" b="0">
                <a:solidFill>
                  <a:srgbClr val="53636B"/>
                </a:solidFill>
                <a:latin typeface="Arial"/>
                <a:ea typeface="Arial"/>
                <a:cs typeface="Arial"/>
              </a:defRPr>
            </a:defPPr>
            <a:lvl1pPr>
              <a:buNone/>
              <a:defRPr sz="2100" b="0">
                <a:solidFill>
                  <a:srgbClr val="53636B"/>
                </a:solidFill>
                <a:latin typeface="Arial"/>
                <a:ea typeface="Arial"/>
                <a:cs typeface="Arial"/>
              </a:defRPr>
            </a:lvl1pPr>
            <a:lvl2pPr>
              <a:buNone/>
              <a:defRPr sz="2100" b="0">
                <a:solidFill>
                  <a:srgbClr val="53636B"/>
                </a:solidFill>
                <a:latin typeface="Arial"/>
                <a:ea typeface="Arial"/>
                <a:cs typeface="Arial"/>
              </a:defRPr>
            </a:lvl2pPr>
            <a:lvl3pPr>
              <a:buNone/>
              <a:defRPr sz="2100" b="0">
                <a:solidFill>
                  <a:srgbClr val="53636B"/>
                </a:solidFill>
                <a:latin typeface="Arial"/>
                <a:ea typeface="Arial"/>
                <a:cs typeface="Arial"/>
              </a:defRPr>
            </a:lvl3pPr>
            <a:lvl4pPr>
              <a:buNone/>
              <a:defRPr sz="2100" b="0">
                <a:solidFill>
                  <a:srgbClr val="53636B"/>
                </a:solidFill>
                <a:latin typeface="Arial"/>
                <a:ea typeface="Arial"/>
                <a:cs typeface="Arial"/>
              </a:defRPr>
            </a:lvl4pPr>
            <a:lvl5pPr>
              <a:buNone/>
              <a:defRPr sz="2100" b="0">
                <a:solidFill>
                  <a:srgbClr val="53636B"/>
                </a:solidFill>
                <a:latin typeface="Arial"/>
                <a:ea typeface="Arial"/>
                <a:cs typeface="Arial"/>
              </a:defRPr>
            </a:lvl5pPr>
            <a:lvl6pPr>
              <a:buNone/>
              <a:defRPr sz="2100" b="0">
                <a:solidFill>
                  <a:srgbClr val="53636B"/>
                </a:solidFill>
                <a:latin typeface="Arial"/>
                <a:ea typeface="Arial"/>
                <a:cs typeface="Arial"/>
              </a:defRPr>
            </a:lvl6pPr>
            <a:lvl7pPr>
              <a:buNone/>
              <a:defRPr sz="2100" b="0">
                <a:solidFill>
                  <a:srgbClr val="53636B"/>
                </a:solidFill>
                <a:latin typeface="Arial"/>
                <a:ea typeface="Arial"/>
                <a:cs typeface="Arial"/>
              </a:defRPr>
            </a:lvl7pPr>
            <a:lvl8pPr>
              <a:buNone/>
              <a:defRPr sz="2100" b="0">
                <a:solidFill>
                  <a:srgbClr val="53636B"/>
                </a:solidFill>
                <a:latin typeface="Arial"/>
                <a:ea typeface="Arial"/>
                <a:cs typeface="Arial"/>
              </a:defRPr>
            </a:lvl8pPr>
            <a:lvl9pPr>
              <a:buNone/>
              <a:defRPr sz="2100" b="0">
                <a:solidFill>
                  <a:srgbClr val="53636B"/>
                </a:solidFill>
                <a:latin typeface="Arial"/>
                <a:ea typeface="Arial"/>
                <a:cs typeface="Arial"/>
              </a:defRPr>
            </a:lvl9pPr>
          </a:lstStyle>
          <a:p xmlns:a="http://schemas.openxmlformats.org/drawingml/2006/main">
            <a:pPr>
              <a:buNone/>
              <a:defRPr sz="2100" b="0">
                <a:solidFill>
                  <a:srgbClr val="53636B"/>
                </a:solidFill>
                <a:latin typeface="Arial"/>
                <a:ea typeface="Arial"/>
                <a:cs typeface="Arial"/>
              </a:defRPr>
            </a:pPr>
            <a:r>
              <a:rPr sz="2100" b="0">
                <a:solidFill>
                  <a:srgbClr val="53636B"/>
                </a:solidFill>
                <a:latin typeface="Arial"/>
                <a:ea typeface="Arial"/>
                <a:cs typeface="Arial"/>
              </a:rPr>
              <a:t>Tools, execution and customisation vary across implementations.</a:t>
            </a:r>
          </a:p>
        </p:txBody>
      </p:sp>
      <p:graphicFrame>
        <p:nvGraphicFramePr>
          <p:cNvPr id="3" name="">
            <a:extLst xmlns:a="http://schemas.openxmlformats.org/drawingml/2006/main">
              <a:ext uri="{FF2B5EF4-FFF2-40B4-BE49-F238E27FC236}">
                <a16:creationId xmlns:a16="http://schemas.microsoft.com/office/drawing/2014/main" id="{0C247FF3-1737-4392-94DB-B91843AD88E3}"/>
              </a:ext>
            </a:extLst>
          </p:cNvPr>
          <p:cNvGraphicFramePr/>
          <p:nvPr/>
        </p:nvGraphicFramePr>
        <p:xfrm>
          <a:off xmlns:a="http://schemas.openxmlformats.org/drawingml/2006/main" x="685800" y="2219325"/>
          <a:ext xmlns:a="http://schemas.openxmlformats.org/drawingml/2006/main" cx="10820400" cy="3657600"/>
        </p:xfrm>
        <a:graphic xmlns:a="http://schemas.openxmlformats.org/drawingml/2006/main">
          <a:graphicData uri="http://schemas.openxmlformats.org/drawingml/2006/table">
            <a:tbl>
              <a:tblPr/>
              <a:tblGrid>
                <a:gridCol w="2286000"/>
                <a:gridCol w="4572000"/>
                <a:gridCol w="3962400"/>
              </a:tblGrid>
              <a:tr h="571500">
                <a:tc>
                  <a:txBody>
                    <a:bodyPr lIns="152400" tIns="152400" rIns="152400" bIns="152400"/>
                    <a:lstStyle/>
                    <a:p>
                      <a:r>
                        <a:rPr sz="1875" b="1">
                          <a:solidFill>
                            <a:srgbClr val="FFFFFF"/>
                          </a:solidFill>
                          <a:latin typeface="Arial"/>
                          <a:ea typeface="Arial"/>
                          <a:cs typeface="Arial"/>
                        </a:rPr>
                        <a:t>Harness</a:t>
                      </a:r>
                    </a:p>
                  </a:txBody>
                  <a:tcPr marL="91440" marR="91440" marT="45720" marB="45720" anchor="ctr">
                    <a:lnL w="9525">
                      <a:solidFill>
                        <a:srgbClr val="CBD4D2"/>
                      </a:solidFill>
                      <a:prstDash val="solid"/>
                    </a:lnL>
                    <a:lnR w="9525">
                      <a:solidFill>
                        <a:srgbClr val="CBD4D2"/>
                      </a:solidFill>
                      <a:prstDash val="solid"/>
                    </a:lnR>
                    <a:lnT w="9525">
                      <a:solidFill>
                        <a:srgbClr val="CBD4D2"/>
                      </a:solidFill>
                      <a:prstDash val="solid"/>
                    </a:lnT>
                    <a:lnB w="9525">
                      <a:solidFill>
                        <a:srgbClr val="CBD4D2"/>
                      </a:solidFill>
                      <a:prstDash val="solid"/>
                    </a:lnB>
                    <a:solidFill>
                      <a:srgbClr val="076C70"/>
                    </a:solidFill>
                  </a:tcPr>
                </a:tc>
                <a:tc>
                  <a:txBody>
                    <a:bodyPr lIns="152400" tIns="152400" rIns="152400" bIns="152400"/>
                    <a:lstStyle/>
                    <a:p>
                      <a:r>
                        <a:rPr sz="1875" b="1">
                          <a:solidFill>
                            <a:srgbClr val="FFFFFF"/>
                          </a:solidFill>
                          <a:latin typeface="Arial"/>
                          <a:ea typeface="Arial"/>
                          <a:cs typeface="Arial"/>
                        </a:rPr>
                        <a:t>Tools and execution environment</a:t>
                      </a:r>
                    </a:p>
                  </a:txBody>
                  <a:tcPr marL="91440" marR="91440" marT="45720" marB="45720" anchor="ctr">
                    <a:lnR w="9525">
                      <a:solidFill>
                        <a:srgbClr val="CBD4D2"/>
                      </a:solidFill>
                      <a:prstDash val="solid"/>
                    </a:lnR>
                    <a:lnT w="9525">
                      <a:solidFill>
                        <a:srgbClr val="CBD4D2"/>
                      </a:solidFill>
                      <a:prstDash val="solid"/>
                    </a:lnT>
                    <a:lnB w="9525">
                      <a:solidFill>
                        <a:srgbClr val="CBD4D2"/>
                      </a:solidFill>
                      <a:prstDash val="solid"/>
                    </a:lnB>
                    <a:solidFill>
                      <a:srgbClr val="076C70"/>
                    </a:solidFill>
                  </a:tcPr>
                </a:tc>
                <a:tc>
                  <a:txBody>
                    <a:bodyPr lIns="152400" tIns="152400" rIns="152400" bIns="152400"/>
                    <a:lstStyle/>
                    <a:p>
                      <a:r>
                        <a:rPr sz="1875" b="1">
                          <a:solidFill>
                            <a:srgbClr val="FFFFFF"/>
                          </a:solidFill>
                          <a:latin typeface="Arial"/>
                          <a:ea typeface="Arial"/>
                          <a:cs typeface="Arial"/>
                        </a:rPr>
                        <a:t>Customisation</a:t>
                      </a:r>
                    </a:p>
                  </a:txBody>
                  <a:tcPr marL="91440" marR="91440" marT="45720" marB="45720" anchor="ctr">
                    <a:lnR w="9525">
                      <a:solidFill>
                        <a:srgbClr val="CBD4D2"/>
                      </a:solidFill>
                      <a:prstDash val="solid"/>
                    </a:lnR>
                    <a:lnT w="9525">
                      <a:solidFill>
                        <a:srgbClr val="CBD4D2"/>
                      </a:solidFill>
                      <a:prstDash val="solid"/>
                    </a:lnT>
                    <a:lnB w="9525">
                      <a:solidFill>
                        <a:srgbClr val="CBD4D2"/>
                      </a:solidFill>
                      <a:prstDash val="solid"/>
                    </a:lnB>
                    <a:solidFill>
                      <a:srgbClr val="076C70"/>
                    </a:solidFill>
                  </a:tcPr>
                </a:tc>
              </a:tr>
              <a:tr h="1028700">
                <a:tc>
                  <a:txBody>
                    <a:bodyPr lIns="152400" tIns="152400" rIns="152400" bIns="152400"/>
                    <a:lstStyle/>
                    <a:p>
                      <a:r>
                        <a:rPr sz="1950" b="1">
                          <a:solidFill>
                            <a:srgbClr val="182B36"/>
                          </a:solidFill>
                          <a:latin typeface="Arial"/>
                          <a:ea typeface="Arial"/>
                          <a:cs typeface="Arial"/>
                        </a:rPr>
                        <a:t>chatUMCG</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1950" b="0">
                          <a:solidFill>
                            <a:srgbClr val="182B36"/>
                          </a:solidFill>
                          <a:latin typeface="Arial"/>
                          <a:ea typeface="Arial"/>
                          <a:cs typeface="Arial"/>
                        </a:rPr>
                        <a:t>Conversation only.</a:t>
                      </a:r>
                    </a:p>
                  </a:txBody>
                  <a:tcPr marL="91440" marR="91440" marT="45720" marB="45720" anchor="ctr">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1950" b="0">
                          <a:solidFill>
                            <a:srgbClr val="182B36"/>
                          </a:solidFill>
                          <a:latin typeface="Arial"/>
                          <a:ea typeface="Arial"/>
                          <a:cs typeface="Arial"/>
                        </a:rPr>
                        <a:t>None</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r h="1028700">
                <a:tc>
                  <a:txBody>
                    <a:bodyPr lIns="152400" tIns="152400" rIns="152400" bIns="152400"/>
                    <a:lstStyle/>
                    <a:p>
                      <a:r>
                        <a:rPr sz="1950" b="1">
                          <a:solidFill>
                            <a:srgbClr val="182B36"/>
                          </a:solidFill>
                          <a:latin typeface="Arial"/>
                          <a:ea typeface="Arial"/>
                          <a:cs typeface="Arial"/>
                        </a:rPr>
                        <a:t>Copilot Chat</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1950" b="0">
                          <a:solidFill>
                            <a:srgbClr val="182B36"/>
                          </a:solidFill>
                          <a:latin typeface="Arial"/>
                          <a:ea typeface="Arial"/>
                          <a:cs typeface="Arial"/>
                        </a:rPr>
                        <a:t>Python and JavaScript execution</a:t>
                      </a:r>
                    </a:p>
                    <a:p>
                      <a:r>
                        <a:rPr sz="1950" b="0">
                          <a:solidFill>
                            <a:srgbClr val="182B36"/>
                          </a:solidFill>
                          <a:latin typeface="Arial"/>
                          <a:ea typeface="Arial"/>
                          <a:cs typeface="Arial"/>
                        </a:rPr>
                        <a:t>in a cloud VM; file processing</a:t>
                      </a:r>
                    </a:p>
                    <a:p>
                      <a:r>
                        <a:rPr sz="1950" b="0">
                          <a:solidFill>
                            <a:srgbClr val="182B36"/>
                          </a:solidFill>
                          <a:latin typeface="Arial"/>
                          <a:ea typeface="Arial"/>
                          <a:cs typeface="Arial"/>
                        </a:rPr>
                        <a:t>and generation.</a:t>
                      </a:r>
                    </a:p>
                  </a:txBody>
                  <a:tcPr marL="91440" marR="91440" marT="45720" marB="45720" anchor="ctr">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1950" b="0">
                          <a:solidFill>
                            <a:srgbClr val="182B36"/>
                          </a:solidFill>
                          <a:latin typeface="Arial"/>
                          <a:ea typeface="Arial"/>
                          <a:cs typeface="Arial"/>
                        </a:rPr>
                        <a:t>Agents via Agent Builder:</a:t>
                      </a:r>
                    </a:p>
                    <a:p>
                      <a:r>
                        <a:rPr sz="1950" b="0">
                          <a:solidFill>
                            <a:srgbClr val="182B36"/>
                          </a:solidFill>
                          <a:latin typeface="Arial"/>
                          <a:ea typeface="Arial"/>
                          <a:cs typeface="Arial"/>
                        </a:rPr>
                        <a:t>instructions and knowledge</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r h="1028700">
                <a:tc>
                  <a:txBody>
                    <a:bodyPr lIns="152400" tIns="152400" rIns="152400" bIns="152400"/>
                    <a:lstStyle/>
                    <a:p>
                      <a:r>
                        <a:rPr sz="1950" b="1">
                          <a:solidFill>
                            <a:srgbClr val="182B36"/>
                          </a:solidFill>
                          <a:latin typeface="Arial"/>
                          <a:ea typeface="Arial"/>
                          <a:cs typeface="Arial"/>
                        </a:rPr>
                        <a:t>Codex /</a:t>
                      </a:r>
                    </a:p>
                    <a:p>
                      <a:r>
                        <a:rPr sz="1950" b="1">
                          <a:solidFill>
                            <a:srgbClr val="182B36"/>
                          </a:solidFill>
                          <a:latin typeface="Arial"/>
                          <a:ea typeface="Arial"/>
                          <a:cs typeface="Arial"/>
                        </a:rPr>
                        <a:t>Claude Code</a:t>
                      </a:r>
                    </a:p>
                    <a:p>
                      <a:r>
                        <a:rPr sz="1950" b="1">
                          <a:solidFill>
                            <a:srgbClr val="182B36"/>
                          </a:solidFill>
                          <a:latin typeface="Arial"/>
                          <a:ea typeface="Arial"/>
                          <a:cs typeface="Arial"/>
                        </a:rPr>
                        <a:t>(Local setup)</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1950" b="0">
                          <a:solidFill>
                            <a:srgbClr val="182B36"/>
                          </a:solidFill>
                          <a:latin typeface="Arial"/>
                          <a:ea typeface="Arial"/>
                          <a:cs typeface="Arial"/>
                        </a:rPr>
                        <a:t>Terminal access, local files,</a:t>
                      </a:r>
                    </a:p>
                    <a:p>
                      <a:r>
                        <a:rPr sz="1950" b="0">
                          <a:solidFill>
                            <a:srgbClr val="182B36"/>
                          </a:solidFill>
                          <a:latin typeface="Arial"/>
                          <a:ea typeface="Arial"/>
                          <a:cs typeface="Arial"/>
                        </a:rPr>
                        <a:t>and installed software.</a:t>
                      </a:r>
                    </a:p>
                  </a:txBody>
                  <a:tcPr marL="91440" marR="91440" marT="45720" marB="45720" anchor="ctr">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1950" b="0">
                          <a:solidFill>
                            <a:srgbClr val="182B36"/>
                          </a:solidFill>
                          <a:latin typeface="Arial"/>
                          <a:ea typeface="Arial"/>
                          <a:cs typeface="Arial"/>
                        </a:rPr>
                        <a:t>Project instructions</a:t>
                      </a:r>
                    </a:p>
                    <a:p>
                      <a:r>
                        <a:rPr sz="1950" b="0">
                          <a:solidFill>
                            <a:srgbClr val="182B36"/>
                          </a:solidFill>
                          <a:latin typeface="Arial"/>
                          <a:ea typeface="Arial"/>
                          <a:cs typeface="Arial"/>
                        </a:rPr>
                        <a:t>Reusable skills</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bl>
          </a:graphicData>
        </a:graphic>
      </p:graphicFrame>
      <p:sp>
        <p:nvSpPr>
          <p:cNvPr id="4" name="availability-note">
            <a:extLst xmlns:a="http://schemas.openxmlformats.org/drawingml/2006/main">
              <a:ext uri="{FF2B5EF4-FFF2-40B4-BE49-F238E27FC236}">
                <a16:creationId xmlns:a16="http://schemas.microsoft.com/office/drawing/2014/main" id="{BDB4A478-C9F6-4A8E-8CC5-336DC93BEFD8}"/>
              </a:ext>
            </a:extLst>
          </p:cNvPr>
          <p:cNvSpPr>
            <a:spLocks xmlns:a="http://schemas.openxmlformats.org/drawingml/2006/main" noGrp="1"/>
          </p:cNvSpPr>
          <p:nvPr/>
        </p:nvSpPr>
        <p:spPr>
          <a:xfrm xmlns:a="http://schemas.openxmlformats.org/drawingml/2006/main">
            <a:off x="685800" y="60007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1500" b="0">
                <a:solidFill>
                  <a:srgbClr val="53636B"/>
                </a:solidFill>
                <a:latin typeface="Arial"/>
                <a:ea typeface="Arial"/>
                <a:cs typeface="Arial"/>
              </a:defRPr>
            </a:defPPr>
            <a:lvl1pPr>
              <a:buNone/>
              <a:defRPr sz="1500" b="0">
                <a:solidFill>
                  <a:srgbClr val="53636B"/>
                </a:solidFill>
                <a:latin typeface="Arial"/>
                <a:ea typeface="Arial"/>
                <a:cs typeface="Arial"/>
              </a:defRPr>
            </a:lvl1pPr>
            <a:lvl2pPr>
              <a:buNone/>
              <a:defRPr sz="1500" b="0">
                <a:solidFill>
                  <a:srgbClr val="53636B"/>
                </a:solidFill>
                <a:latin typeface="Arial"/>
                <a:ea typeface="Arial"/>
                <a:cs typeface="Arial"/>
              </a:defRPr>
            </a:lvl2pPr>
            <a:lvl3pPr>
              <a:buNone/>
              <a:defRPr sz="1500" b="0">
                <a:solidFill>
                  <a:srgbClr val="53636B"/>
                </a:solidFill>
                <a:latin typeface="Arial"/>
                <a:ea typeface="Arial"/>
                <a:cs typeface="Arial"/>
              </a:defRPr>
            </a:lvl3pPr>
            <a:lvl4pPr>
              <a:buNone/>
              <a:defRPr sz="1500" b="0">
                <a:solidFill>
                  <a:srgbClr val="53636B"/>
                </a:solidFill>
                <a:latin typeface="Arial"/>
                <a:ea typeface="Arial"/>
                <a:cs typeface="Arial"/>
              </a:defRPr>
            </a:lvl4pPr>
            <a:lvl5pPr>
              <a:buNone/>
              <a:defRPr sz="1500" b="0">
                <a:solidFill>
                  <a:srgbClr val="53636B"/>
                </a:solidFill>
                <a:latin typeface="Arial"/>
                <a:ea typeface="Arial"/>
                <a:cs typeface="Arial"/>
              </a:defRPr>
            </a:lvl5pPr>
            <a:lvl6pPr>
              <a:buNone/>
              <a:defRPr sz="1500" b="0">
                <a:solidFill>
                  <a:srgbClr val="53636B"/>
                </a:solidFill>
                <a:latin typeface="Arial"/>
                <a:ea typeface="Arial"/>
                <a:cs typeface="Arial"/>
              </a:defRPr>
            </a:lvl6pPr>
            <a:lvl7pPr>
              <a:buNone/>
              <a:defRPr sz="1500" b="0">
                <a:solidFill>
                  <a:srgbClr val="53636B"/>
                </a:solidFill>
                <a:latin typeface="Arial"/>
                <a:ea typeface="Arial"/>
                <a:cs typeface="Arial"/>
              </a:defRPr>
            </a:lvl7pPr>
            <a:lvl8pPr>
              <a:buNone/>
              <a:defRPr sz="1500" b="0">
                <a:solidFill>
                  <a:srgbClr val="53636B"/>
                </a:solidFill>
                <a:latin typeface="Arial"/>
                <a:ea typeface="Arial"/>
                <a:cs typeface="Arial"/>
              </a:defRPr>
            </a:lvl8pPr>
            <a:lvl9pPr>
              <a:buNone/>
              <a:defRPr sz="1500" b="0">
                <a:solidFill>
                  <a:srgbClr val="53636B"/>
                </a:solidFill>
                <a:latin typeface="Arial"/>
                <a:ea typeface="Arial"/>
                <a:cs typeface="Arial"/>
              </a:defRPr>
            </a:lvl9pPr>
          </a:lstStyle>
          <a:p xmlns:a="http://schemas.openxmlformats.org/drawingml/2006/main">
            <a:pPr>
              <a:buNone/>
              <a:defRPr sz="1500" b="0">
                <a:solidFill>
                  <a:srgbClr val="53636B"/>
                </a:solidFill>
                <a:latin typeface="Arial"/>
                <a:ea typeface="Arial"/>
                <a:cs typeface="Arial"/>
              </a:defRPr>
            </a:pPr>
            <a:r>
              <a:rPr sz="1500" b="0">
                <a:solidFill>
                  <a:srgbClr val="53636B"/>
                </a:solidFill>
                <a:latin typeface="Arial"/>
                <a:ea typeface="Arial"/>
                <a:cs typeface="Arial"/>
              </a:rPr>
              <a:t>Examples depend on licence, enabled features and organisational settings.</a:t>
            </a:r>
          </a:p>
        </p:txBody>
      </p:sp>
      <p:sp>
        <p:nvSpPr>
          <p:cNvPr id="5" name="slide-number">
            <a:extLst xmlns:a="http://schemas.openxmlformats.org/drawingml/2006/main">
              <a:ext uri="{FF2B5EF4-FFF2-40B4-BE49-F238E27FC236}">
                <a16:creationId xmlns:a16="http://schemas.microsoft.com/office/drawing/2014/main" id="{12630D87-F32B-4861-9688-4AD37F295630}"/>
              </a:ext>
            </a:extLst>
          </p:cNvPr>
          <p:cNvSpPr>
            <a:spLocks xmlns:a="http://schemas.openxmlformats.org/drawingml/2006/main" noGrp="1"/>
          </p:cNvSpPr>
          <p:nvPr/>
        </p:nvSpPr>
        <p:spPr>
          <a:xfrm xmlns:a="http://schemas.openxmlformats.org/drawingml/2006/main">
            <a:off x="11125200" y="628650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53636B"/>
                </a:solidFill>
                <a:latin typeface="Arial"/>
                <a:ea typeface="Arial"/>
                <a:cs typeface="Arial"/>
              </a:defRPr>
            </a:defPPr>
            <a:lvl1pPr algn="r">
              <a:buNone/>
              <a:defRPr sz="1275" b="0">
                <a:solidFill>
                  <a:srgbClr val="53636B"/>
                </a:solidFill>
                <a:latin typeface="Arial"/>
                <a:ea typeface="Arial"/>
                <a:cs typeface="Arial"/>
              </a:defRPr>
            </a:lvl1pPr>
            <a:lvl2pPr algn="r">
              <a:buNone/>
              <a:defRPr sz="1275" b="0">
                <a:solidFill>
                  <a:srgbClr val="53636B"/>
                </a:solidFill>
                <a:latin typeface="Arial"/>
                <a:ea typeface="Arial"/>
                <a:cs typeface="Arial"/>
              </a:defRPr>
            </a:lvl2pPr>
            <a:lvl3pPr algn="r">
              <a:buNone/>
              <a:defRPr sz="1275" b="0">
                <a:solidFill>
                  <a:srgbClr val="53636B"/>
                </a:solidFill>
                <a:latin typeface="Arial"/>
                <a:ea typeface="Arial"/>
                <a:cs typeface="Arial"/>
              </a:defRPr>
            </a:lvl3pPr>
            <a:lvl4pPr algn="r">
              <a:buNone/>
              <a:defRPr sz="1275" b="0">
                <a:solidFill>
                  <a:srgbClr val="53636B"/>
                </a:solidFill>
                <a:latin typeface="Arial"/>
                <a:ea typeface="Arial"/>
                <a:cs typeface="Arial"/>
              </a:defRPr>
            </a:lvl4pPr>
            <a:lvl5pPr algn="r">
              <a:buNone/>
              <a:defRPr sz="1275" b="0">
                <a:solidFill>
                  <a:srgbClr val="53636B"/>
                </a:solidFill>
                <a:latin typeface="Arial"/>
                <a:ea typeface="Arial"/>
                <a:cs typeface="Arial"/>
              </a:defRPr>
            </a:lvl5pPr>
            <a:lvl6pPr algn="r">
              <a:buNone/>
              <a:defRPr sz="1275" b="0">
                <a:solidFill>
                  <a:srgbClr val="53636B"/>
                </a:solidFill>
                <a:latin typeface="Arial"/>
                <a:ea typeface="Arial"/>
                <a:cs typeface="Arial"/>
              </a:defRPr>
            </a:lvl6pPr>
            <a:lvl7pPr algn="r">
              <a:buNone/>
              <a:defRPr sz="1275" b="0">
                <a:solidFill>
                  <a:srgbClr val="53636B"/>
                </a:solidFill>
                <a:latin typeface="Arial"/>
                <a:ea typeface="Arial"/>
                <a:cs typeface="Arial"/>
              </a:defRPr>
            </a:lvl7pPr>
            <a:lvl8pPr algn="r">
              <a:buNone/>
              <a:defRPr sz="1275" b="0">
                <a:solidFill>
                  <a:srgbClr val="53636B"/>
                </a:solidFill>
                <a:latin typeface="Arial"/>
                <a:ea typeface="Arial"/>
                <a:cs typeface="Arial"/>
              </a:defRPr>
            </a:lvl8pPr>
            <a:lvl9pPr algn="r">
              <a:buNone/>
              <a:defRPr sz="1275" b="0">
                <a:solidFill>
                  <a:srgbClr val="53636B"/>
                </a:solidFill>
                <a:latin typeface="Arial"/>
                <a:ea typeface="Arial"/>
                <a:cs typeface="Arial"/>
              </a:defRPr>
            </a:lvl9pPr>
          </a:lstStyle>
          <a:p xmlns:a="http://schemas.openxmlformats.org/drawingml/2006/main">
            <a:pPr algn="r">
              <a:buNone/>
              <a:defRPr sz="1275" b="0">
                <a:solidFill>
                  <a:srgbClr val="53636B"/>
                </a:solidFill>
                <a:latin typeface="Arial"/>
                <a:ea typeface="Arial"/>
                <a:cs typeface="Arial"/>
              </a:defRPr>
            </a:pPr>
            <a:r>
              <a:rPr sz="1275" b="0">
                <a:solidFill>
                  <a:srgbClr val="53636B"/>
                </a:solidFill>
                <a:latin typeface="Arial"/>
                <a:ea typeface="Arial"/>
                <a:cs typeface="Arial"/>
              </a:rPr>
              <a:t>6</a:t>
            </a:r>
          </a:p>
        </p:txBody>
      </p:sp>
    </p:spTree>
    <p:extLst>
      <p:ext uri="{BB962C8B-B14F-4D97-AF65-F5344CB8AC3E}">
        <p14:creationId xmlns:p14="http://schemas.microsoft.com/office/powerpoint/2010/main" val="1005490899"/>
      </p:ext>
    </p:extLst>
  </p:cSld>
</p:sld>
</file>

<file path=ppt/slides/slide6.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8" name="slide6-title">
            <a:extLst xmlns:a="http://schemas.openxmlformats.org/drawingml/2006/main">
              <a:ext uri="{FF2B5EF4-FFF2-40B4-BE49-F238E27FC236}">
                <a16:creationId xmlns:a16="http://schemas.microsoft.com/office/drawing/2014/main" id="{1370F98B-CCF6-4A34-BD0D-64331DF287A1}"/>
              </a:ext>
            </a:extLst>
          </p:cNvPr>
          <p:cNvSpPr>
            <a:spLocks xmlns:a="http://schemas.openxmlformats.org/drawingml/2006/main" noGrp="1"/>
          </p:cNvSpPr>
          <p:nvPr/>
        </p:nvSpPr>
        <p:spPr>
          <a:xfrm xmlns:a="http://schemas.openxmlformats.org/drawingml/2006/main">
            <a:off x="685800" y="71437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3300" b="1">
                <a:solidFill>
                  <a:srgbClr val="182B36"/>
                </a:solidFill>
                <a:latin typeface="Arial"/>
                <a:ea typeface="Arial"/>
                <a:cs typeface="Arial"/>
              </a:defRPr>
            </a:defPPr>
            <a:lvl1pPr>
              <a:buNone/>
              <a:defRPr sz="3300" b="1">
                <a:solidFill>
                  <a:srgbClr val="182B36"/>
                </a:solidFill>
                <a:latin typeface="Arial"/>
                <a:ea typeface="Arial"/>
                <a:cs typeface="Arial"/>
              </a:defRPr>
            </a:lvl1pPr>
            <a:lvl2pPr>
              <a:buNone/>
              <a:defRPr sz="3300" b="1">
                <a:solidFill>
                  <a:srgbClr val="182B36"/>
                </a:solidFill>
                <a:latin typeface="Arial"/>
                <a:ea typeface="Arial"/>
                <a:cs typeface="Arial"/>
              </a:defRPr>
            </a:lvl2pPr>
            <a:lvl3pPr>
              <a:buNone/>
              <a:defRPr sz="3300" b="1">
                <a:solidFill>
                  <a:srgbClr val="182B36"/>
                </a:solidFill>
                <a:latin typeface="Arial"/>
                <a:ea typeface="Arial"/>
                <a:cs typeface="Arial"/>
              </a:defRPr>
            </a:lvl3pPr>
            <a:lvl4pPr>
              <a:buNone/>
              <a:defRPr sz="3300" b="1">
                <a:solidFill>
                  <a:srgbClr val="182B36"/>
                </a:solidFill>
                <a:latin typeface="Arial"/>
                <a:ea typeface="Arial"/>
                <a:cs typeface="Arial"/>
              </a:defRPr>
            </a:lvl4pPr>
            <a:lvl5pPr>
              <a:buNone/>
              <a:defRPr sz="3300" b="1">
                <a:solidFill>
                  <a:srgbClr val="182B36"/>
                </a:solidFill>
                <a:latin typeface="Arial"/>
                <a:ea typeface="Arial"/>
                <a:cs typeface="Arial"/>
              </a:defRPr>
            </a:lvl5pPr>
            <a:lvl6pPr>
              <a:buNone/>
              <a:defRPr sz="3300" b="1">
                <a:solidFill>
                  <a:srgbClr val="182B36"/>
                </a:solidFill>
                <a:latin typeface="Arial"/>
                <a:ea typeface="Arial"/>
                <a:cs typeface="Arial"/>
              </a:defRPr>
            </a:lvl6pPr>
            <a:lvl7pPr>
              <a:buNone/>
              <a:defRPr sz="3300" b="1">
                <a:solidFill>
                  <a:srgbClr val="182B36"/>
                </a:solidFill>
                <a:latin typeface="Arial"/>
                <a:ea typeface="Arial"/>
                <a:cs typeface="Arial"/>
              </a:defRPr>
            </a:lvl7pPr>
            <a:lvl8pPr>
              <a:buNone/>
              <a:defRPr sz="3300" b="1">
                <a:solidFill>
                  <a:srgbClr val="182B36"/>
                </a:solidFill>
                <a:latin typeface="Arial"/>
                <a:ea typeface="Arial"/>
                <a:cs typeface="Arial"/>
              </a:defRPr>
            </a:lvl8pPr>
            <a:lvl9pPr>
              <a:buNone/>
              <a:defRPr sz="3300" b="1">
                <a:solidFill>
                  <a:srgbClr val="182B36"/>
                </a:solidFill>
                <a:latin typeface="Arial"/>
                <a:ea typeface="Arial"/>
                <a:cs typeface="Arial"/>
              </a:defRPr>
            </a:lvl9pPr>
          </a:lstStyle>
          <a:p xmlns:a="http://schemas.openxmlformats.org/drawingml/2006/main">
            <a:pPr>
              <a:buNone/>
              <a:defRPr sz="3300" b="1">
                <a:solidFill>
                  <a:srgbClr val="182B36"/>
                </a:solidFill>
                <a:latin typeface="Arial"/>
                <a:ea typeface="Arial"/>
                <a:cs typeface="Arial"/>
              </a:defRPr>
            </a:pPr>
            <a:r>
              <a:rPr sz="3300" b="1">
                <a:solidFill>
                  <a:srgbClr val="182B36"/>
                </a:solidFill>
                <a:latin typeface="Arial"/>
                <a:ea typeface="Arial"/>
                <a:cs typeface="Arial"/>
              </a:rPr>
              <a:t>Exercise: a hypothetical RCT</a:t>
            </a:r>
          </a:p>
        </p:txBody>
      </p:sp>
      <p:sp>
        <p:nvSpPr>
          <p:cNvPr id="2" name="exercise-heading">
            <a:extLst xmlns:a="http://schemas.openxmlformats.org/drawingml/2006/main">
              <a:ext uri="{FF2B5EF4-FFF2-40B4-BE49-F238E27FC236}">
                <a16:creationId xmlns:a16="http://schemas.microsoft.com/office/drawing/2014/main" id="{53F45C4B-7DE6-4779-ADFF-89D37360463C}"/>
              </a:ext>
            </a:extLst>
          </p:cNvPr>
          <p:cNvSpPr>
            <a:spLocks xmlns:a="http://schemas.openxmlformats.org/drawingml/2006/main" noGrp="1"/>
          </p:cNvSpPr>
          <p:nvPr/>
        </p:nvSpPr>
        <p:spPr>
          <a:xfrm xmlns:a="http://schemas.openxmlformats.org/drawingml/2006/main">
            <a:off x="685800" y="1838325"/>
            <a:ext cx="342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182B36"/>
                </a:solidFill>
                <a:latin typeface="Arial"/>
                <a:ea typeface="Arial"/>
                <a:cs typeface="Arial"/>
              </a:defRPr>
            </a:defPPr>
            <a:lvl1pPr>
              <a:buNone/>
              <a:defRPr sz="2400" b="1">
                <a:solidFill>
                  <a:srgbClr val="182B36"/>
                </a:solidFill>
                <a:latin typeface="Arial"/>
                <a:ea typeface="Arial"/>
                <a:cs typeface="Arial"/>
              </a:defRPr>
            </a:lvl1pPr>
            <a:lvl2pPr>
              <a:buNone/>
              <a:defRPr sz="2400" b="1">
                <a:solidFill>
                  <a:srgbClr val="182B36"/>
                </a:solidFill>
                <a:latin typeface="Arial"/>
                <a:ea typeface="Arial"/>
                <a:cs typeface="Arial"/>
              </a:defRPr>
            </a:lvl2pPr>
            <a:lvl3pPr>
              <a:buNone/>
              <a:defRPr sz="2400" b="1">
                <a:solidFill>
                  <a:srgbClr val="182B36"/>
                </a:solidFill>
                <a:latin typeface="Arial"/>
                <a:ea typeface="Arial"/>
                <a:cs typeface="Arial"/>
              </a:defRPr>
            </a:lvl3pPr>
            <a:lvl4pPr>
              <a:buNone/>
              <a:defRPr sz="2400" b="1">
                <a:solidFill>
                  <a:srgbClr val="182B36"/>
                </a:solidFill>
                <a:latin typeface="Arial"/>
                <a:ea typeface="Arial"/>
                <a:cs typeface="Arial"/>
              </a:defRPr>
            </a:lvl4pPr>
            <a:lvl5pPr>
              <a:buNone/>
              <a:defRPr sz="2400" b="1">
                <a:solidFill>
                  <a:srgbClr val="182B36"/>
                </a:solidFill>
                <a:latin typeface="Arial"/>
                <a:ea typeface="Arial"/>
                <a:cs typeface="Arial"/>
              </a:defRPr>
            </a:lvl5pPr>
            <a:lvl6pPr>
              <a:buNone/>
              <a:defRPr sz="2400" b="1">
                <a:solidFill>
                  <a:srgbClr val="182B36"/>
                </a:solidFill>
                <a:latin typeface="Arial"/>
                <a:ea typeface="Arial"/>
                <a:cs typeface="Arial"/>
              </a:defRPr>
            </a:lvl6pPr>
            <a:lvl7pPr>
              <a:buNone/>
              <a:defRPr sz="2400" b="1">
                <a:solidFill>
                  <a:srgbClr val="182B36"/>
                </a:solidFill>
                <a:latin typeface="Arial"/>
                <a:ea typeface="Arial"/>
                <a:cs typeface="Arial"/>
              </a:defRPr>
            </a:lvl7pPr>
            <a:lvl8pPr>
              <a:buNone/>
              <a:defRPr sz="2400" b="1">
                <a:solidFill>
                  <a:srgbClr val="182B36"/>
                </a:solidFill>
                <a:latin typeface="Arial"/>
                <a:ea typeface="Arial"/>
                <a:cs typeface="Arial"/>
              </a:defRPr>
            </a:lvl8pPr>
            <a:lvl9pPr>
              <a:buNone/>
              <a:defRPr sz="2400" b="1">
                <a:solidFill>
                  <a:srgbClr val="182B36"/>
                </a:solidFill>
                <a:latin typeface="Arial"/>
                <a:ea typeface="Arial"/>
                <a:cs typeface="Arial"/>
              </a:defRPr>
            </a:lvl9pPr>
          </a:lstStyle>
          <a:p xmlns:a="http://schemas.openxmlformats.org/drawingml/2006/main">
            <a:pPr>
              <a:buNone/>
              <a:defRPr sz="2400" b="1">
                <a:solidFill>
                  <a:srgbClr val="182B36"/>
                </a:solidFill>
                <a:latin typeface="Arial"/>
                <a:ea typeface="Arial"/>
                <a:cs typeface="Arial"/>
              </a:defRPr>
            </a:pPr>
            <a:r>
              <a:rPr sz="2400" b="1">
                <a:solidFill>
                  <a:srgbClr val="182B36"/>
                </a:solidFill>
                <a:latin typeface="Arial"/>
                <a:ea typeface="Arial"/>
                <a:cs typeface="Arial"/>
              </a:rPr>
              <a:t>The exercise</a:t>
            </a:r>
          </a:p>
        </p:txBody>
      </p:sp>
      <p:sp>
        <p:nvSpPr>
          <p:cNvPr id="3" name="exercise-purpose">
            <a:extLst xmlns:a="http://schemas.openxmlformats.org/drawingml/2006/main">
              <a:ext uri="{FF2B5EF4-FFF2-40B4-BE49-F238E27FC236}">
                <a16:creationId xmlns:a16="http://schemas.microsoft.com/office/drawing/2014/main" id="{14D8FFD8-C530-4478-A3E2-71C80D4654EB}"/>
              </a:ext>
            </a:extLst>
          </p:cNvPr>
          <p:cNvSpPr>
            <a:spLocks xmlns:a="http://schemas.openxmlformats.org/drawingml/2006/main" noGrp="1"/>
          </p:cNvSpPr>
          <p:nvPr/>
        </p:nvSpPr>
        <p:spPr>
          <a:xfrm xmlns:a="http://schemas.openxmlformats.org/drawingml/2006/main">
            <a:off x="685800" y="2428875"/>
            <a:ext cx="3429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0">
                <a:solidFill>
                  <a:srgbClr val="53636B"/>
                </a:solidFill>
                <a:latin typeface="Arial"/>
                <a:ea typeface="Arial"/>
                <a:cs typeface="Arial"/>
              </a:defRPr>
            </a:defPPr>
            <a:lvl1pPr>
              <a:buNone/>
              <a:defRPr sz="2025" b="0">
                <a:solidFill>
                  <a:srgbClr val="53636B"/>
                </a:solidFill>
                <a:latin typeface="Arial"/>
                <a:ea typeface="Arial"/>
                <a:cs typeface="Arial"/>
              </a:defRPr>
            </a:lvl1pPr>
            <a:lvl2pPr>
              <a:buNone/>
              <a:defRPr sz="2025" b="0">
                <a:solidFill>
                  <a:srgbClr val="53636B"/>
                </a:solidFill>
                <a:latin typeface="Arial"/>
                <a:ea typeface="Arial"/>
                <a:cs typeface="Arial"/>
              </a:defRPr>
            </a:lvl2pPr>
            <a:lvl3pPr>
              <a:buNone/>
              <a:defRPr sz="2025" b="0">
                <a:solidFill>
                  <a:srgbClr val="53636B"/>
                </a:solidFill>
                <a:latin typeface="Arial"/>
                <a:ea typeface="Arial"/>
                <a:cs typeface="Arial"/>
              </a:defRPr>
            </a:lvl3pPr>
            <a:lvl4pPr>
              <a:buNone/>
              <a:defRPr sz="2025" b="0">
                <a:solidFill>
                  <a:srgbClr val="53636B"/>
                </a:solidFill>
                <a:latin typeface="Arial"/>
                <a:ea typeface="Arial"/>
                <a:cs typeface="Arial"/>
              </a:defRPr>
            </a:lvl4pPr>
            <a:lvl5pPr>
              <a:buNone/>
              <a:defRPr sz="2025" b="0">
                <a:solidFill>
                  <a:srgbClr val="53636B"/>
                </a:solidFill>
                <a:latin typeface="Arial"/>
                <a:ea typeface="Arial"/>
                <a:cs typeface="Arial"/>
              </a:defRPr>
            </a:lvl5pPr>
            <a:lvl6pPr>
              <a:buNone/>
              <a:defRPr sz="2025" b="0">
                <a:solidFill>
                  <a:srgbClr val="53636B"/>
                </a:solidFill>
                <a:latin typeface="Arial"/>
                <a:ea typeface="Arial"/>
                <a:cs typeface="Arial"/>
              </a:defRPr>
            </a:lvl6pPr>
            <a:lvl7pPr>
              <a:buNone/>
              <a:defRPr sz="2025" b="0">
                <a:solidFill>
                  <a:srgbClr val="53636B"/>
                </a:solidFill>
                <a:latin typeface="Arial"/>
                <a:ea typeface="Arial"/>
                <a:cs typeface="Arial"/>
              </a:defRPr>
            </a:lvl7pPr>
            <a:lvl8pPr>
              <a:buNone/>
              <a:defRPr sz="2025" b="0">
                <a:solidFill>
                  <a:srgbClr val="53636B"/>
                </a:solidFill>
                <a:latin typeface="Arial"/>
                <a:ea typeface="Arial"/>
                <a:cs typeface="Arial"/>
              </a:defRPr>
            </a:lvl8pPr>
            <a:lvl9pPr>
              <a:buNone/>
              <a:defRPr sz="2025" b="0">
                <a:solidFill>
                  <a:srgbClr val="53636B"/>
                </a:solidFill>
                <a:latin typeface="Arial"/>
                <a:ea typeface="Arial"/>
                <a:cs typeface="Arial"/>
              </a:defRPr>
            </a:lvl9pPr>
          </a:lstStyle>
          <a:p xmlns:a="http://schemas.openxmlformats.org/drawingml/2006/main">
            <a:pPr>
              <a:buNone/>
              <a:defRPr sz="2025" b="0">
                <a:solidFill>
                  <a:srgbClr val="53636B"/>
                </a:solidFill>
                <a:latin typeface="Arial"/>
                <a:ea typeface="Arial"/>
                <a:cs typeface="Arial"/>
              </a:defRPr>
            </a:pPr>
            <a:r>
              <a:rPr sz="2025" b="0">
                <a:solidFill>
                  <a:srgbClr val="53636B"/>
                </a:solidFill>
                <a:latin typeface="Arial"/>
                <a:ea typeface="Arial"/>
                <a:cs typeface="Arial"/>
              </a:rPr>
              <a:t>Explore how Copilot completes a research task, then review and refine its output.</a:t>
            </a:r>
          </a:p>
        </p:txBody>
      </p:sp>
      <p:sp>
        <p:nvSpPr>
          <p:cNvPr id="4" name="exercise-instructions">
            <a:extLst xmlns:a="http://schemas.openxmlformats.org/drawingml/2006/main">
              <a:ext uri="{FF2B5EF4-FFF2-40B4-BE49-F238E27FC236}">
                <a16:creationId xmlns:a16="http://schemas.microsoft.com/office/drawing/2014/main" id="{D1F3E361-91C2-4F04-B008-8E6BA4316EB4}"/>
              </a:ext>
            </a:extLst>
          </p:cNvPr>
          <p:cNvSpPr>
            <a:spLocks xmlns:a="http://schemas.openxmlformats.org/drawingml/2006/main" noGrp="1"/>
          </p:cNvSpPr>
          <p:nvPr/>
        </p:nvSpPr>
        <p:spPr>
          <a:xfrm xmlns:a="http://schemas.openxmlformats.org/drawingml/2006/main">
            <a:off x="685800" y="3819525"/>
            <a:ext cx="3429000" cy="2305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1950" b="0">
                <a:solidFill>
                  <a:srgbClr val="182B36"/>
                </a:solidFill>
                <a:latin typeface="Arial"/>
                <a:ea typeface="Arial"/>
                <a:cs typeface="Arial"/>
              </a:defRPr>
            </a:defPPr>
            <a:lvl1pPr>
              <a:buNone/>
              <a:defRPr sz="1950" b="0">
                <a:solidFill>
                  <a:srgbClr val="182B36"/>
                </a:solidFill>
                <a:latin typeface="Arial"/>
                <a:ea typeface="Arial"/>
                <a:cs typeface="Arial"/>
              </a:defRPr>
            </a:lvl1pPr>
            <a:lvl2pPr>
              <a:buNone/>
              <a:defRPr sz="1950" b="0">
                <a:solidFill>
                  <a:srgbClr val="182B36"/>
                </a:solidFill>
                <a:latin typeface="Arial"/>
                <a:ea typeface="Arial"/>
                <a:cs typeface="Arial"/>
              </a:defRPr>
            </a:lvl2pPr>
            <a:lvl3pPr>
              <a:buNone/>
              <a:defRPr sz="1950" b="0">
                <a:solidFill>
                  <a:srgbClr val="182B36"/>
                </a:solidFill>
                <a:latin typeface="Arial"/>
                <a:ea typeface="Arial"/>
                <a:cs typeface="Arial"/>
              </a:defRPr>
            </a:lvl3pPr>
            <a:lvl4pPr>
              <a:buNone/>
              <a:defRPr sz="1950" b="0">
                <a:solidFill>
                  <a:srgbClr val="182B36"/>
                </a:solidFill>
                <a:latin typeface="Arial"/>
                <a:ea typeface="Arial"/>
                <a:cs typeface="Arial"/>
              </a:defRPr>
            </a:lvl4pPr>
            <a:lvl5pPr>
              <a:buNone/>
              <a:defRPr sz="1950" b="0">
                <a:solidFill>
                  <a:srgbClr val="182B36"/>
                </a:solidFill>
                <a:latin typeface="Arial"/>
                <a:ea typeface="Arial"/>
                <a:cs typeface="Arial"/>
              </a:defRPr>
            </a:lvl5pPr>
            <a:lvl6pPr>
              <a:buNone/>
              <a:defRPr sz="1950" b="0">
                <a:solidFill>
                  <a:srgbClr val="182B36"/>
                </a:solidFill>
                <a:latin typeface="Arial"/>
                <a:ea typeface="Arial"/>
                <a:cs typeface="Arial"/>
              </a:defRPr>
            </a:lvl6pPr>
            <a:lvl7pPr>
              <a:buNone/>
              <a:defRPr sz="1950" b="0">
                <a:solidFill>
                  <a:srgbClr val="182B36"/>
                </a:solidFill>
                <a:latin typeface="Arial"/>
                <a:ea typeface="Arial"/>
                <a:cs typeface="Arial"/>
              </a:defRPr>
            </a:lvl7pPr>
            <a:lvl8pPr>
              <a:buNone/>
              <a:defRPr sz="1950" b="0">
                <a:solidFill>
                  <a:srgbClr val="182B36"/>
                </a:solidFill>
                <a:latin typeface="Arial"/>
                <a:ea typeface="Arial"/>
                <a:cs typeface="Arial"/>
              </a:defRPr>
            </a:lvl8pPr>
            <a:lvl9pPr>
              <a:buNone/>
              <a:defRPr sz="1950" b="0">
                <a:solidFill>
                  <a:srgbClr val="182B36"/>
                </a:solidFill>
                <a:latin typeface="Arial"/>
                <a:ea typeface="Arial"/>
                <a:cs typeface="Arial"/>
              </a:defRPr>
            </a:lvl9pPr>
          </a:lstStyle>
          <a:p xmlns:a="http://schemas.openxmlformats.org/drawingml/2006/main">
            <a:pPr marL="228600" indent="-114300">
              <a:spcAft>
                <a:spcPts val="1600"/>
              </a:spcAft>
              <a:buChar char="•"/>
              <a:defRPr sz="1950" b="0">
                <a:solidFill>
                  <a:srgbClr val="182B36"/>
                </a:solidFill>
                <a:latin typeface="Arial"/>
                <a:ea typeface="Arial"/>
                <a:cs typeface="Arial"/>
              </a:defRPr>
            </a:pPr>
            <a:r>
              <a:rPr sz="1950" b="0">
                <a:solidFill>
                  <a:srgbClr val="182B36"/>
                </a:solidFill>
                <a:latin typeface="Arial"/>
                <a:ea typeface="Arial"/>
                <a:cs typeface="Arial"/>
              </a:rPr>
              <a:t>Start a new Copilot Chat conversation.</a:t>
            </a:r>
          </a:p>
          <a:p xmlns:a="http://schemas.openxmlformats.org/drawingml/2006/main">
            <a:pPr marL="228600" indent="-114300">
              <a:spcAft>
                <a:spcPts val="1600"/>
              </a:spcAft>
              <a:buChar char="•"/>
              <a:defRPr sz="1950" b="0">
                <a:solidFill>
                  <a:srgbClr val="182B36"/>
                </a:solidFill>
                <a:latin typeface="Arial"/>
                <a:ea typeface="Arial"/>
                <a:cs typeface="Arial"/>
              </a:defRPr>
            </a:pPr>
            <a:r>
              <a:rPr sz="1950" b="0">
                <a:solidFill>
                  <a:srgbClr val="182B36"/>
                </a:solidFill>
                <a:latin typeface="Arial"/>
                <a:ea typeface="Arial"/>
                <a:cs typeface="Arial"/>
              </a:rPr>
              <a:t>Enter the prompt on the right.</a:t>
            </a:r>
          </a:p>
          <a:p xmlns:a="http://schemas.openxmlformats.org/drawingml/2006/main">
            <a:pPr marL="228600" indent="-114300">
              <a:spcAft>
                <a:spcPts val="1600"/>
              </a:spcAft>
              <a:buChar char="•"/>
              <a:defRPr sz="1950" b="0">
                <a:solidFill>
                  <a:srgbClr val="182B36"/>
                </a:solidFill>
                <a:latin typeface="Arial"/>
                <a:ea typeface="Arial"/>
                <a:cs typeface="Arial"/>
              </a:defRPr>
            </a:pPr>
            <a:r>
              <a:rPr sz="1950" b="0">
                <a:solidFill>
                  <a:srgbClr val="182B36"/>
                </a:solidFill>
                <a:latin typeface="Arial"/>
                <a:ea typeface="Arial"/>
                <a:cs typeface="Arial"/>
              </a:rPr>
              <a:t>Inspect the output and request a revision.</a:t>
            </a:r>
          </a:p>
        </p:txBody>
      </p:sp>
      <p:sp>
        <p:nvSpPr>
          <p:cNvPr id="5" name="prompt-heading">
            <a:extLst xmlns:a="http://schemas.openxmlformats.org/drawingml/2006/main">
              <a:ext uri="{FF2B5EF4-FFF2-40B4-BE49-F238E27FC236}">
                <a16:creationId xmlns:a16="http://schemas.microsoft.com/office/drawing/2014/main" id="{18C31ADF-EFDE-4D72-82F1-AF35A6FBE7DC}"/>
              </a:ext>
            </a:extLst>
          </p:cNvPr>
          <p:cNvSpPr>
            <a:spLocks xmlns:a="http://schemas.openxmlformats.org/drawingml/2006/main" noGrp="1"/>
          </p:cNvSpPr>
          <p:nvPr/>
        </p:nvSpPr>
        <p:spPr>
          <a:xfrm xmlns:a="http://schemas.openxmlformats.org/drawingml/2006/main">
            <a:off x="4914900" y="1838325"/>
            <a:ext cx="6591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400" b="1">
                <a:solidFill>
                  <a:srgbClr val="076C70"/>
                </a:solidFill>
                <a:latin typeface="Arial"/>
                <a:ea typeface="Arial"/>
                <a:cs typeface="Arial"/>
              </a:defRPr>
            </a:defPPr>
            <a:lvl1pPr>
              <a:buNone/>
              <a:defRPr sz="2400" b="1">
                <a:solidFill>
                  <a:srgbClr val="076C70"/>
                </a:solidFill>
                <a:latin typeface="Arial"/>
                <a:ea typeface="Arial"/>
                <a:cs typeface="Arial"/>
              </a:defRPr>
            </a:lvl1pPr>
            <a:lvl2pPr>
              <a:buNone/>
              <a:defRPr sz="2400" b="1">
                <a:solidFill>
                  <a:srgbClr val="076C70"/>
                </a:solidFill>
                <a:latin typeface="Arial"/>
                <a:ea typeface="Arial"/>
                <a:cs typeface="Arial"/>
              </a:defRPr>
            </a:lvl2pPr>
            <a:lvl3pPr>
              <a:buNone/>
              <a:defRPr sz="2400" b="1">
                <a:solidFill>
                  <a:srgbClr val="076C70"/>
                </a:solidFill>
                <a:latin typeface="Arial"/>
                <a:ea typeface="Arial"/>
                <a:cs typeface="Arial"/>
              </a:defRPr>
            </a:lvl3pPr>
            <a:lvl4pPr>
              <a:buNone/>
              <a:defRPr sz="2400" b="1">
                <a:solidFill>
                  <a:srgbClr val="076C70"/>
                </a:solidFill>
                <a:latin typeface="Arial"/>
                <a:ea typeface="Arial"/>
                <a:cs typeface="Arial"/>
              </a:defRPr>
            </a:lvl4pPr>
            <a:lvl5pPr>
              <a:buNone/>
              <a:defRPr sz="2400" b="1">
                <a:solidFill>
                  <a:srgbClr val="076C70"/>
                </a:solidFill>
                <a:latin typeface="Arial"/>
                <a:ea typeface="Arial"/>
                <a:cs typeface="Arial"/>
              </a:defRPr>
            </a:lvl5pPr>
            <a:lvl6pPr>
              <a:buNone/>
              <a:defRPr sz="2400" b="1">
                <a:solidFill>
                  <a:srgbClr val="076C70"/>
                </a:solidFill>
                <a:latin typeface="Arial"/>
                <a:ea typeface="Arial"/>
                <a:cs typeface="Arial"/>
              </a:defRPr>
            </a:lvl6pPr>
            <a:lvl7pPr>
              <a:buNone/>
              <a:defRPr sz="2400" b="1">
                <a:solidFill>
                  <a:srgbClr val="076C70"/>
                </a:solidFill>
                <a:latin typeface="Arial"/>
                <a:ea typeface="Arial"/>
                <a:cs typeface="Arial"/>
              </a:defRPr>
            </a:lvl7pPr>
            <a:lvl8pPr>
              <a:buNone/>
              <a:defRPr sz="2400" b="1">
                <a:solidFill>
                  <a:srgbClr val="076C70"/>
                </a:solidFill>
                <a:latin typeface="Arial"/>
                <a:ea typeface="Arial"/>
                <a:cs typeface="Arial"/>
              </a:defRPr>
            </a:lvl8pPr>
            <a:lvl9pPr>
              <a:buNone/>
              <a:defRPr sz="2400" b="1">
                <a:solidFill>
                  <a:srgbClr val="076C70"/>
                </a:solidFill>
                <a:latin typeface="Arial"/>
                <a:ea typeface="Arial"/>
                <a:cs typeface="Arial"/>
              </a:defRPr>
            </a:lvl9pPr>
          </a:lstStyle>
          <a:p xmlns:a="http://schemas.openxmlformats.org/drawingml/2006/main">
            <a:pPr>
              <a:buNone/>
              <a:defRPr sz="2400" b="1">
                <a:solidFill>
                  <a:srgbClr val="076C70"/>
                </a:solidFill>
                <a:latin typeface="Arial"/>
                <a:ea typeface="Arial"/>
                <a:cs typeface="Arial"/>
              </a:defRPr>
            </a:pPr>
            <a:r>
              <a:rPr sz="2400" b="1">
                <a:solidFill>
                  <a:srgbClr val="076C70"/>
                </a:solidFill>
                <a:latin typeface="Arial"/>
                <a:ea typeface="Arial"/>
                <a:cs typeface="Arial"/>
              </a:rPr>
              <a:t>Prompt for Copilot Chat</a:t>
            </a:r>
          </a:p>
        </p:txBody>
      </p:sp>
      <p:sp>
        <p:nvSpPr>
          <p:cNvPr id="6" name="copilot-prompt">
            <a:extLst xmlns:a="http://schemas.openxmlformats.org/drawingml/2006/main">
              <a:ext uri="{FF2B5EF4-FFF2-40B4-BE49-F238E27FC236}">
                <a16:creationId xmlns:a16="http://schemas.microsoft.com/office/drawing/2014/main" id="{BD56669B-6E65-41B1-9196-0FC606869CDF}"/>
              </a:ext>
            </a:extLst>
          </p:cNvPr>
          <p:cNvSpPr>
            <a:spLocks xmlns:a="http://schemas.openxmlformats.org/drawingml/2006/main" noGrp="1"/>
          </p:cNvSpPr>
          <p:nvPr/>
        </p:nvSpPr>
        <p:spPr>
          <a:xfrm xmlns:a="http://schemas.openxmlformats.org/drawingml/2006/main">
            <a:off x="4914900" y="2428875"/>
            <a:ext cx="6591300" cy="3667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defRPr sz="2025" b="0">
                <a:solidFill>
                  <a:srgbClr val="182B36"/>
                </a:solidFill>
                <a:latin typeface="Arial"/>
                <a:ea typeface="Arial"/>
                <a:cs typeface="Arial"/>
              </a:defRPr>
            </a:defPPr>
            <a:lvl1pPr>
              <a:buNone/>
              <a:defRPr sz="2025" b="0">
                <a:solidFill>
                  <a:srgbClr val="182B36"/>
                </a:solidFill>
                <a:latin typeface="Arial"/>
                <a:ea typeface="Arial"/>
                <a:cs typeface="Arial"/>
              </a:defRPr>
            </a:lvl1pPr>
            <a:lvl2pPr>
              <a:buNone/>
              <a:defRPr sz="2025" b="0">
                <a:solidFill>
                  <a:srgbClr val="182B36"/>
                </a:solidFill>
                <a:latin typeface="Arial"/>
                <a:ea typeface="Arial"/>
                <a:cs typeface="Arial"/>
              </a:defRPr>
            </a:lvl2pPr>
            <a:lvl3pPr>
              <a:buNone/>
              <a:defRPr sz="2025" b="0">
                <a:solidFill>
                  <a:srgbClr val="182B36"/>
                </a:solidFill>
                <a:latin typeface="Arial"/>
                <a:ea typeface="Arial"/>
                <a:cs typeface="Arial"/>
              </a:defRPr>
            </a:lvl3pPr>
            <a:lvl4pPr>
              <a:buNone/>
              <a:defRPr sz="2025" b="0">
                <a:solidFill>
                  <a:srgbClr val="182B36"/>
                </a:solidFill>
                <a:latin typeface="Arial"/>
                <a:ea typeface="Arial"/>
                <a:cs typeface="Arial"/>
              </a:defRPr>
            </a:lvl4pPr>
            <a:lvl5pPr>
              <a:buNone/>
              <a:defRPr sz="2025" b="0">
                <a:solidFill>
                  <a:srgbClr val="182B36"/>
                </a:solidFill>
                <a:latin typeface="Arial"/>
                <a:ea typeface="Arial"/>
                <a:cs typeface="Arial"/>
              </a:defRPr>
            </a:lvl5pPr>
            <a:lvl6pPr>
              <a:buNone/>
              <a:defRPr sz="2025" b="0">
                <a:solidFill>
                  <a:srgbClr val="182B36"/>
                </a:solidFill>
                <a:latin typeface="Arial"/>
                <a:ea typeface="Arial"/>
                <a:cs typeface="Arial"/>
              </a:defRPr>
            </a:lvl6pPr>
            <a:lvl7pPr>
              <a:buNone/>
              <a:defRPr sz="2025" b="0">
                <a:solidFill>
                  <a:srgbClr val="182B36"/>
                </a:solidFill>
                <a:latin typeface="Arial"/>
                <a:ea typeface="Arial"/>
                <a:cs typeface="Arial"/>
              </a:defRPr>
            </a:lvl7pPr>
            <a:lvl8pPr>
              <a:buNone/>
              <a:defRPr sz="2025" b="0">
                <a:solidFill>
                  <a:srgbClr val="182B36"/>
                </a:solidFill>
                <a:latin typeface="Arial"/>
                <a:ea typeface="Arial"/>
                <a:cs typeface="Arial"/>
              </a:defRPr>
            </a:lvl8pPr>
            <a:lvl9pPr>
              <a:buNone/>
              <a:defRPr sz="2025" b="0">
                <a:solidFill>
                  <a:srgbClr val="182B36"/>
                </a:solidFill>
                <a:latin typeface="Arial"/>
                <a:ea typeface="Arial"/>
                <a:cs typeface="Arial"/>
              </a:defRPr>
            </a:lvl9pPr>
          </a:lstStyle>
          <a:p xmlns:a="http://schemas.openxmlformats.org/drawingml/2006/main">
            <a:pPr>
              <a:buNone/>
              <a:defRPr sz="2025" b="0">
                <a:solidFill>
                  <a:srgbClr val="182B36"/>
                </a:solidFill>
                <a:latin typeface="Arial"/>
                <a:ea typeface="Arial"/>
                <a:cs typeface="Arial"/>
              </a:defRPr>
            </a:pPr>
            <a:r>
              <a:rPr sz="2025" b="0">
                <a:solidFill>
                  <a:srgbClr val="182B36"/>
                </a:solidFill>
                <a:latin typeface="Arial"/>
                <a:ea typeface="Arial"/>
                <a:cs typeface="Arial"/>
              </a:rPr>
              <a:t>Simulate individual participant data for a hypothetical randomised controlled trial comparing an experimental treatment with a control on a continuous outcome.</a:t>
            </a:r>
          </a:p>
          <a:p xmlns:a="http://schemas.openxmlformats.org/drawingml/2006/main">
            <a:r>
              <a:t/>
            </a:r>
          </a:p>
          <a:p xmlns:a="http://schemas.openxmlformats.org/drawingml/2006/main">
            <a:pPr>
              <a:buNone/>
              <a:defRPr sz="2025" b="0">
                <a:solidFill>
                  <a:srgbClr val="182B36"/>
                </a:solidFill>
                <a:latin typeface="Arial"/>
                <a:ea typeface="Arial"/>
                <a:cs typeface="Arial"/>
              </a:defRPr>
            </a:pPr>
            <a:r>
              <a:rPr sz="2025" b="0">
                <a:solidFill>
                  <a:srgbClr val="182B36"/>
                </a:solidFill>
                <a:latin typeface="Arial"/>
                <a:ea typeface="Arial"/>
                <a:cs typeface="Arial"/>
              </a:rPr>
              <a:t>Perform an exploratory data analysis and summarise the results in a short PowerPoint presentation.</a:t>
            </a:r>
          </a:p>
          <a:p xmlns:a="http://schemas.openxmlformats.org/drawingml/2006/main">
            <a:r>
              <a:t/>
            </a:r>
          </a:p>
          <a:p xmlns:a="http://schemas.openxmlformats.org/drawingml/2006/main">
            <a:pPr>
              <a:buNone/>
              <a:defRPr sz="2025" b="0">
                <a:solidFill>
                  <a:srgbClr val="182B36"/>
                </a:solidFill>
                <a:latin typeface="Arial"/>
                <a:ea typeface="Arial"/>
                <a:cs typeface="Arial"/>
              </a:defRPr>
            </a:pPr>
            <a:r>
              <a:rPr sz="2025" b="0">
                <a:solidFill>
                  <a:srgbClr val="182B36"/>
                </a:solidFill>
                <a:latin typeface="Arial"/>
                <a:ea typeface="Arial"/>
                <a:cs typeface="Arial"/>
              </a:rPr>
              <a:t>State your simulation assumptions and provide the simulated dataset.</a:t>
            </a:r>
          </a:p>
        </p:txBody>
      </p:sp>
      <p:sp>
        <p:nvSpPr>
          <p:cNvPr id="7" name="slide-number">
            <a:extLst xmlns:a="http://schemas.openxmlformats.org/drawingml/2006/main">
              <a:ext uri="{FF2B5EF4-FFF2-40B4-BE49-F238E27FC236}">
                <a16:creationId xmlns:a16="http://schemas.microsoft.com/office/drawing/2014/main" id="{2DF72932-4F20-4625-8DDE-5EE6CC44AEFE}"/>
              </a:ext>
            </a:extLst>
          </p:cNvPr>
          <p:cNvSpPr>
            <a:spLocks xmlns:a="http://schemas.openxmlformats.org/drawingml/2006/main" noGrp="1"/>
          </p:cNvSpPr>
          <p:nvPr/>
        </p:nvSpPr>
        <p:spPr>
          <a:xfrm xmlns:a="http://schemas.openxmlformats.org/drawingml/2006/main">
            <a:off x="11125200" y="628650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53636B"/>
                </a:solidFill>
                <a:latin typeface="Arial"/>
                <a:ea typeface="Arial"/>
                <a:cs typeface="Arial"/>
              </a:defRPr>
            </a:defPPr>
            <a:lvl1pPr algn="r">
              <a:buNone/>
              <a:defRPr sz="1275" b="0">
                <a:solidFill>
                  <a:srgbClr val="53636B"/>
                </a:solidFill>
                <a:latin typeface="Arial"/>
                <a:ea typeface="Arial"/>
                <a:cs typeface="Arial"/>
              </a:defRPr>
            </a:lvl1pPr>
            <a:lvl2pPr algn="r">
              <a:buNone/>
              <a:defRPr sz="1275" b="0">
                <a:solidFill>
                  <a:srgbClr val="53636B"/>
                </a:solidFill>
                <a:latin typeface="Arial"/>
                <a:ea typeface="Arial"/>
                <a:cs typeface="Arial"/>
              </a:defRPr>
            </a:lvl2pPr>
            <a:lvl3pPr algn="r">
              <a:buNone/>
              <a:defRPr sz="1275" b="0">
                <a:solidFill>
                  <a:srgbClr val="53636B"/>
                </a:solidFill>
                <a:latin typeface="Arial"/>
                <a:ea typeface="Arial"/>
                <a:cs typeface="Arial"/>
              </a:defRPr>
            </a:lvl3pPr>
            <a:lvl4pPr algn="r">
              <a:buNone/>
              <a:defRPr sz="1275" b="0">
                <a:solidFill>
                  <a:srgbClr val="53636B"/>
                </a:solidFill>
                <a:latin typeface="Arial"/>
                <a:ea typeface="Arial"/>
                <a:cs typeface="Arial"/>
              </a:defRPr>
            </a:lvl4pPr>
            <a:lvl5pPr algn="r">
              <a:buNone/>
              <a:defRPr sz="1275" b="0">
                <a:solidFill>
                  <a:srgbClr val="53636B"/>
                </a:solidFill>
                <a:latin typeface="Arial"/>
                <a:ea typeface="Arial"/>
                <a:cs typeface="Arial"/>
              </a:defRPr>
            </a:lvl5pPr>
            <a:lvl6pPr algn="r">
              <a:buNone/>
              <a:defRPr sz="1275" b="0">
                <a:solidFill>
                  <a:srgbClr val="53636B"/>
                </a:solidFill>
                <a:latin typeface="Arial"/>
                <a:ea typeface="Arial"/>
                <a:cs typeface="Arial"/>
              </a:defRPr>
            </a:lvl6pPr>
            <a:lvl7pPr algn="r">
              <a:buNone/>
              <a:defRPr sz="1275" b="0">
                <a:solidFill>
                  <a:srgbClr val="53636B"/>
                </a:solidFill>
                <a:latin typeface="Arial"/>
                <a:ea typeface="Arial"/>
                <a:cs typeface="Arial"/>
              </a:defRPr>
            </a:lvl7pPr>
            <a:lvl8pPr algn="r">
              <a:buNone/>
              <a:defRPr sz="1275" b="0">
                <a:solidFill>
                  <a:srgbClr val="53636B"/>
                </a:solidFill>
                <a:latin typeface="Arial"/>
                <a:ea typeface="Arial"/>
                <a:cs typeface="Arial"/>
              </a:defRPr>
            </a:lvl8pPr>
            <a:lvl9pPr algn="r">
              <a:buNone/>
              <a:defRPr sz="1275" b="0">
                <a:solidFill>
                  <a:srgbClr val="53636B"/>
                </a:solidFill>
                <a:latin typeface="Arial"/>
                <a:ea typeface="Arial"/>
                <a:cs typeface="Arial"/>
              </a:defRPr>
            </a:lvl9pPr>
          </a:lstStyle>
          <a:p xmlns:a="http://schemas.openxmlformats.org/drawingml/2006/main">
            <a:pPr algn="r">
              <a:buNone/>
              <a:defRPr sz="1275" b="0">
                <a:solidFill>
                  <a:srgbClr val="53636B"/>
                </a:solidFill>
                <a:latin typeface="Arial"/>
                <a:ea typeface="Arial"/>
                <a:cs typeface="Arial"/>
              </a:defRPr>
            </a:pPr>
            <a:r>
              <a:rPr sz="1275" b="0">
                <a:solidFill>
                  <a:srgbClr val="53636B"/>
                </a:solidFill>
                <a:latin typeface="Arial"/>
                <a:ea typeface="Arial"/>
                <a:cs typeface="Arial"/>
              </a:rPr>
              <a:t>7</a:t>
            </a:r>
          </a:p>
        </p:txBody>
      </p:sp>
    </p:spTree>
    <p:extLst>
      <p:ext uri="{BB962C8B-B14F-4D97-AF65-F5344CB8AC3E}">
        <p14:creationId xmlns:p14="http://schemas.microsoft.com/office/powerpoint/2010/main" val="1494338182"/>
      </p:ext>
    </p:extLst>
  </p:cSld>
</p:sld>
</file>

<file path=ppt/slides/slide7.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4" name="Discussing the results">
            <a:extLst xmlns:a="http://schemas.openxmlformats.org/drawingml/2006/main">
              <a:ext uri="{FF2B5EF4-FFF2-40B4-BE49-F238E27FC236}">
                <a16:creationId xmlns:a16="http://schemas.microsoft.com/office/drawing/2014/main" id="{13397468-4CDD-409A-9303-C957677AA4F2}"/>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defRPr sz="3300" b="1">
                <a:solidFill>
                  <a:srgbClr val="182B36"/>
                </a:solidFill>
                <a:latin typeface="Arial"/>
                <a:ea typeface="Arial"/>
                <a:cs typeface="Arial"/>
              </a:defRPr>
            </a:defPPr>
            <a:lvl1pPr>
              <a:buNone/>
              <a:defRPr sz="3300" b="1">
                <a:solidFill>
                  <a:srgbClr val="182B36"/>
                </a:solidFill>
                <a:latin typeface="Arial"/>
                <a:ea typeface="Arial"/>
                <a:cs typeface="Arial"/>
              </a:defRPr>
            </a:lvl1pPr>
            <a:lvl2pPr>
              <a:buNone/>
              <a:defRPr sz="3300" b="1">
                <a:solidFill>
                  <a:srgbClr val="182B36"/>
                </a:solidFill>
                <a:latin typeface="Arial"/>
                <a:ea typeface="Arial"/>
                <a:cs typeface="Arial"/>
              </a:defRPr>
            </a:lvl2pPr>
            <a:lvl3pPr>
              <a:buNone/>
              <a:defRPr sz="3300" b="1">
                <a:solidFill>
                  <a:srgbClr val="182B36"/>
                </a:solidFill>
                <a:latin typeface="Arial"/>
                <a:ea typeface="Arial"/>
                <a:cs typeface="Arial"/>
              </a:defRPr>
            </a:lvl3pPr>
            <a:lvl4pPr>
              <a:buNone/>
              <a:defRPr sz="3300" b="1">
                <a:solidFill>
                  <a:srgbClr val="182B36"/>
                </a:solidFill>
                <a:latin typeface="Arial"/>
                <a:ea typeface="Arial"/>
                <a:cs typeface="Arial"/>
              </a:defRPr>
            </a:lvl4pPr>
            <a:lvl5pPr>
              <a:buNone/>
              <a:defRPr sz="3300" b="1">
                <a:solidFill>
                  <a:srgbClr val="182B36"/>
                </a:solidFill>
                <a:latin typeface="Arial"/>
                <a:ea typeface="Arial"/>
                <a:cs typeface="Arial"/>
              </a:defRPr>
            </a:lvl5pPr>
            <a:lvl6pPr>
              <a:buNone/>
              <a:defRPr sz="3300" b="1">
                <a:solidFill>
                  <a:srgbClr val="182B36"/>
                </a:solidFill>
                <a:latin typeface="Arial"/>
                <a:ea typeface="Arial"/>
                <a:cs typeface="Arial"/>
              </a:defRPr>
            </a:lvl6pPr>
            <a:lvl7pPr>
              <a:buNone/>
              <a:defRPr sz="3300" b="1">
                <a:solidFill>
                  <a:srgbClr val="182B36"/>
                </a:solidFill>
                <a:latin typeface="Arial"/>
                <a:ea typeface="Arial"/>
                <a:cs typeface="Arial"/>
              </a:defRPr>
            </a:lvl7pPr>
            <a:lvl8pPr>
              <a:buNone/>
              <a:defRPr sz="3300" b="1">
                <a:solidFill>
                  <a:srgbClr val="182B36"/>
                </a:solidFill>
                <a:latin typeface="Arial"/>
                <a:ea typeface="Arial"/>
                <a:cs typeface="Arial"/>
              </a:defRPr>
            </a:lvl8pPr>
            <a:lvl9pPr>
              <a:buNone/>
              <a:defRPr sz="3300" b="1">
                <a:solidFill>
                  <a:srgbClr val="182B36"/>
                </a:solidFill>
                <a:latin typeface="Arial"/>
                <a:ea typeface="Arial"/>
                <a:cs typeface="Arial"/>
              </a:defRPr>
            </a:lvl9pPr>
          </a:lstStyle>
          <a:p xmlns:a="http://schemas.openxmlformats.org/drawingml/2006/main">
            <a:pPr>
              <a:buNone/>
              <a:defRPr sz="3300" b="1">
                <a:solidFill>
                  <a:srgbClr val="182B36"/>
                </a:solidFill>
                <a:latin typeface="Arial"/>
                <a:ea typeface="Arial"/>
                <a:cs typeface="Arial"/>
              </a:defRPr>
            </a:pPr>
            <a:r>
              <a:rPr sz="3300" b="1">
                <a:solidFill>
                  <a:srgbClr val="182B36"/>
                </a:solidFill>
                <a:latin typeface="Arial"/>
                <a:ea typeface="Arial"/>
                <a:cs typeface="Arial"/>
              </a:rPr>
              <a:t>Discussing the results</a:t>
            </a:r>
          </a:p>
        </p:txBody>
      </p:sp>
      <p:sp>
        <p:nvSpPr>
          <p:cNvPr id="2" name="9">
            <a:extLst xmlns:a="http://schemas.openxmlformats.org/drawingml/2006/main">
              <a:ext uri="{FF2B5EF4-FFF2-40B4-BE49-F238E27FC236}">
                <a16:creationId xmlns:a16="http://schemas.microsoft.com/office/drawing/2014/main" id="{11595DC5-5F1F-466E-83DE-709511D4D190}"/>
              </a:ext>
            </a:extLst>
          </p:cNvPr>
          <p:cNvSpPr>
            <a:spLocks xmlns:a="http://schemas.openxmlformats.org/drawingml/2006/main" noGrp="1"/>
          </p:cNvSpPr>
          <p:nvPr/>
        </p:nvSpPr>
        <p:spPr>
          <a:xfrm xmlns:a="http://schemas.openxmlformats.org/drawingml/2006/main">
            <a:off x="11125200" y="62865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defPPr algn="r">
              <a:defRPr sz="1275" b="0">
                <a:solidFill>
                  <a:srgbClr val="53636B"/>
                </a:solidFill>
                <a:latin typeface="Arial"/>
                <a:ea typeface="Arial"/>
                <a:cs typeface="Arial"/>
              </a:defRPr>
            </a:defPPr>
            <a:lvl1pPr algn="r">
              <a:buNone/>
              <a:defRPr sz="1275" b="0">
                <a:solidFill>
                  <a:srgbClr val="53636B"/>
                </a:solidFill>
                <a:latin typeface="Arial"/>
                <a:ea typeface="Arial"/>
                <a:cs typeface="Arial"/>
              </a:defRPr>
            </a:lvl1pPr>
            <a:lvl2pPr algn="r">
              <a:buNone/>
              <a:defRPr sz="1275" b="0">
                <a:solidFill>
                  <a:srgbClr val="53636B"/>
                </a:solidFill>
                <a:latin typeface="Arial"/>
                <a:ea typeface="Arial"/>
                <a:cs typeface="Arial"/>
              </a:defRPr>
            </a:lvl2pPr>
            <a:lvl3pPr algn="r">
              <a:buNone/>
              <a:defRPr sz="1275" b="0">
                <a:solidFill>
                  <a:srgbClr val="53636B"/>
                </a:solidFill>
                <a:latin typeface="Arial"/>
                <a:ea typeface="Arial"/>
                <a:cs typeface="Arial"/>
              </a:defRPr>
            </a:lvl3pPr>
            <a:lvl4pPr algn="r">
              <a:buNone/>
              <a:defRPr sz="1275" b="0">
                <a:solidFill>
                  <a:srgbClr val="53636B"/>
                </a:solidFill>
                <a:latin typeface="Arial"/>
                <a:ea typeface="Arial"/>
                <a:cs typeface="Arial"/>
              </a:defRPr>
            </a:lvl4pPr>
            <a:lvl5pPr algn="r">
              <a:buNone/>
              <a:defRPr sz="1275" b="0">
                <a:solidFill>
                  <a:srgbClr val="53636B"/>
                </a:solidFill>
                <a:latin typeface="Arial"/>
                <a:ea typeface="Arial"/>
                <a:cs typeface="Arial"/>
              </a:defRPr>
            </a:lvl5pPr>
            <a:lvl6pPr algn="r">
              <a:buNone/>
              <a:defRPr sz="1275" b="0">
                <a:solidFill>
                  <a:srgbClr val="53636B"/>
                </a:solidFill>
                <a:latin typeface="Arial"/>
                <a:ea typeface="Arial"/>
                <a:cs typeface="Arial"/>
              </a:defRPr>
            </a:lvl6pPr>
            <a:lvl7pPr algn="r">
              <a:buNone/>
              <a:defRPr sz="1275" b="0">
                <a:solidFill>
                  <a:srgbClr val="53636B"/>
                </a:solidFill>
                <a:latin typeface="Arial"/>
                <a:ea typeface="Arial"/>
                <a:cs typeface="Arial"/>
              </a:defRPr>
            </a:lvl7pPr>
            <a:lvl8pPr algn="r">
              <a:buNone/>
              <a:defRPr sz="1275" b="0">
                <a:solidFill>
                  <a:srgbClr val="53636B"/>
                </a:solidFill>
                <a:latin typeface="Arial"/>
                <a:ea typeface="Arial"/>
                <a:cs typeface="Arial"/>
              </a:defRPr>
            </a:lvl8pPr>
            <a:lvl9pPr algn="r">
              <a:buNone/>
              <a:defRPr sz="1275" b="0">
                <a:solidFill>
                  <a:srgbClr val="53636B"/>
                </a:solidFill>
                <a:latin typeface="Arial"/>
                <a:ea typeface="Arial"/>
                <a:cs typeface="Arial"/>
              </a:defRPr>
            </a:lvl9pPr>
          </a:lstStyle>
          <a:p xmlns:a="http://schemas.openxmlformats.org/drawingml/2006/main">
            <a:pPr algn="r">
              <a:buNone/>
              <a:defRPr sz="1275" b="0">
                <a:solidFill>
                  <a:srgbClr val="53636B"/>
                </a:solidFill>
                <a:latin typeface="Arial"/>
                <a:ea typeface="Arial"/>
                <a:cs typeface="Arial"/>
              </a:defRPr>
            </a:pPr>
            <a:r>
              <a:rPr sz="1275" b="0">
                <a:solidFill>
                  <a:srgbClr val="53636B"/>
                </a:solidFill>
                <a:latin typeface="Arial"/>
                <a:ea typeface="Arial"/>
                <a:cs typeface="Arial"/>
              </a:rPr>
              <a:t>8</a:t>
            </a:r>
          </a:p>
        </p:txBody>
      </p:sp>
      <p:sp>
        <p:nvSpPr>
          <p:cNvPr id="3" name="Discussion questions">
            <a:extLst xmlns:a="http://schemas.openxmlformats.org/drawingml/2006/main">
              <a:ext uri="{FF2B5EF4-FFF2-40B4-BE49-F238E27FC236}">
                <a16:creationId xmlns:a16="http://schemas.microsoft.com/office/drawing/2014/main" id="{8D985415-53BD-44EC-98DB-3963CBB2B9C8}"/>
              </a:ext>
            </a:extLst>
          </p:cNvPr>
          <p:cNvSpPr>
            <a:spLocks xmlns:a="http://schemas.openxmlformats.org/drawingml/2006/main" noGrp="1"/>
          </p:cNvSpPr>
          <p:nvPr/>
        </p:nvSpPr>
        <p:spPr>
          <a:xfrm xmlns:a="http://schemas.openxmlformats.org/drawingml/2006/main">
            <a:off x="685800" y="1809750"/>
            <a:ext cx="10820400" cy="3905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182B36"/>
                </a:solidFill>
                <a:latin typeface="Arial"/>
                <a:ea typeface="Arial"/>
                <a:cs typeface="Arial"/>
              </a:defRPr>
            </a:defPPr>
            <a:lvl1pPr>
              <a:buNone/>
              <a:defRPr sz="2400" b="0">
                <a:solidFill>
                  <a:srgbClr val="182B36"/>
                </a:solidFill>
                <a:latin typeface="Arial"/>
                <a:ea typeface="Arial"/>
                <a:cs typeface="Arial"/>
              </a:defRPr>
            </a:lvl1pPr>
            <a:lvl2pPr>
              <a:buNone/>
              <a:defRPr sz="2400" b="0">
                <a:solidFill>
                  <a:srgbClr val="182B36"/>
                </a:solidFill>
                <a:latin typeface="Arial"/>
                <a:ea typeface="Arial"/>
                <a:cs typeface="Arial"/>
              </a:defRPr>
            </a:lvl2pPr>
            <a:lvl3pPr>
              <a:buNone/>
              <a:defRPr sz="2400" b="0">
                <a:solidFill>
                  <a:srgbClr val="182B36"/>
                </a:solidFill>
                <a:latin typeface="Arial"/>
                <a:ea typeface="Arial"/>
                <a:cs typeface="Arial"/>
              </a:defRPr>
            </a:lvl3pPr>
            <a:lvl4pPr>
              <a:buNone/>
              <a:defRPr sz="2400" b="0">
                <a:solidFill>
                  <a:srgbClr val="182B36"/>
                </a:solidFill>
                <a:latin typeface="Arial"/>
                <a:ea typeface="Arial"/>
                <a:cs typeface="Arial"/>
              </a:defRPr>
            </a:lvl4pPr>
            <a:lvl5pPr>
              <a:buNone/>
              <a:defRPr sz="2400" b="0">
                <a:solidFill>
                  <a:srgbClr val="182B36"/>
                </a:solidFill>
                <a:latin typeface="Arial"/>
                <a:ea typeface="Arial"/>
                <a:cs typeface="Arial"/>
              </a:defRPr>
            </a:lvl5pPr>
            <a:lvl6pPr>
              <a:buNone/>
              <a:defRPr sz="2400" b="0">
                <a:solidFill>
                  <a:srgbClr val="182B36"/>
                </a:solidFill>
                <a:latin typeface="Arial"/>
                <a:ea typeface="Arial"/>
                <a:cs typeface="Arial"/>
              </a:defRPr>
            </a:lvl6pPr>
            <a:lvl7pPr>
              <a:buNone/>
              <a:defRPr sz="2400" b="0">
                <a:solidFill>
                  <a:srgbClr val="182B36"/>
                </a:solidFill>
                <a:latin typeface="Arial"/>
                <a:ea typeface="Arial"/>
                <a:cs typeface="Arial"/>
              </a:defRPr>
            </a:lvl7pPr>
            <a:lvl8pPr>
              <a:buNone/>
              <a:defRPr sz="2400" b="0">
                <a:solidFill>
                  <a:srgbClr val="182B36"/>
                </a:solidFill>
                <a:latin typeface="Arial"/>
                <a:ea typeface="Arial"/>
                <a:cs typeface="Arial"/>
              </a:defRPr>
            </a:lvl8pPr>
            <a:lvl9pPr>
              <a:buNone/>
              <a:defRPr sz="2400" b="0">
                <a:solidFill>
                  <a:srgbClr val="182B36"/>
                </a:solidFill>
                <a:latin typeface="Arial"/>
                <a:ea typeface="Arial"/>
                <a:cs typeface="Arial"/>
              </a:defRPr>
            </a:lvl9pPr>
          </a:lstStyle>
          <a:p xmlns:a="http://schemas.openxmlformats.org/drawingml/2006/main">
            <a:pPr marL="304800" indent="-152400">
              <a:spcAft>
                <a:spcPts val="2400"/>
              </a:spcAft>
              <a:buChar char="•"/>
              <a:defRPr sz="2400" b="0">
                <a:solidFill>
                  <a:srgbClr val="182B36"/>
                </a:solidFill>
                <a:latin typeface="Arial"/>
                <a:ea typeface="Arial"/>
                <a:cs typeface="Arial"/>
              </a:defRPr>
            </a:pPr>
            <a:r>
              <a:rPr sz="2400" b="0">
                <a:solidFill>
                  <a:srgbClr val="182B36"/>
                </a:solidFill>
                <a:latin typeface="Arial"/>
                <a:ea typeface="Arial"/>
                <a:cs typeface="Arial"/>
              </a:rPr>
              <a:t>What did Copilot produce, and did it meet your expectations?</a:t>
            </a:r>
          </a:p>
          <a:p xmlns:a="http://schemas.openxmlformats.org/drawingml/2006/main">
            <a:pPr marL="304800" indent="-152400">
              <a:spcAft>
                <a:spcPts val="2400"/>
              </a:spcAft>
              <a:buChar char="•"/>
              <a:defRPr sz="2400" b="0">
                <a:solidFill>
                  <a:srgbClr val="182B36"/>
                </a:solidFill>
                <a:latin typeface="Arial"/>
                <a:ea typeface="Arial"/>
                <a:cs typeface="Arial"/>
              </a:defRPr>
            </a:pPr>
            <a:r>
              <a:rPr sz="2400" b="0">
                <a:solidFill>
                  <a:srgbClr val="182B36"/>
                </a:solidFill>
                <a:latin typeface="Arial"/>
                <a:ea typeface="Arial"/>
                <a:cs typeface="Arial"/>
              </a:rPr>
              <a:t>Which decisions did Copilot make, and were you happy with those choices?</a:t>
            </a:r>
          </a:p>
          <a:p xmlns:a="http://schemas.openxmlformats.org/drawingml/2006/main">
            <a:pPr marL="304800" indent="-152400">
              <a:spcAft>
                <a:spcPts val="2400"/>
              </a:spcAft>
              <a:buChar char="•"/>
              <a:defRPr sz="2400" b="0">
                <a:solidFill>
                  <a:srgbClr val="182B36"/>
                </a:solidFill>
                <a:latin typeface="Arial"/>
                <a:ea typeface="Arial"/>
                <a:cs typeface="Arial"/>
              </a:defRPr>
            </a:pPr>
            <a:r>
              <a:rPr sz="2400" b="0">
                <a:solidFill>
                  <a:srgbClr val="182B36"/>
                </a:solidFill>
                <a:latin typeface="Arial"/>
                <a:ea typeface="Arial"/>
                <a:cs typeface="Arial"/>
              </a:rPr>
              <a:t>What did you clarify or change to improve the result?</a:t>
            </a:r>
          </a:p>
          <a:p xmlns:a="http://schemas.openxmlformats.org/drawingml/2006/main">
            <a:pPr marL="304800" indent="-152400">
              <a:spcAft>
                <a:spcPts val="2400"/>
              </a:spcAft>
              <a:buChar char="•"/>
              <a:defRPr sz="2400" b="0">
                <a:solidFill>
                  <a:srgbClr val="182B36"/>
                </a:solidFill>
                <a:latin typeface="Arial"/>
                <a:ea typeface="Arial"/>
                <a:cs typeface="Arial"/>
              </a:defRPr>
            </a:pPr>
            <a:r>
              <a:rPr sz="2400" b="0">
                <a:solidFill>
                  <a:srgbClr val="182B36"/>
                </a:solidFill>
                <a:latin typeface="Arial"/>
                <a:ea typeface="Arial"/>
                <a:cs typeface="Arial"/>
              </a:rPr>
              <a:t>Which instructions would you want it to remember for similar tasks?</a:t>
            </a:r>
          </a:p>
        </p:txBody>
      </p:sp>
    </p:spTree>
    <p:extLst>
      <p:ext uri="{BB962C8B-B14F-4D97-AF65-F5344CB8AC3E}">
        <p14:creationId xmlns:p14="http://schemas.microsoft.com/office/powerpoint/2010/main" val="84578979"/>
      </p:ext>
    </p:extLst>
  </p:cSld>
</p:sld>
</file>

<file path=ppt/slides/slide8.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5" name="slide5-title">
            <a:extLst xmlns:a="http://schemas.openxmlformats.org/drawingml/2006/main">
              <a:ext uri="{FF2B5EF4-FFF2-40B4-BE49-F238E27FC236}">
                <a16:creationId xmlns:a16="http://schemas.microsoft.com/office/drawing/2014/main" id="{A02D6BA8-F99A-46EC-A336-3F578BF291F4}"/>
              </a:ext>
            </a:extLst>
          </p:cNvPr>
          <p:cNvSpPr>
            <a:spLocks xmlns:a="http://schemas.openxmlformats.org/drawingml/2006/main" noGrp="1"/>
          </p:cNvSpPr>
          <p:nvPr/>
        </p:nvSpPr>
        <p:spPr>
          <a:xfrm xmlns:a="http://schemas.openxmlformats.org/drawingml/2006/main">
            <a:off x="685800" y="457200"/>
            <a:ext cx="108204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3300" b="1">
                <a:solidFill>
                  <a:srgbClr val="182B36"/>
                </a:solidFill>
                <a:latin typeface="Arial"/>
                <a:ea typeface="Arial"/>
                <a:cs typeface="Arial"/>
              </a:defRPr>
            </a:defPPr>
            <a:lvl1pPr>
              <a:buNone/>
              <a:defRPr sz="3300" b="1">
                <a:solidFill>
                  <a:srgbClr val="182B36"/>
                </a:solidFill>
                <a:latin typeface="Arial"/>
                <a:ea typeface="Arial"/>
                <a:cs typeface="Arial"/>
              </a:defRPr>
            </a:lvl1pPr>
            <a:lvl2pPr>
              <a:buNone/>
              <a:defRPr sz="3300" b="1">
                <a:solidFill>
                  <a:srgbClr val="182B36"/>
                </a:solidFill>
                <a:latin typeface="Arial"/>
                <a:ea typeface="Arial"/>
                <a:cs typeface="Arial"/>
              </a:defRPr>
            </a:lvl2pPr>
            <a:lvl3pPr>
              <a:buNone/>
              <a:defRPr sz="3300" b="1">
                <a:solidFill>
                  <a:srgbClr val="182B36"/>
                </a:solidFill>
                <a:latin typeface="Arial"/>
                <a:ea typeface="Arial"/>
                <a:cs typeface="Arial"/>
              </a:defRPr>
            </a:lvl3pPr>
            <a:lvl4pPr>
              <a:buNone/>
              <a:defRPr sz="3300" b="1">
                <a:solidFill>
                  <a:srgbClr val="182B36"/>
                </a:solidFill>
                <a:latin typeface="Arial"/>
                <a:ea typeface="Arial"/>
                <a:cs typeface="Arial"/>
              </a:defRPr>
            </a:lvl4pPr>
            <a:lvl5pPr>
              <a:buNone/>
              <a:defRPr sz="3300" b="1">
                <a:solidFill>
                  <a:srgbClr val="182B36"/>
                </a:solidFill>
                <a:latin typeface="Arial"/>
                <a:ea typeface="Arial"/>
                <a:cs typeface="Arial"/>
              </a:defRPr>
            </a:lvl5pPr>
            <a:lvl6pPr>
              <a:buNone/>
              <a:defRPr sz="3300" b="1">
                <a:solidFill>
                  <a:srgbClr val="182B36"/>
                </a:solidFill>
                <a:latin typeface="Arial"/>
                <a:ea typeface="Arial"/>
                <a:cs typeface="Arial"/>
              </a:defRPr>
            </a:lvl6pPr>
            <a:lvl7pPr>
              <a:buNone/>
              <a:defRPr sz="3300" b="1">
                <a:solidFill>
                  <a:srgbClr val="182B36"/>
                </a:solidFill>
                <a:latin typeface="Arial"/>
                <a:ea typeface="Arial"/>
                <a:cs typeface="Arial"/>
              </a:defRPr>
            </a:lvl7pPr>
            <a:lvl8pPr>
              <a:buNone/>
              <a:defRPr sz="3300" b="1">
                <a:solidFill>
                  <a:srgbClr val="182B36"/>
                </a:solidFill>
                <a:latin typeface="Arial"/>
                <a:ea typeface="Arial"/>
                <a:cs typeface="Arial"/>
              </a:defRPr>
            </a:lvl8pPr>
            <a:lvl9pPr>
              <a:buNone/>
              <a:defRPr sz="3300" b="1">
                <a:solidFill>
                  <a:srgbClr val="182B36"/>
                </a:solidFill>
                <a:latin typeface="Arial"/>
                <a:ea typeface="Arial"/>
                <a:cs typeface="Arial"/>
              </a:defRPr>
            </a:lvl9pPr>
          </a:lstStyle>
          <a:p xmlns:a="http://schemas.openxmlformats.org/drawingml/2006/main">
            <a:pPr>
              <a:buNone/>
              <a:defRPr sz="3300" b="1">
                <a:solidFill>
                  <a:srgbClr val="182B36"/>
                </a:solidFill>
                <a:latin typeface="Arial"/>
                <a:ea typeface="Arial"/>
                <a:cs typeface="Arial"/>
              </a:defRPr>
            </a:pPr>
            <a:r>
              <a:rPr sz="3300" b="1">
                <a:solidFill>
                  <a:srgbClr val="182B36"/>
                </a:solidFill>
                <a:latin typeface="Arial"/>
                <a:ea typeface="Arial"/>
                <a:cs typeface="Arial"/>
              </a:rPr>
              <a:t>The model</a:t>
            </a:r>
          </a:p>
        </p:txBody>
      </p:sp>
      <p:sp>
        <p:nvSpPr>
          <p:cNvPr id="2" name="slide5-context">
            <a:extLst xmlns:a="http://schemas.openxmlformats.org/drawingml/2006/main">
              <a:ext uri="{FF2B5EF4-FFF2-40B4-BE49-F238E27FC236}">
                <a16:creationId xmlns:a16="http://schemas.microsoft.com/office/drawing/2014/main" id="{492B68E0-E22F-4DBE-BB05-F6E9082B9AD3}"/>
              </a:ext>
            </a:extLst>
          </p:cNvPr>
          <p:cNvSpPr>
            <a:spLocks xmlns:a="http://schemas.openxmlformats.org/drawingml/2006/main" noGrp="1"/>
          </p:cNvSpPr>
          <p:nvPr/>
        </p:nvSpPr>
        <p:spPr>
          <a:xfrm xmlns:a="http://schemas.openxmlformats.org/drawingml/2006/main">
            <a:off x="685800" y="1362075"/>
            <a:ext cx="108204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defRPr sz="2100" b="0">
                <a:solidFill>
                  <a:srgbClr val="53636B"/>
                </a:solidFill>
                <a:latin typeface="Arial"/>
                <a:ea typeface="Arial"/>
                <a:cs typeface="Arial"/>
              </a:defRPr>
            </a:defPPr>
            <a:lvl1pPr>
              <a:buNone/>
              <a:defRPr sz="2100" b="0">
                <a:solidFill>
                  <a:srgbClr val="53636B"/>
                </a:solidFill>
                <a:latin typeface="Arial"/>
                <a:ea typeface="Arial"/>
                <a:cs typeface="Arial"/>
              </a:defRPr>
            </a:lvl1pPr>
            <a:lvl2pPr>
              <a:buNone/>
              <a:defRPr sz="2100" b="0">
                <a:solidFill>
                  <a:srgbClr val="53636B"/>
                </a:solidFill>
                <a:latin typeface="Arial"/>
                <a:ea typeface="Arial"/>
                <a:cs typeface="Arial"/>
              </a:defRPr>
            </a:lvl2pPr>
            <a:lvl3pPr>
              <a:buNone/>
              <a:defRPr sz="2100" b="0">
                <a:solidFill>
                  <a:srgbClr val="53636B"/>
                </a:solidFill>
                <a:latin typeface="Arial"/>
                <a:ea typeface="Arial"/>
                <a:cs typeface="Arial"/>
              </a:defRPr>
            </a:lvl3pPr>
            <a:lvl4pPr>
              <a:buNone/>
              <a:defRPr sz="2100" b="0">
                <a:solidFill>
                  <a:srgbClr val="53636B"/>
                </a:solidFill>
                <a:latin typeface="Arial"/>
                <a:ea typeface="Arial"/>
                <a:cs typeface="Arial"/>
              </a:defRPr>
            </a:lvl4pPr>
            <a:lvl5pPr>
              <a:buNone/>
              <a:defRPr sz="2100" b="0">
                <a:solidFill>
                  <a:srgbClr val="53636B"/>
                </a:solidFill>
                <a:latin typeface="Arial"/>
                <a:ea typeface="Arial"/>
                <a:cs typeface="Arial"/>
              </a:defRPr>
            </a:lvl5pPr>
            <a:lvl6pPr>
              <a:buNone/>
              <a:defRPr sz="2100" b="0">
                <a:solidFill>
                  <a:srgbClr val="53636B"/>
                </a:solidFill>
                <a:latin typeface="Arial"/>
                <a:ea typeface="Arial"/>
                <a:cs typeface="Arial"/>
              </a:defRPr>
            </a:lvl6pPr>
            <a:lvl7pPr>
              <a:buNone/>
              <a:defRPr sz="2100" b="0">
                <a:solidFill>
                  <a:srgbClr val="53636B"/>
                </a:solidFill>
                <a:latin typeface="Arial"/>
                <a:ea typeface="Arial"/>
                <a:cs typeface="Arial"/>
              </a:defRPr>
            </a:lvl7pPr>
            <a:lvl8pPr>
              <a:buNone/>
              <a:defRPr sz="2100" b="0">
                <a:solidFill>
                  <a:srgbClr val="53636B"/>
                </a:solidFill>
                <a:latin typeface="Arial"/>
                <a:ea typeface="Arial"/>
                <a:cs typeface="Arial"/>
              </a:defRPr>
            </a:lvl8pPr>
            <a:lvl9pPr>
              <a:buNone/>
              <a:defRPr sz="2100" b="0">
                <a:solidFill>
                  <a:srgbClr val="53636B"/>
                </a:solidFill>
                <a:latin typeface="Arial"/>
                <a:ea typeface="Arial"/>
                <a:cs typeface="Arial"/>
              </a:defRPr>
            </a:lvl9pPr>
          </a:lstStyle>
          <a:p xmlns:a="http://schemas.openxmlformats.org/drawingml/2006/main">
            <a:pPr>
              <a:buNone/>
              <a:defRPr sz="2100" b="0">
                <a:solidFill>
                  <a:srgbClr val="53636B"/>
                </a:solidFill>
                <a:latin typeface="Arial"/>
                <a:ea typeface="Arial"/>
                <a:cs typeface="Arial"/>
              </a:defRPr>
            </a:pPr>
            <a:r>
              <a:rPr sz="2100" b="0">
                <a:solidFill>
                  <a:srgbClr val="53636B"/>
                </a:solidFill>
                <a:latin typeface="Arial"/>
                <a:ea typeface="Arial"/>
                <a:cs typeface="Arial"/>
              </a:rPr>
              <a:t>Model characteristics influence how the assistant processes information and approaches tasks.</a:t>
            </a:r>
          </a:p>
        </p:txBody>
      </p:sp>
      <p:graphicFrame>
        <p:nvGraphicFramePr>
          <p:cNvPr id="3" name="">
            <a:extLst xmlns:a="http://schemas.openxmlformats.org/drawingml/2006/main">
              <a:ext uri="{FF2B5EF4-FFF2-40B4-BE49-F238E27FC236}">
                <a16:creationId xmlns:a16="http://schemas.microsoft.com/office/drawing/2014/main" id="{EB7EEA1D-FE13-4DF2-B8AE-9728A74E5763}"/>
              </a:ext>
            </a:extLst>
          </p:cNvPr>
          <p:cNvGraphicFramePr/>
          <p:nvPr/>
        </p:nvGraphicFramePr>
        <p:xfrm>
          <a:off xmlns:a="http://schemas.openxmlformats.org/drawingml/2006/main" x="685800" y="2286000"/>
          <a:ext xmlns:a="http://schemas.openxmlformats.org/drawingml/2006/main" cx="10820400" cy="3848100"/>
        </p:xfrm>
        <a:graphic xmlns:a="http://schemas.openxmlformats.org/drawingml/2006/main">
          <a:graphicData uri="http://schemas.openxmlformats.org/drawingml/2006/table">
            <a:tbl>
              <a:tblPr/>
              <a:tblGrid>
                <a:gridCol w="3143250"/>
                <a:gridCol w="7677150"/>
              </a:tblGrid>
              <a:tr h="571500">
                <a:tc>
                  <a:txBody>
                    <a:bodyPr lIns="152400" tIns="152400" rIns="152400" bIns="152400"/>
                    <a:lstStyle/>
                    <a:p>
                      <a:r>
                        <a:rPr sz="1875" b="1">
                          <a:solidFill>
                            <a:srgbClr val="FFFFFF"/>
                          </a:solidFill>
                          <a:latin typeface="Arial"/>
                          <a:ea typeface="Arial"/>
                          <a:cs typeface="Arial"/>
                        </a:rPr>
                        <a:t>Aspect</a:t>
                      </a:r>
                    </a:p>
                  </a:txBody>
                  <a:tcPr marL="91440" marR="91440" marT="45720" marB="45720" anchor="ctr">
                    <a:lnL w="9525">
                      <a:solidFill>
                        <a:srgbClr val="CBD4D2"/>
                      </a:solidFill>
                      <a:prstDash val="solid"/>
                    </a:lnL>
                    <a:lnR w="9525">
                      <a:solidFill>
                        <a:srgbClr val="CBD4D2"/>
                      </a:solidFill>
                      <a:prstDash val="solid"/>
                    </a:lnR>
                    <a:lnT w="9525">
                      <a:solidFill>
                        <a:srgbClr val="CBD4D2"/>
                      </a:solidFill>
                      <a:prstDash val="solid"/>
                    </a:lnT>
                    <a:lnB w="9525">
                      <a:solidFill>
                        <a:srgbClr val="CBD4D2"/>
                      </a:solidFill>
                      <a:prstDash val="solid"/>
                    </a:lnB>
                    <a:solidFill>
                      <a:srgbClr val="076C70"/>
                    </a:solidFill>
                  </a:tcPr>
                </a:tc>
                <a:tc>
                  <a:txBody>
                    <a:bodyPr lIns="152400" tIns="152400" rIns="152400" bIns="152400"/>
                    <a:lstStyle/>
                    <a:p>
                      <a:r>
                        <a:rPr sz="1875" b="1">
                          <a:solidFill>
                            <a:srgbClr val="FFFFFF"/>
                          </a:solidFill>
                          <a:latin typeface="Arial"/>
                          <a:ea typeface="Arial"/>
                          <a:cs typeface="Arial"/>
                        </a:rPr>
                        <a:t>Practical question</a:t>
                      </a:r>
                    </a:p>
                  </a:txBody>
                  <a:tcPr marL="91440" marR="91440" marT="45720" marB="45720" anchor="ctr">
                    <a:lnR w="9525">
                      <a:solidFill>
                        <a:srgbClr val="CBD4D2"/>
                      </a:solidFill>
                      <a:prstDash val="solid"/>
                    </a:lnR>
                    <a:lnT w="9525">
                      <a:solidFill>
                        <a:srgbClr val="CBD4D2"/>
                      </a:solidFill>
                      <a:prstDash val="solid"/>
                    </a:lnT>
                    <a:lnB w="9525">
                      <a:solidFill>
                        <a:srgbClr val="CBD4D2"/>
                      </a:solidFill>
                      <a:prstDash val="solid"/>
                    </a:lnB>
                    <a:solidFill>
                      <a:srgbClr val="076C70"/>
                    </a:solidFill>
                  </a:tcPr>
                </a:tc>
              </a:tr>
              <a:tr h="819150">
                <a:tc>
                  <a:txBody>
                    <a:bodyPr lIns="152400" tIns="152400" rIns="152400" bIns="152400"/>
                    <a:lstStyle/>
                    <a:p>
                      <a:r>
                        <a:rPr sz="2025" b="1">
                          <a:solidFill>
                            <a:srgbClr val="182B36"/>
                          </a:solidFill>
                          <a:latin typeface="Arial"/>
                          <a:ea typeface="Arial"/>
                          <a:cs typeface="Arial"/>
                        </a:rPr>
                        <a:t>Hosting</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2025" b="0">
                          <a:solidFill>
                            <a:srgbClr val="182B36"/>
                          </a:solidFill>
                          <a:latin typeface="Arial"/>
                          <a:ea typeface="Arial"/>
                          <a:cs typeface="Arial"/>
                        </a:rPr>
                        <a:t>Does the model run locally or through a cloud service?</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r h="819150">
                <a:tc>
                  <a:txBody>
                    <a:bodyPr lIns="152400" tIns="152400" rIns="152400" bIns="152400"/>
                    <a:lstStyle/>
                    <a:p>
                      <a:r>
                        <a:rPr sz="2025" b="1">
                          <a:solidFill>
                            <a:srgbClr val="182B36"/>
                          </a:solidFill>
                          <a:latin typeface="Arial"/>
                          <a:ea typeface="Arial"/>
                          <a:cs typeface="Arial"/>
                        </a:rPr>
                        <a:t>Reasoning capabilities</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2025" b="0">
                          <a:solidFill>
                            <a:srgbClr val="182B36"/>
                          </a:solidFill>
                          <a:latin typeface="Arial"/>
                          <a:ea typeface="Arial"/>
                          <a:cs typeface="Arial"/>
                        </a:rPr>
                        <a:t>How well can it reason through complex tasks?</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r h="819150">
                <a:tc>
                  <a:txBody>
                    <a:bodyPr lIns="152400" tIns="152400" rIns="152400" bIns="152400"/>
                    <a:lstStyle/>
                    <a:p>
                      <a:r>
                        <a:rPr sz="2025" b="1">
                          <a:solidFill>
                            <a:srgbClr val="182B36"/>
                          </a:solidFill>
                          <a:latin typeface="Arial"/>
                          <a:ea typeface="Arial"/>
                          <a:cs typeface="Arial"/>
                        </a:rPr>
                        <a:t>Input and output</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2025" b="0">
                          <a:solidFill>
                            <a:srgbClr val="182B36"/>
                          </a:solidFill>
                          <a:latin typeface="Arial"/>
                          <a:ea typeface="Arial"/>
                          <a:cs typeface="Arial"/>
                        </a:rPr>
                        <a:t>Can it work with text, images, audio, or other formats?</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r h="819150">
                <a:tc>
                  <a:txBody>
                    <a:bodyPr lIns="152400" tIns="152400" rIns="152400" bIns="152400"/>
                    <a:lstStyle/>
                    <a:p>
                      <a:r>
                        <a:rPr sz="2025" b="1">
                          <a:solidFill>
                            <a:srgbClr val="182B36"/>
                          </a:solidFill>
                          <a:latin typeface="Arial"/>
                          <a:ea typeface="Arial"/>
                          <a:cs typeface="Arial"/>
                        </a:rPr>
                        <a:t>Context capacity</a:t>
                      </a:r>
                    </a:p>
                  </a:txBody>
                  <a:tcPr marL="91440" marR="91440" marT="45720" marB="45720" anchor="ctr">
                    <a:lnL w="9525">
                      <a:solidFill>
                        <a:srgbClr val="CBD4D2"/>
                      </a:solidFill>
                      <a:prstDash val="solid"/>
                    </a:lnL>
                    <a:lnR w="9525">
                      <a:solidFill>
                        <a:srgbClr val="CBD4D2"/>
                      </a:solidFill>
                      <a:prstDash val="solid"/>
                    </a:lnR>
                    <a:lnB w="9525">
                      <a:solidFill>
                        <a:srgbClr val="CBD4D2"/>
                      </a:solidFill>
                      <a:prstDash val="solid"/>
                    </a:lnB>
                    <a:solidFill>
                      <a:srgbClr val="F7F6F2"/>
                    </a:solidFill>
                  </a:tcPr>
                </a:tc>
                <a:tc>
                  <a:txBody>
                    <a:bodyPr lIns="152400" tIns="152400" rIns="152400" bIns="152400"/>
                    <a:lstStyle/>
                    <a:p>
                      <a:r>
                        <a:rPr sz="2025" b="0">
                          <a:solidFill>
                            <a:srgbClr val="182B36"/>
                          </a:solidFill>
                          <a:latin typeface="Arial"/>
                          <a:ea typeface="Arial"/>
                          <a:cs typeface="Arial"/>
                        </a:rPr>
                        <a:t>How much information can it consider at once?</a:t>
                      </a:r>
                    </a:p>
                  </a:txBody>
                  <a:tcPr marL="91440" marR="91440" marT="45720" marB="45720" anchor="ctr">
                    <a:lnR w="9525">
                      <a:solidFill>
                        <a:srgbClr val="CBD4D2"/>
                      </a:solidFill>
                      <a:prstDash val="solid"/>
                    </a:lnR>
                    <a:lnB w="9525">
                      <a:solidFill>
                        <a:srgbClr val="CBD4D2"/>
                      </a:solidFill>
                      <a:prstDash val="solid"/>
                    </a:lnB>
                    <a:solidFill>
                      <a:srgbClr val="F7F6F2"/>
                    </a:solidFill>
                  </a:tcPr>
                </a:tc>
              </a:tr>
            </a:tbl>
          </a:graphicData>
        </a:graphic>
      </p:graphicFrame>
      <p:sp>
        <p:nvSpPr>
          <p:cNvPr id="4" name="slide-number">
            <a:extLst xmlns:a="http://schemas.openxmlformats.org/drawingml/2006/main">
              <a:ext uri="{FF2B5EF4-FFF2-40B4-BE49-F238E27FC236}">
                <a16:creationId xmlns:a16="http://schemas.microsoft.com/office/drawing/2014/main" id="{0E23BA7A-65B7-45EC-B0FA-06063713244E}"/>
              </a:ext>
            </a:extLst>
          </p:cNvPr>
          <p:cNvSpPr>
            <a:spLocks xmlns:a="http://schemas.openxmlformats.org/drawingml/2006/main" noGrp="1"/>
          </p:cNvSpPr>
          <p:nvPr/>
        </p:nvSpPr>
        <p:spPr>
          <a:xfrm xmlns:a="http://schemas.openxmlformats.org/drawingml/2006/main">
            <a:off x="11125200" y="628650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275" b="0">
                <a:solidFill>
                  <a:srgbClr val="53636B"/>
                </a:solidFill>
                <a:latin typeface="Arial"/>
                <a:ea typeface="Arial"/>
                <a:cs typeface="Arial"/>
              </a:defRPr>
            </a:defPPr>
            <a:lvl1pPr algn="r">
              <a:buNone/>
              <a:defRPr sz="1275" b="0">
                <a:solidFill>
                  <a:srgbClr val="53636B"/>
                </a:solidFill>
                <a:latin typeface="Arial"/>
                <a:ea typeface="Arial"/>
                <a:cs typeface="Arial"/>
              </a:defRPr>
            </a:lvl1pPr>
            <a:lvl2pPr algn="r">
              <a:buNone/>
              <a:defRPr sz="1275" b="0">
                <a:solidFill>
                  <a:srgbClr val="53636B"/>
                </a:solidFill>
                <a:latin typeface="Arial"/>
                <a:ea typeface="Arial"/>
                <a:cs typeface="Arial"/>
              </a:defRPr>
            </a:lvl2pPr>
            <a:lvl3pPr algn="r">
              <a:buNone/>
              <a:defRPr sz="1275" b="0">
                <a:solidFill>
                  <a:srgbClr val="53636B"/>
                </a:solidFill>
                <a:latin typeface="Arial"/>
                <a:ea typeface="Arial"/>
                <a:cs typeface="Arial"/>
              </a:defRPr>
            </a:lvl3pPr>
            <a:lvl4pPr algn="r">
              <a:buNone/>
              <a:defRPr sz="1275" b="0">
                <a:solidFill>
                  <a:srgbClr val="53636B"/>
                </a:solidFill>
                <a:latin typeface="Arial"/>
                <a:ea typeface="Arial"/>
                <a:cs typeface="Arial"/>
              </a:defRPr>
            </a:lvl4pPr>
            <a:lvl5pPr algn="r">
              <a:buNone/>
              <a:defRPr sz="1275" b="0">
                <a:solidFill>
                  <a:srgbClr val="53636B"/>
                </a:solidFill>
                <a:latin typeface="Arial"/>
                <a:ea typeface="Arial"/>
                <a:cs typeface="Arial"/>
              </a:defRPr>
            </a:lvl5pPr>
            <a:lvl6pPr algn="r">
              <a:buNone/>
              <a:defRPr sz="1275" b="0">
                <a:solidFill>
                  <a:srgbClr val="53636B"/>
                </a:solidFill>
                <a:latin typeface="Arial"/>
                <a:ea typeface="Arial"/>
                <a:cs typeface="Arial"/>
              </a:defRPr>
            </a:lvl6pPr>
            <a:lvl7pPr algn="r">
              <a:buNone/>
              <a:defRPr sz="1275" b="0">
                <a:solidFill>
                  <a:srgbClr val="53636B"/>
                </a:solidFill>
                <a:latin typeface="Arial"/>
                <a:ea typeface="Arial"/>
                <a:cs typeface="Arial"/>
              </a:defRPr>
            </a:lvl7pPr>
            <a:lvl8pPr algn="r">
              <a:buNone/>
              <a:defRPr sz="1275" b="0">
                <a:solidFill>
                  <a:srgbClr val="53636B"/>
                </a:solidFill>
                <a:latin typeface="Arial"/>
                <a:ea typeface="Arial"/>
                <a:cs typeface="Arial"/>
              </a:defRPr>
            </a:lvl8pPr>
            <a:lvl9pPr algn="r">
              <a:buNone/>
              <a:defRPr sz="1275" b="0">
                <a:solidFill>
                  <a:srgbClr val="53636B"/>
                </a:solidFill>
                <a:latin typeface="Arial"/>
                <a:ea typeface="Arial"/>
                <a:cs typeface="Arial"/>
              </a:defRPr>
            </a:lvl9pPr>
          </a:lstStyle>
          <a:p xmlns:a="http://schemas.openxmlformats.org/drawingml/2006/main">
            <a:pPr algn="r">
              <a:buNone/>
              <a:defRPr sz="1275" b="0">
                <a:solidFill>
                  <a:srgbClr val="53636B"/>
                </a:solidFill>
                <a:latin typeface="Arial"/>
                <a:ea typeface="Arial"/>
                <a:cs typeface="Arial"/>
              </a:defRPr>
            </a:pPr>
            <a:r>
              <a:rPr sz="1275" b="0">
                <a:solidFill>
                  <a:srgbClr val="53636B"/>
                </a:solidFill>
                <a:latin typeface="Arial"/>
                <a:ea typeface="Arial"/>
                <a:cs typeface="Arial"/>
              </a:rPr>
              <a:t>4</a:t>
            </a:r>
          </a:p>
        </p:txBody>
      </p:sp>
    </p:spTree>
    <p:extLst>
      <p:ext uri="{BB962C8B-B14F-4D97-AF65-F5344CB8AC3E}">
        <p14:creationId xmlns:p14="http://schemas.microsoft.com/office/powerpoint/2010/main" val="5507120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8</ap:Slides>
  <ap:Notes>8</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2026-10-21T10:02:15.1800000Z</dcterms:created>
  <dcterms:modified xsi:type="dcterms:W3CDTF">2026-10-21T10:02:15.1810000Z</dcterms:modified>
</coreProperties>
</file>