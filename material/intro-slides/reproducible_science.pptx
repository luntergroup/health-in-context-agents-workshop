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4.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1.xml" ContentType="application/vnd.openxmlformats-officedocument.presentationml.notesSlide+xml"/>
  <Override PartName="/ppt/notesSlides/notesSlide6.xml" ContentType="application/vnd.openxmlformats-officedocument.presentationml.notesSlide+xml"/>
  <Override PartName="/ppt/notesSlides/notesSlide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 name="PlaceHolder 1"/>
          <p:cNvSpPr>
            <a:spLocks noGrp="1"/>
          </p:cNvSpPr>
          <p:nvPr>
            <p:ph type="sldImg"/>
          </p:nvPr>
        </p:nvSpPr>
        <p:spPr>
          <a:xfrm>
            <a:off x="0" y="812520"/>
            <a:ext cx="0" cy="0"/>
          </a:xfrm>
          <a:prstGeom prst="rect">
            <a:avLst/>
          </a:prstGeom>
          <a:noFill/>
          <a:ln w="0">
            <a:noFill/>
          </a:ln>
        </p:spPr>
        <p:txBody>
          <a:bodyPr lIns="0" tIns="0" rIns="0" bIns="0" anchor="ctr">
            <a:noAutofit/>
          </a:bodyPr>
          <a:p>
            <a:r>
              <a:rPr lang="en-GB" sz="4400" b="0" u="none" strike="noStrike">
                <a:solidFill>
                  <a:schemeClr val="dk1"/>
                </a:solidFill>
                <a:effectLst/>
                <a:uFillTx/>
                <a:latin typeface="Arial"/>
              </a:rPr>
              <a:t>Click to move the slide</a:t>
            </a:r>
            <a:endParaRPr lang="en-GB" sz="4400" b="0" u="none" strike="noStrike">
              <a:solidFill>
                <a:schemeClr val="dk1"/>
              </a:solidFill>
              <a:effectLst/>
              <a:uFillTx/>
              <a:latin typeface="Arial"/>
            </a:endParaRPr>
          </a:p>
        </p:txBody>
      </p:sp>
      <p:sp>
        <p:nvSpPr>
          <p:cNvPr id="8"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GB" sz="2000" b="0" u="none" strike="noStrike">
                <a:solidFill>
                  <a:srgbClr val="000000"/>
                </a:solidFill>
                <a:effectLst/>
                <a:uFillTx/>
                <a:latin typeface="Arial"/>
              </a:rPr>
              <a:t>Click to edit the notes format</a:t>
            </a:r>
            <a:endParaRPr lang="en-GB" sz="2000" b="0" u="none" strike="noStrike">
              <a:solidFill>
                <a:srgbClr val="000000"/>
              </a:solidFill>
              <a:effectLst/>
              <a:uFillTx/>
              <a:latin typeface="Arial"/>
            </a:endParaRPr>
          </a:p>
        </p:txBody>
      </p:sp>
      <p:sp>
        <p:nvSpPr>
          <p:cNvPr id="9"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GB" sz="1400" b="0" u="none" strike="noStrike">
                <a:solidFill>
                  <a:srgbClr val="000000"/>
                </a:solidFill>
                <a:effectLst/>
                <a:uFillTx/>
                <a:latin typeface="Times New Roman"/>
              </a:rPr>
              <a:t>&lt;header&gt;</a:t>
            </a:r>
            <a:endParaRPr lang="en-GB" sz="1400" b="0" u="none" strike="noStrike">
              <a:solidFill>
                <a:srgbClr val="000000"/>
              </a:solidFill>
              <a:effectLst/>
              <a:uFillTx/>
              <a:latin typeface="Times New Roman"/>
            </a:endParaRPr>
          </a:p>
        </p:txBody>
      </p:sp>
      <p:sp>
        <p:nvSpPr>
          <p:cNvPr id="10" name="PlaceHolder 4"/>
          <p:cNvSpPr>
            <a:spLocks noGrp="1"/>
          </p:cNvSpPr>
          <p:nvPr>
            <p:ph type="dt" idx="2"/>
          </p:nvPr>
        </p:nvSpPr>
        <p:spPr>
          <a:xfrm>
            <a:off x="4278960" y="0"/>
            <a:ext cx="3280680" cy="534240"/>
          </a:xfrm>
          <a:prstGeom prst="rect">
            <a:avLst/>
          </a:prstGeom>
          <a:noFill/>
          <a:ln w="0">
            <a:noFill/>
          </a:ln>
        </p:spPr>
        <p:txBody>
          <a:bodyPr lIns="0" tIns="0" rIns="0" bIns="0" anchor="t">
            <a:noAutofit/>
          </a:bodyPr>
          <a:lstStyle>
            <a:lvl1pPr indent="0" algn="r">
              <a:buNone/>
              <a:defRPr lang="en-GB" sz="1400" b="0" u="none" strike="noStrike">
                <a:solidFill>
                  <a:srgbClr val="000000"/>
                </a:solidFill>
                <a:effectLst/>
                <a:uFillTx/>
                <a:latin typeface="Times New Roman"/>
              </a:defRPr>
            </a:lvl1pPr>
          </a:lstStyle>
          <a:p>
            <a:pPr indent="0" algn="r">
              <a:buNone/>
            </a:pPr>
            <a:r>
              <a:rPr lang="en-GB" sz="1400" b="0" u="none" strike="noStrike">
                <a:solidFill>
                  <a:srgbClr val="000000"/>
                </a:solidFill>
                <a:effectLst/>
                <a:uFillTx/>
                <a:latin typeface="Times New Roman"/>
              </a:rPr>
              <a:t>&lt;date/time&gt;</a:t>
            </a:r>
            <a:endParaRPr lang="en-GB" sz="1400" b="0" u="none" strike="noStrike">
              <a:solidFill>
                <a:srgbClr val="000000"/>
              </a:solidFill>
              <a:effectLst/>
              <a:uFillTx/>
              <a:latin typeface="Times New Roman"/>
            </a:endParaRPr>
          </a:p>
        </p:txBody>
      </p:sp>
      <p:sp>
        <p:nvSpPr>
          <p:cNvPr id="11" name="PlaceHolder 5"/>
          <p:cNvSpPr>
            <a:spLocks noGrp="1"/>
          </p:cNvSpPr>
          <p:nvPr>
            <p:ph type="ftr" idx="3"/>
          </p:nvPr>
        </p:nvSpPr>
        <p:spPr>
          <a:xfrm>
            <a:off x="0" y="10157400"/>
            <a:ext cx="3280680" cy="534240"/>
          </a:xfrm>
          <a:prstGeom prst="rect">
            <a:avLst/>
          </a:prstGeom>
          <a:noFill/>
          <a:ln w="0">
            <a:noFill/>
          </a:ln>
        </p:spPr>
        <p:txBody>
          <a:bodyPr lIns="0" tIns="0" rIns="0" bIns="0" anchor="b">
            <a:noAutofit/>
          </a:bodyPr>
          <a:lstStyle>
            <a:lvl1pPr indent="0" algn="l">
              <a:buNone/>
              <a:defRPr lang="en-GB" sz="1400" b="0" u="none" strike="noStrike">
                <a:solidFill>
                  <a:srgbClr val="000000"/>
                </a:solidFill>
                <a:effectLst/>
                <a:uFillTx/>
                <a:latin typeface="Times New Roman"/>
              </a:defRPr>
            </a:lvl1pPr>
          </a:lstStyle>
          <a:p>
            <a:pPr indent="0" algn="l">
              <a:buNone/>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12" name="PlaceHolder 6"/>
          <p:cNvSpPr>
            <a:spLocks noGrp="1"/>
          </p:cNvSpPr>
          <p:nvPr>
            <p:ph type="sldNum" idx="4"/>
          </p:nvPr>
        </p:nvSpPr>
        <p:spPr>
          <a:xfrm>
            <a:off x="4278960" y="10157400"/>
            <a:ext cx="3280680" cy="534240"/>
          </a:xfrm>
          <a:prstGeom prst="rect">
            <a:avLst/>
          </a:prstGeom>
          <a:noFill/>
          <a:ln w="0">
            <a:noFill/>
          </a:ln>
        </p:spPr>
        <p:txBody>
          <a:bodyPr lIns="0" tIns="0" rIns="0" bIns="0" anchor="b">
            <a:noAutofit/>
          </a:bodyPr>
          <a:lstStyle>
            <a:lvl1pPr indent="0" algn="r">
              <a:buNone/>
              <a:defRPr lang="en-GB" sz="1400" b="0" u="none" strike="noStrike">
                <a:solidFill>
                  <a:srgbClr val="000000"/>
                </a:solidFill>
                <a:effectLst/>
                <a:uFillTx/>
                <a:latin typeface="Times New Roman"/>
              </a:defRPr>
            </a:lvl1pPr>
          </a:lstStyle>
          <a:p>
            <a:pPr indent="0" algn="r">
              <a:buNone/>
            </a:pPr>
            <a:fld id="{0DA6A34C-CD04-419F-87F6-D40A697C18EA}" type="slidenum">
              <a:rPr lang="en-GB" sz="1400" b="0" u="none" strike="noStrike">
                <a:solidFill>
                  <a:srgbClr val="000000"/>
                </a:solidFill>
                <a:effectLst/>
                <a:uFillTx/>
                <a:latin typeface="Times New Roman"/>
              </a:rPr>
              <a:t>&lt;number&gt;</a:t>
            </a:fld>
            <a:endParaRPr lang="en-GB"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PlaceHolder 1"/>
          <p:cNvSpPr>
            <a:spLocks noGrp="1"/>
          </p:cNvSpPr>
          <p:nvPr>
            <p:ph type="sldImg"/>
          </p:nvPr>
        </p:nvSpPr>
        <p:spPr>
          <a:xfrm>
            <a:off x="685800" y="1143000"/>
            <a:ext cx="5485680" cy="3085560"/>
          </a:xfrm>
          <a:prstGeom prst="rect">
            <a:avLst/>
          </a:prstGeom>
          <a:ln w="0">
            <a:noFill/>
          </a:ln>
        </p:spPr>
      </p:sp>
      <p:sp>
        <p:nvSpPr>
          <p:cNvPr id="19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This short introduction explains why AI assistants are unusually good at writing code, shows the kinds of tasks they can take on, and ends with what this means for reproducible science.</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'Agentic' means the AI does not just answer a question: it carries out a task in steps. It writes code, runs it, looks at the result or the error message, and repairs the code until it works.</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illustration (synthetic data) shows a typical result: a short R script and the survival plot it produces.</a:t>
            </a:r>
            <a:endParaRPr lang="en-GB" sz="2000" b="0" u="none" strike="noStrike">
              <a:solidFill>
                <a:srgbClr val="000000"/>
              </a:solidFill>
              <a:effectLst/>
              <a:uFillTx/>
              <a:latin typeface="Arial"/>
            </a:endParaRPr>
          </a:p>
        </p:txBody>
      </p:sp>
      <p:sp>
        <p:nvSpPr>
          <p:cNvPr id="196" name="PlaceHolder 3"/>
          <p:cNvSpPr>
            <a:spLocks noGrp="1"/>
          </p:cNvSpPr>
          <p:nvPr>
            <p:ph type="sldNum" idx="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1FE8E80-590C-4C01-A525-D94FC6D4DBD6}"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PlaceHolder 1"/>
          <p:cNvSpPr>
            <a:spLocks noGrp="1"/>
          </p:cNvSpPr>
          <p:nvPr>
            <p:ph type="sldImg"/>
          </p:nvPr>
        </p:nvSpPr>
        <p:spPr>
          <a:xfrm>
            <a:off x="685800" y="1143000"/>
            <a:ext cx="5485680" cy="3085560"/>
          </a:xfrm>
          <a:prstGeom prst="rect">
            <a:avLst/>
          </a:prstGeom>
          <a:ln w="0">
            <a:noFill/>
          </a:ln>
        </p:spPr>
      </p:sp>
      <p:sp>
        <p:nvSpPr>
          <p:cNvPr id="19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Seven properties of language models, each of which happens to suit programming:</a:t>
            </a: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 Many examples: the internet contains an enormous amount of freely available code, often with explanations and discussion (e.g. GitHub, Stack Overflow).</a:t>
            </a: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 Code is text: language models are trained to read and write text, and code is just text.</a:t>
            </a: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 Attention: the mechanism inside these models that connects each word to the other words it relates to, even far apart. In code: where a variable was defined, which function is called.</a:t>
            </a: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 Large context: modern models can read hundreds of pages at once, so the whole analysis, the data description and the error message fit in view together.</a:t>
            </a: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 Simple syntax: a programming language has a small vocabulary and strict rules, much simpler than English.</a:t>
            </a: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 Uses tools: an agent can run its own code, read the output or error, and fix the code. This feedback loop is what makes it 'agentic'.</a:t>
            </a: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 Testable: unlike an essay, code can be checked objectively. It runs or it does not; the numbers match or they do not. That makes it possible to train models on it, and lets the agent check its own work.</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Put together, coding is close to the ideal task for this technology.</a:t>
            </a:r>
            <a:endParaRPr lang="en-GB" sz="2000" b="0" u="none" strike="noStrike">
              <a:solidFill>
                <a:srgbClr val="000000"/>
              </a:solidFill>
              <a:effectLst/>
              <a:uFillTx/>
              <a:latin typeface="Arial"/>
            </a:endParaRPr>
          </a:p>
        </p:txBody>
      </p:sp>
      <p:sp>
        <p:nvSpPr>
          <p:cNvPr id="199" name="PlaceHolder 3"/>
          <p:cNvSpPr>
            <a:spLocks noGrp="1"/>
          </p:cNvSpPr>
          <p:nvPr>
            <p:ph type="sldNum" idx="1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7C22A18-7B7C-4DF6-A647-1EB149D68158}"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PlaceHolder 1"/>
          <p:cNvSpPr>
            <a:spLocks noGrp="1"/>
          </p:cNvSpPr>
          <p:nvPr>
            <p:ph type="sldImg"/>
          </p:nvPr>
        </p:nvSpPr>
        <p:spPr>
          <a:xfrm>
            <a:off x="685800" y="1143000"/>
            <a:ext cx="5485680" cy="3085560"/>
          </a:xfrm>
          <a:prstGeom prst="rect">
            <a:avLst/>
          </a:prstGeom>
          <a:ln w="0">
            <a:noFill/>
          </a:ln>
        </p:spPr>
      </p:sp>
      <p:sp>
        <p:nvSpPr>
          <p:cNvPr id="20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Five everyday tasks an agent can do from a plain-language request:</a:t>
            </a: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 Make plots: 'plot weekly case counts with a 3-week moving average'.</a:t>
            </a: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 Find bugs: here a missing na.rm = TRUE made every group mean NA. The agent spots this by running the code and looking at the output.</a:t>
            </a: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 Write R scripts: a complete analysis, from reading the data to fitting a logistic regression and reporting odds ratios.</a:t>
            </a: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 Build web pages: for example an interactive dashboard to explore a cohort, or a project website.</a:t>
            </a: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 Develop algorithms: for example a bootstrap procedure for confidence intervals, or a simulation for a sample size calculation.</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You remain responsible for checking the result, but the agent does the typing, running and debugging.</a:t>
            </a: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All images on this slide are illustrations with synthetic data.</a:t>
            </a:r>
            <a:endParaRPr lang="en-GB" sz="2000" b="0" u="none" strike="noStrike">
              <a:solidFill>
                <a:srgbClr val="000000"/>
              </a:solidFill>
              <a:effectLst/>
              <a:uFillTx/>
              <a:latin typeface="Arial"/>
            </a:endParaRPr>
          </a:p>
        </p:txBody>
      </p:sp>
      <p:sp>
        <p:nvSpPr>
          <p:cNvPr id="202" name="PlaceHolder 3"/>
          <p:cNvSpPr>
            <a:spLocks noGrp="1"/>
          </p:cNvSpPr>
          <p:nvPr>
            <p:ph type="sldNum" idx="1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F3A1767-2FF5-4DE2-BE63-E6861CE217C6}"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PlaceHolder 1"/>
          <p:cNvSpPr>
            <a:spLocks noGrp="1"/>
          </p:cNvSpPr>
          <p:nvPr>
            <p:ph type="sldImg"/>
          </p:nvPr>
        </p:nvSpPr>
        <p:spPr>
          <a:xfrm>
            <a:off x="685800" y="1143000"/>
            <a:ext cx="5485680" cy="3085560"/>
          </a:xfrm>
          <a:prstGeom prst="rect">
            <a:avLst/>
          </a:prstGeom>
          <a:ln w="0">
            <a:noFill/>
          </a:ln>
        </p:spPr>
      </p:sp>
      <p:sp>
        <p:nvSpPr>
          <p:cNvPr id="20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A good methods section is a precise specification of an analysis, written in natural language. Language models are good at turning natural language into code. So when the data are available, an AI agent should be able to re-run the analysis described in a paper.</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Example used in this workshop: Agogo &amp; Mwambi (2025), Annals of Epidemiology 102:36-47, a mortality prediction model on NHANES 2009-2016 (about 24,000 people with linked mortality follow-up). The data are public.</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What happened when we tried:</a:t>
            </a: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 The agent re-implemented the logistic regression and obtained results very close to the published ones.</a:t>
            </a: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 The paper did not describe a few data-preparation and modelling choices; the agent had to make guesses and said where.</a:t>
            </a: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 It also found choices that could be improved: different follow-up windows per survey cycle were ignored, and no imputation was done although missingness was informative. Fixing these barely changed discrimination but clearly improved calibration.</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Reproducing a published analysis used to take weeks; now it can be a routine check.</a:t>
            </a:r>
            <a:endParaRPr lang="en-GB" sz="2000" b="0" u="none" strike="noStrike">
              <a:solidFill>
                <a:srgbClr val="000000"/>
              </a:solidFill>
              <a:effectLst/>
              <a:uFillTx/>
              <a:latin typeface="Arial"/>
            </a:endParaRPr>
          </a:p>
        </p:txBody>
      </p:sp>
      <p:sp>
        <p:nvSpPr>
          <p:cNvPr id="205" name="PlaceHolder 3"/>
          <p:cNvSpPr>
            <a:spLocks noGrp="1"/>
          </p:cNvSpPr>
          <p:nvPr>
            <p:ph type="sldNum" idx="1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307A775-FEB5-490A-BDBD-3C98D6FD6355}"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PlaceHolder 1"/>
          <p:cNvSpPr>
            <a:spLocks noGrp="1"/>
          </p:cNvSpPr>
          <p:nvPr>
            <p:ph type="sldImg"/>
          </p:nvPr>
        </p:nvSpPr>
        <p:spPr>
          <a:xfrm>
            <a:off x="685800" y="1143000"/>
            <a:ext cx="5485680" cy="3085560"/>
          </a:xfrm>
          <a:prstGeom prst="rect">
            <a:avLst/>
          </a:prstGeom>
          <a:ln w="0">
            <a:noFill/>
          </a:ln>
        </p:spPr>
      </p:sp>
      <p:sp>
        <p:nvSpPr>
          <p:cNvPr id="20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This is what happens when an AI agent works on code.</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On the left is the language model, such as ChatGPT. On its own it can only read and write text. You chat with it, and it replies.</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What turns it into an agent is the box on the right: a computer it can use. The model types a command, reads the output, and decides on the next command. Through those commands it reaches everything around the computer:</a:t>
            </a: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 Data, Skills and Web: things it only looks at. Skills are written instructions and know-how, for example how to do a survival analysis, your group's figure style, or how to make slides.</a:t>
            </a: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 Plan and Code: things it both reads and writes. For bigger tasks it first writes a plan and ticks off steps; it reads your code and edits it.</a:t>
            </a: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 Program and Tools: things it runs. It runs the program it wrote and reads the results; it can also run other tools, such as R, Python or git.</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Teal arrows: what the AI looks at. Thin orange arrows: what it writes. Thick orange arrows: what it runs.</a:t>
            </a:r>
            <a:endParaRPr lang="en-GB" sz="2000" b="0" u="none" strike="noStrike">
              <a:solidFill>
                <a:srgbClr val="000000"/>
              </a:solidFill>
              <a:effectLst/>
              <a:uFillTx/>
              <a:latin typeface="Arial"/>
            </a:endParaRPr>
          </a:p>
          <a:p>
            <a:pPr indent="0" algn="l">
              <a:lnSpc>
                <a:spcPct val="100000"/>
              </a:lnSpc>
              <a:buNone/>
              <a:tabLst>
                <a:tab pos="0" algn="l"/>
              </a:tabLst>
            </a:pPr>
            <a:endParaRPr lang="en-GB"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 key is the loop: write code, run it, read the output or error message, fix, and run again, until the result is right.</a:t>
            </a:r>
            <a:endParaRPr lang="en-GB" sz="2000" b="0" u="none" strike="noStrike">
              <a:solidFill>
                <a:srgbClr val="000000"/>
              </a:solidFill>
              <a:effectLst/>
              <a:uFillTx/>
              <a:latin typeface="Arial"/>
            </a:endParaRPr>
          </a:p>
        </p:txBody>
      </p:sp>
      <p:sp>
        <p:nvSpPr>
          <p:cNvPr id="208" name="PlaceHolder 3"/>
          <p:cNvSpPr>
            <a:spLocks noGrp="1"/>
          </p:cNvSpPr>
          <p:nvPr>
            <p:ph type="sldNum" idx="1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EA9A4EB-CBAE-449C-B4AD-DB542DECB341}" type="slidenum">
              <a:rPr lang="en-US" sz="1200" b="0" u="none" strike="noStrike">
                <a:solidFill>
                  <a:schemeClr val="dk1"/>
                </a:solidFill>
                <a:effectLst/>
                <a:uFillTx/>
                <a:latin typeface="+mn-lt"/>
                <a:ea typeface="+mn-ea"/>
              </a:rPr>
              <a:t>&lt;number&gt;</a:t>
            </a:fld>
            <a:endParaRPr lang="en-GB"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p:bg>
      <p:bgPr>
        <a:solidFill>
          <a:schemeClr val="lt2"/>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40080" y="2011680"/>
            <a:ext cx="4937040" cy="1736640"/>
          </a:xfrm>
          <a:prstGeom prst="rect">
            <a:avLst/>
          </a:prstGeom>
          <a:noFill/>
          <a:ln w="0">
            <a:noFill/>
          </a:ln>
        </p:spPr>
        <p:txBody>
          <a:bodyPr lIns="90000" tIns="45000" rIns="90000" bIns="45000" anchor="t">
            <a:noAutofit/>
          </a:bodyPr>
          <a:lstStyle>
            <a:lvl1pPr indent="0" algn="l">
              <a:lnSpc>
                <a:spcPct val="100000"/>
              </a:lnSpc>
              <a:buNone/>
              <a:tabLst>
                <a:tab pos="0" algn="l"/>
              </a:tabLst>
              <a:defRPr lang="en-GB" sz="4400" b="0" u="none" strike="noStrike">
                <a:solidFill>
                  <a:schemeClr val="dk1"/>
                </a:solidFill>
                <a:effectLst/>
                <a:uFillTx/>
                <a:latin typeface="Arial"/>
              </a:defRPr>
            </a:lvl1pPr>
          </a:lstStyle>
          <a:p>
            <a:pPr indent="0" algn="l">
              <a:lnSpc>
                <a:spcPct val="100000"/>
              </a:lnSpc>
              <a:buNone/>
              <a:tabLst>
                <a:tab pos="0" algn="l"/>
              </a:tabLst>
            </a:pPr>
            <a:r>
              <a:rPr lang="en-GB" sz="4400" b="0" u="none" strike="noStrike">
                <a:solidFill>
                  <a:schemeClr val="dk1"/>
                </a:solidFill>
                <a:effectLst/>
                <a:uFillTx/>
                <a:latin typeface="Arial"/>
              </a:rPr>
              <a:t>Click to edit the title text format</a:t>
            </a:r>
            <a:endParaRPr lang="en-GB" sz="4400" b="0" u="none" strike="noStrike">
              <a:solidFill>
                <a:schemeClr val="dk1"/>
              </a:solidFill>
              <a:effectLst/>
              <a:uFillTx/>
              <a:latin typeface="Arial"/>
            </a:endParaRPr>
          </a:p>
        </p:txBody>
      </p:sp>
      <p:sp>
        <p:nvSpPr>
          <p:cNvPr id="3" name="PlaceHolder 2"/>
          <p:cNvSpPr>
            <a:spLocks noGrp="1"/>
          </p:cNvSpPr>
          <p:nvPr>
            <p:ph type="body"/>
          </p:nvPr>
        </p:nvSpPr>
        <p:spPr>
          <a:xfrm>
            <a:off x="640080" y="3931920"/>
            <a:ext cx="4571280" cy="1096560"/>
          </a:xfrm>
          <a:prstGeom prst="rect">
            <a:avLst/>
          </a:prstGeom>
          <a:noFill/>
          <a:ln w="0">
            <a:noFill/>
          </a:ln>
        </p:spPr>
        <p:txBody>
          <a:bodyPr lIns="90000" tIns="45000" rIns="90000" bIns="45000" anchor="t">
            <a:noAutofit/>
          </a:bodyPr>
          <a:lstStyle>
            <a:lvl1pPr algn="l">
              <a:lnSpc>
                <a:spcPct val="100000"/>
              </a:lnSpc>
              <a:spcBef>
                <a:spcPts val="1417"/>
              </a:spcBef>
              <a:buClr>
                <a:srgbClr val="000000"/>
              </a:buClr>
              <a:buSzPct val="45000"/>
              <a:buFont typeface="Wingdings" charset="2"/>
              <a:buChar char=""/>
              <a:defRPr lang="en-GB" sz="2000" b="0" u="none" strike="noStrike">
                <a:solidFill>
                  <a:schemeClr val="dk1"/>
                </a:solidFill>
                <a:effectLst/>
                <a:uFillTx/>
                <a:latin typeface="Arial"/>
              </a:defRPr>
            </a:lvl1pPr>
            <a:lvl2pPr lvl="1" algn="l">
              <a:lnSpc>
                <a:spcPct val="100000"/>
              </a:lnSpc>
              <a:spcBef>
                <a:spcPts val="1134"/>
              </a:spcBef>
              <a:buClr>
                <a:srgbClr val="000000"/>
              </a:buClr>
              <a:buSzPct val="75000"/>
              <a:buFont typeface="Symbol" charset="2"/>
              <a:buChar char=""/>
              <a:defRPr lang="en-GB" sz="2000" b="0" u="none" strike="noStrike">
                <a:solidFill>
                  <a:schemeClr val="dk1"/>
                </a:solidFill>
                <a:effectLst/>
                <a:uFillTx/>
                <a:latin typeface="Arial"/>
              </a:defRPr>
            </a:lvl2pPr>
            <a:lvl3pPr lvl="2" algn="l">
              <a:lnSpc>
                <a:spcPct val="100000"/>
              </a:lnSpc>
              <a:spcBef>
                <a:spcPts val="850"/>
              </a:spcBef>
              <a:buClr>
                <a:srgbClr val="000000"/>
              </a:buClr>
              <a:buSzPct val="45000"/>
              <a:buFont typeface="Wingdings" charset="2"/>
              <a:buChar char=""/>
              <a:defRPr lang="en-GB" sz="2000" b="0" u="none" strike="noStrike">
                <a:solidFill>
                  <a:schemeClr val="dk1"/>
                </a:solidFill>
                <a:effectLst/>
                <a:uFillTx/>
                <a:latin typeface="Arial"/>
              </a:defRPr>
            </a:lvl3pPr>
            <a:lvl4pPr lvl="3" algn="l">
              <a:lnSpc>
                <a:spcPct val="100000"/>
              </a:lnSpc>
              <a:spcBef>
                <a:spcPts val="567"/>
              </a:spcBef>
              <a:buClr>
                <a:srgbClr val="000000"/>
              </a:buClr>
              <a:buSzPct val="75000"/>
              <a:buFont typeface="Symbol" charset="2"/>
              <a:buChar char=""/>
              <a:defRPr lang="en-GB" sz="2000" b="0" u="none" strike="noStrike">
                <a:solidFill>
                  <a:schemeClr val="dk1"/>
                </a:solidFill>
                <a:effectLst/>
                <a:uFillTx/>
                <a:latin typeface="Arial"/>
              </a:defRPr>
            </a:lvl4pPr>
            <a:lvl5pPr lvl="4" algn="l">
              <a:lnSpc>
                <a:spcPct val="100000"/>
              </a:lnSpc>
              <a:spcBef>
                <a:spcPts val="283"/>
              </a:spcBef>
              <a:buClr>
                <a:srgbClr val="000000"/>
              </a:buClr>
              <a:buSzPct val="45000"/>
              <a:buFont typeface="Wingdings" charset="2"/>
              <a:buChar char=""/>
              <a:defRPr lang="en-GB" sz="2000" b="0" u="none" strike="noStrike">
                <a:solidFill>
                  <a:schemeClr val="dk1"/>
                </a:solidFill>
                <a:effectLst/>
                <a:uFillTx/>
                <a:latin typeface="Arial"/>
              </a:defRPr>
            </a:lvl5pPr>
            <a:lvl6pPr lvl="5" algn="l">
              <a:lnSpc>
                <a:spcPct val="100000"/>
              </a:lnSpc>
              <a:spcBef>
                <a:spcPts val="283"/>
              </a:spcBef>
              <a:buClr>
                <a:srgbClr val="000000"/>
              </a:buClr>
              <a:buSzPct val="45000"/>
              <a:buFont typeface="Wingdings" charset="2"/>
              <a:buChar char=""/>
              <a:defRPr lang="en-GB" sz="2000" b="0" u="none" strike="noStrike">
                <a:solidFill>
                  <a:schemeClr val="dk1"/>
                </a:solidFill>
                <a:effectLst/>
                <a:uFillTx/>
                <a:latin typeface="Arial"/>
              </a:defRPr>
            </a:lvl6pPr>
            <a:lvl7pPr lvl="6" algn="l">
              <a:lnSpc>
                <a:spcPct val="100000"/>
              </a:lnSpc>
              <a:spcBef>
                <a:spcPts val="283"/>
              </a:spcBef>
              <a:buClr>
                <a:srgbClr val="000000"/>
              </a:buClr>
              <a:buSzPct val="45000"/>
              <a:buFont typeface="Wingdings" charset="2"/>
              <a:buChar char=""/>
              <a:defRPr lang="en-GB" sz="2000" b="0" u="none" strike="noStrike">
                <a:solidFill>
                  <a:schemeClr val="dk1"/>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GB" sz="2000" b="0" u="none" strike="noStrike">
                <a:solidFill>
                  <a:schemeClr val="dk1"/>
                </a:solidFill>
                <a:effectLst/>
                <a:uFillTx/>
                <a:latin typeface="Arial"/>
              </a:rPr>
              <a:t>Click to edit the outline text format</a:t>
            </a:r>
            <a:endParaRPr lang="en-GB" sz="2000" b="0" u="none" strike="noStrike">
              <a:solidFill>
                <a:schemeClr val="dk1"/>
              </a:solidFill>
              <a:effectLst/>
              <a:uFillTx/>
              <a:latin typeface="Arial"/>
            </a:endParaRPr>
          </a:p>
          <a:p>
            <a:pPr marL="743040" lvl="1" indent="-285840" algn="l">
              <a:lnSpc>
                <a:spcPct val="100000"/>
              </a:lnSpc>
              <a:spcBef>
                <a:spcPts val="1134"/>
              </a:spcBef>
              <a:buClr>
                <a:srgbClr val="000000"/>
              </a:buClr>
              <a:buSzPct val="75000"/>
              <a:buFont typeface="Symbol" charset="2"/>
              <a:buChar char=""/>
            </a:pPr>
            <a:r>
              <a:rPr lang="en-GB" sz="2000" b="0" u="none" strike="noStrike">
                <a:solidFill>
                  <a:schemeClr val="dk1"/>
                </a:solidFill>
                <a:effectLst/>
                <a:uFillTx/>
                <a:latin typeface="Arial"/>
              </a:rPr>
              <a:t>Second Outline Level</a:t>
            </a:r>
            <a:endParaRPr lang="en-GB" sz="2000" b="0" u="none" strike="noStrike">
              <a:solidFill>
                <a:schemeClr val="dk1"/>
              </a:solidFill>
              <a:effectLst/>
              <a:uFillTx/>
              <a:latin typeface="Arial"/>
            </a:endParaRPr>
          </a:p>
          <a:p>
            <a:pPr marL="1143000" lvl="2" indent="-228600" algn="l">
              <a:lnSpc>
                <a:spcPct val="100000"/>
              </a:lnSpc>
              <a:spcBef>
                <a:spcPts val="850"/>
              </a:spcBef>
              <a:buClr>
                <a:srgbClr val="000000"/>
              </a:buClr>
              <a:buSzPct val="45000"/>
              <a:buFont typeface="Wingdings" charset="2"/>
              <a:buChar char=""/>
            </a:pPr>
            <a:r>
              <a:rPr lang="en-GB" sz="2000" b="0" u="none" strike="noStrike">
                <a:solidFill>
                  <a:schemeClr val="dk1"/>
                </a:solidFill>
                <a:effectLst/>
                <a:uFillTx/>
                <a:latin typeface="Arial"/>
              </a:rPr>
              <a:t>Third Outline Level</a:t>
            </a:r>
            <a:endParaRPr lang="en-GB" sz="2000" b="0" u="none" strike="noStrike">
              <a:solidFill>
                <a:schemeClr val="dk1"/>
              </a:solidFill>
              <a:effectLst/>
              <a:uFillTx/>
              <a:latin typeface="Arial"/>
            </a:endParaRPr>
          </a:p>
          <a:p>
            <a:pPr marL="1600200" lvl="3" indent="-228600" algn="l">
              <a:lnSpc>
                <a:spcPct val="100000"/>
              </a:lnSpc>
              <a:spcBef>
                <a:spcPts val="567"/>
              </a:spcBef>
              <a:buClr>
                <a:srgbClr val="000000"/>
              </a:buClr>
              <a:buSzPct val="75000"/>
              <a:buFont typeface="Symbol" charset="2"/>
              <a:buChar char=""/>
            </a:pPr>
            <a:r>
              <a:rPr lang="en-GB" sz="2000" b="0" u="none" strike="noStrike">
                <a:solidFill>
                  <a:schemeClr val="dk1"/>
                </a:solidFill>
                <a:effectLst/>
                <a:uFillTx/>
                <a:latin typeface="Arial"/>
              </a:rPr>
              <a:t>Fourth Outline Level</a:t>
            </a:r>
            <a:endParaRPr lang="en-GB" sz="2000" b="0" u="none" strike="noStrike">
              <a:solidFill>
                <a:schemeClr val="dk1"/>
              </a:solidFill>
              <a:effectLst/>
              <a:uFillTx/>
              <a:latin typeface="Arial"/>
            </a:endParaRPr>
          </a:p>
          <a:p>
            <a:pPr marL="2057400" lvl="4" indent="-228600" algn="l">
              <a:lnSpc>
                <a:spcPct val="100000"/>
              </a:lnSpc>
              <a:spcBef>
                <a:spcPts val="283"/>
              </a:spcBef>
              <a:buClr>
                <a:srgbClr val="000000"/>
              </a:buClr>
              <a:buSzPct val="45000"/>
              <a:buFont typeface="Wingdings" charset="2"/>
              <a:buChar char=""/>
            </a:pPr>
            <a:r>
              <a:rPr lang="en-GB" sz="2000" b="0" u="none" strike="noStrike">
                <a:solidFill>
                  <a:schemeClr val="dk1"/>
                </a:solidFill>
                <a:effectLst/>
                <a:uFillTx/>
                <a:latin typeface="Arial"/>
              </a:rPr>
              <a:t>Fifth Outline Level</a:t>
            </a:r>
            <a:endParaRPr lang="en-GB" sz="2000" b="0" u="none" strike="noStrike">
              <a:solidFill>
                <a:schemeClr val="dk1"/>
              </a:solidFill>
              <a:effectLst/>
              <a:uFillTx/>
              <a:latin typeface="Arial"/>
            </a:endParaRPr>
          </a:p>
          <a:p>
            <a:pPr marL="2514600" lvl="5" indent="-228600" algn="l">
              <a:lnSpc>
                <a:spcPct val="100000"/>
              </a:lnSpc>
              <a:spcBef>
                <a:spcPts val="283"/>
              </a:spcBef>
              <a:buClr>
                <a:srgbClr val="000000"/>
              </a:buClr>
              <a:buSzPct val="45000"/>
              <a:buFont typeface="Wingdings" charset="2"/>
              <a:buChar char=""/>
            </a:pPr>
            <a:r>
              <a:rPr lang="en-GB" sz="2000" b="0" u="none" strike="noStrike">
                <a:solidFill>
                  <a:schemeClr val="dk1"/>
                </a:solidFill>
                <a:effectLst/>
                <a:uFillTx/>
                <a:latin typeface="Arial"/>
              </a:rPr>
              <a:t>Sixth Outline Level</a:t>
            </a:r>
            <a:endParaRPr lang="en-GB" sz="2000" b="0" u="none" strike="noStrike">
              <a:solidFill>
                <a:schemeClr val="dk1"/>
              </a:solidFill>
              <a:effectLst/>
              <a:uFillTx/>
              <a:latin typeface="Arial"/>
            </a:endParaRPr>
          </a:p>
          <a:p>
            <a:pPr marL="2971800" lvl="6" indent="-228600" algn="l">
              <a:lnSpc>
                <a:spcPct val="100000"/>
              </a:lnSpc>
              <a:spcBef>
                <a:spcPts val="283"/>
              </a:spcBef>
              <a:buClr>
                <a:srgbClr val="000000"/>
              </a:buClr>
              <a:buSzPct val="45000"/>
              <a:buFont typeface="Wingdings" charset="2"/>
              <a:buChar char=""/>
            </a:pPr>
            <a:r>
              <a:rPr lang="en-GB" sz="2000" b="0" u="none" strike="noStrike">
                <a:solidFill>
                  <a:schemeClr val="dk1"/>
                </a:solidFill>
                <a:effectLst/>
                <a:uFillTx/>
                <a:latin typeface="Arial"/>
              </a:rPr>
              <a:t>Seventh Outline Level</a:t>
            </a:r>
            <a:endParaRPr lang="en-GB" sz="2000" b="0" u="none" strike="noStrike">
              <a:solidFill>
                <a:schemeClr val="dk1"/>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only">
    <p:bg>
      <p:bgPr>
        <a:solidFill>
          <a:schemeClr val="lt2"/>
        </a:solidFill>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548640" y="365760"/>
            <a:ext cx="11063520" cy="685080"/>
          </a:xfrm>
          <a:prstGeom prst="rect">
            <a:avLst/>
          </a:prstGeom>
          <a:noFill/>
          <a:ln w="0">
            <a:noFill/>
          </a:ln>
        </p:spPr>
        <p:txBody>
          <a:bodyPr lIns="90000" tIns="45000" rIns="90000" bIns="45000" anchor="t">
            <a:noAutofit/>
          </a:bodyPr>
          <a:lstStyle>
            <a:lvl1pPr indent="0" algn="l">
              <a:lnSpc>
                <a:spcPct val="100000"/>
              </a:lnSpc>
              <a:buNone/>
              <a:tabLst>
                <a:tab pos="0" algn="l"/>
              </a:tabLst>
              <a:defRPr lang="en-GB" sz="3400" b="0" u="none" strike="noStrike">
                <a:solidFill>
                  <a:schemeClr val="dk1"/>
                </a:solidFill>
                <a:effectLst/>
                <a:uFillTx/>
                <a:latin typeface="Arial"/>
              </a:defRPr>
            </a:lvl1pPr>
          </a:lstStyle>
          <a:p>
            <a:pPr indent="0" algn="l">
              <a:lnSpc>
                <a:spcPct val="100000"/>
              </a:lnSpc>
              <a:buNone/>
              <a:tabLst>
                <a:tab pos="0" algn="l"/>
              </a:tabLst>
            </a:pPr>
            <a:r>
              <a:rPr lang="en-GB" sz="3400" b="0" u="none" strike="noStrike">
                <a:solidFill>
                  <a:schemeClr val="dk1"/>
                </a:solidFill>
                <a:effectLst/>
                <a:uFillTx/>
                <a:latin typeface="Arial"/>
              </a:rPr>
              <a:t>Click to edit the title text format</a:t>
            </a:r>
            <a:endParaRPr lang="en-GB" sz="3400" b="0" u="none" strike="noStrike">
              <a:solidFill>
                <a:schemeClr val="dk1"/>
              </a:solidFill>
              <a:effectLst/>
              <a:uFillTx/>
              <a:latin typeface="Arial"/>
            </a:endParaRPr>
          </a:p>
        </p:txBody>
      </p:sp>
      <p:sp>
        <p:nvSpPr>
          <p:cNvPr id="5" name="PlaceHolder 2"/>
          <p:cNvSpPr>
            <a:spLocks noGrp="1"/>
          </p:cNvSpPr>
          <p:nvPr>
            <p:ph type="body"/>
          </p:nvPr>
        </p:nvSpPr>
        <p:spPr>
          <a:xfrm>
            <a:off x="548640" y="1051560"/>
            <a:ext cx="11063520" cy="410760"/>
          </a:xfrm>
          <a:prstGeom prst="rect">
            <a:avLst/>
          </a:prstGeom>
          <a:noFill/>
          <a:ln w="0">
            <a:noFill/>
          </a:ln>
        </p:spPr>
        <p:txBody>
          <a:bodyPr lIns="90000" tIns="45000" rIns="90000" bIns="45000" anchor="t">
            <a:noAutofit/>
          </a:bodyPr>
          <a:lstStyle>
            <a:lvl1pPr algn="l">
              <a:lnSpc>
                <a:spcPct val="100000"/>
              </a:lnSpc>
              <a:spcBef>
                <a:spcPts val="1417"/>
              </a:spcBef>
              <a:buClr>
                <a:srgbClr val="000000"/>
              </a:buClr>
              <a:buSzPct val="45000"/>
              <a:buFont typeface="Wingdings" charset="2"/>
              <a:buChar char=""/>
              <a:defRPr lang="en-GB" sz="1800" b="0" u="none" strike="noStrike">
                <a:solidFill>
                  <a:schemeClr val="dk1"/>
                </a:solidFill>
                <a:effectLst/>
                <a:uFillTx/>
                <a:latin typeface="Arial"/>
              </a:defRPr>
            </a:lvl1pPr>
            <a:lvl2pPr lvl="1" algn="l">
              <a:lnSpc>
                <a:spcPct val="100000"/>
              </a:lnSpc>
              <a:spcBef>
                <a:spcPts val="1134"/>
              </a:spcBef>
              <a:buClr>
                <a:srgbClr val="000000"/>
              </a:buClr>
              <a:buSzPct val="75000"/>
              <a:buFont typeface="Symbol" charset="2"/>
              <a:buChar char=""/>
              <a:defRPr lang="en-GB" sz="1800" b="0" u="none" strike="noStrike">
                <a:solidFill>
                  <a:schemeClr val="dk1"/>
                </a:solidFill>
                <a:effectLst/>
                <a:uFillTx/>
                <a:latin typeface="Arial"/>
              </a:defRPr>
            </a:lvl2pPr>
            <a:lvl3pPr lvl="2" algn="l">
              <a:lnSpc>
                <a:spcPct val="100000"/>
              </a:lnSpc>
              <a:spcBef>
                <a:spcPts val="850"/>
              </a:spcBef>
              <a:buClr>
                <a:srgbClr val="000000"/>
              </a:buClr>
              <a:buSzPct val="45000"/>
              <a:buFont typeface="Wingdings" charset="2"/>
              <a:buChar char=""/>
              <a:defRPr lang="en-GB" sz="1800" b="0" u="none" strike="noStrike">
                <a:solidFill>
                  <a:schemeClr val="dk1"/>
                </a:solidFill>
                <a:effectLst/>
                <a:uFillTx/>
                <a:latin typeface="Arial"/>
              </a:defRPr>
            </a:lvl3pPr>
            <a:lvl4pPr lvl="3" algn="l">
              <a:lnSpc>
                <a:spcPct val="100000"/>
              </a:lnSpc>
              <a:spcBef>
                <a:spcPts val="567"/>
              </a:spcBef>
              <a:buClr>
                <a:srgbClr val="000000"/>
              </a:buClr>
              <a:buSzPct val="75000"/>
              <a:buFont typeface="Symbol" charset="2"/>
              <a:buChar char=""/>
              <a:defRPr lang="en-GB" sz="1800" b="0" u="none" strike="noStrike">
                <a:solidFill>
                  <a:schemeClr val="dk1"/>
                </a:solidFill>
                <a:effectLst/>
                <a:uFillTx/>
                <a:latin typeface="Arial"/>
              </a:defRPr>
            </a:lvl4pPr>
            <a:lvl5pPr lvl="4" algn="l">
              <a:lnSpc>
                <a:spcPct val="100000"/>
              </a:lnSpc>
              <a:spcBef>
                <a:spcPts val="283"/>
              </a:spcBef>
              <a:buClr>
                <a:srgbClr val="000000"/>
              </a:buClr>
              <a:buSzPct val="45000"/>
              <a:buFont typeface="Wingdings" charset="2"/>
              <a:buChar char=""/>
              <a:defRPr lang="en-GB" sz="1800" b="0" u="none" strike="noStrike">
                <a:solidFill>
                  <a:schemeClr val="dk1"/>
                </a:solidFill>
                <a:effectLst/>
                <a:uFillTx/>
                <a:latin typeface="Arial"/>
              </a:defRPr>
            </a:lvl5pPr>
            <a:lvl6pPr lvl="5" algn="l">
              <a:lnSpc>
                <a:spcPct val="100000"/>
              </a:lnSpc>
              <a:spcBef>
                <a:spcPts val="283"/>
              </a:spcBef>
              <a:buClr>
                <a:srgbClr val="000000"/>
              </a:buClr>
              <a:buSzPct val="45000"/>
              <a:buFont typeface="Wingdings" charset="2"/>
              <a:buChar char=""/>
              <a:defRPr lang="en-GB" sz="1800" b="0" u="none" strike="noStrike">
                <a:solidFill>
                  <a:schemeClr val="dk1"/>
                </a:solidFill>
                <a:effectLst/>
                <a:uFillTx/>
                <a:latin typeface="Arial"/>
              </a:defRPr>
            </a:lvl6pPr>
            <a:lvl7pPr lvl="6" algn="l">
              <a:lnSpc>
                <a:spcPct val="100000"/>
              </a:lnSpc>
              <a:spcBef>
                <a:spcPts val="283"/>
              </a:spcBef>
              <a:buClr>
                <a:srgbClr val="000000"/>
              </a:buClr>
              <a:buSzPct val="45000"/>
              <a:buFont typeface="Wingdings" charset="2"/>
              <a:buChar char=""/>
              <a:defRPr lang="en-GB" sz="1800" b="0" u="none" strike="noStrike">
                <a:solidFill>
                  <a:schemeClr val="dk1"/>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GB" sz="1800" b="0" u="none" strike="noStrike">
                <a:solidFill>
                  <a:schemeClr val="dk1"/>
                </a:solidFill>
                <a:effectLst/>
                <a:uFillTx/>
                <a:latin typeface="Arial"/>
              </a:rPr>
              <a:t>Click to edit the outline text format</a:t>
            </a:r>
            <a:endParaRPr lang="en-GB" sz="1800" b="0" u="none" strike="noStrike">
              <a:solidFill>
                <a:schemeClr val="dk1"/>
              </a:solidFill>
              <a:effectLst/>
              <a:uFillTx/>
              <a:latin typeface="Arial"/>
            </a:endParaRPr>
          </a:p>
          <a:p>
            <a:pPr marL="743040" lvl="1" indent="-285840" algn="l">
              <a:lnSpc>
                <a:spcPct val="100000"/>
              </a:lnSpc>
              <a:spcBef>
                <a:spcPts val="1134"/>
              </a:spcBef>
              <a:buClr>
                <a:srgbClr val="000000"/>
              </a:buClr>
              <a:buSzPct val="75000"/>
              <a:buFont typeface="Symbol" charset="2"/>
              <a:buChar char=""/>
            </a:pPr>
            <a:r>
              <a:rPr lang="en-GB" sz="1800" b="0" u="none" strike="noStrike">
                <a:solidFill>
                  <a:schemeClr val="dk1"/>
                </a:solidFill>
                <a:effectLst/>
                <a:uFillTx/>
                <a:latin typeface="Arial"/>
              </a:rPr>
              <a:t>Second Outline Level</a:t>
            </a:r>
            <a:endParaRPr lang="en-GB" sz="1800" b="0" u="none" strike="noStrike">
              <a:solidFill>
                <a:schemeClr val="dk1"/>
              </a:solidFill>
              <a:effectLst/>
              <a:uFillTx/>
              <a:latin typeface="Arial"/>
            </a:endParaRPr>
          </a:p>
          <a:p>
            <a:pPr marL="1143000" lvl="2" indent="-228600" algn="l">
              <a:lnSpc>
                <a:spcPct val="100000"/>
              </a:lnSpc>
              <a:spcBef>
                <a:spcPts val="850"/>
              </a:spcBef>
              <a:buClr>
                <a:srgbClr val="000000"/>
              </a:buClr>
              <a:buSzPct val="45000"/>
              <a:buFont typeface="Wingdings" charset="2"/>
              <a:buChar char=""/>
            </a:pPr>
            <a:r>
              <a:rPr lang="en-GB" sz="1800" b="0" u="none" strike="noStrike">
                <a:solidFill>
                  <a:schemeClr val="dk1"/>
                </a:solidFill>
                <a:effectLst/>
                <a:uFillTx/>
                <a:latin typeface="Arial"/>
              </a:rPr>
              <a:t>Third Outline Level</a:t>
            </a:r>
            <a:endParaRPr lang="en-GB" sz="1800" b="0" u="none" strike="noStrike">
              <a:solidFill>
                <a:schemeClr val="dk1"/>
              </a:solidFill>
              <a:effectLst/>
              <a:uFillTx/>
              <a:latin typeface="Arial"/>
            </a:endParaRPr>
          </a:p>
          <a:p>
            <a:pPr marL="1600200" lvl="3" indent="-228600" algn="l">
              <a:lnSpc>
                <a:spcPct val="100000"/>
              </a:lnSpc>
              <a:spcBef>
                <a:spcPts val="567"/>
              </a:spcBef>
              <a:buClr>
                <a:srgbClr val="000000"/>
              </a:buClr>
              <a:buSzPct val="75000"/>
              <a:buFont typeface="Symbol" charset="2"/>
              <a:buChar char=""/>
            </a:pPr>
            <a:r>
              <a:rPr lang="en-GB" sz="1800" b="0" u="none" strike="noStrike">
                <a:solidFill>
                  <a:schemeClr val="dk1"/>
                </a:solidFill>
                <a:effectLst/>
                <a:uFillTx/>
                <a:latin typeface="Arial"/>
              </a:rPr>
              <a:t>Fourth Outline Level</a:t>
            </a:r>
            <a:endParaRPr lang="en-GB" sz="1800" b="0" u="none" strike="noStrike">
              <a:solidFill>
                <a:schemeClr val="dk1"/>
              </a:solidFill>
              <a:effectLst/>
              <a:uFillTx/>
              <a:latin typeface="Arial"/>
            </a:endParaRPr>
          </a:p>
          <a:p>
            <a:pPr marL="2057400" lvl="4" indent="-228600" algn="l">
              <a:lnSpc>
                <a:spcPct val="100000"/>
              </a:lnSpc>
              <a:spcBef>
                <a:spcPts val="283"/>
              </a:spcBef>
              <a:buClr>
                <a:srgbClr val="000000"/>
              </a:buClr>
              <a:buSzPct val="45000"/>
              <a:buFont typeface="Wingdings" charset="2"/>
              <a:buChar char=""/>
            </a:pPr>
            <a:r>
              <a:rPr lang="en-GB" sz="1800" b="0" u="none" strike="noStrike">
                <a:solidFill>
                  <a:schemeClr val="dk1"/>
                </a:solidFill>
                <a:effectLst/>
                <a:uFillTx/>
                <a:latin typeface="Arial"/>
              </a:rPr>
              <a:t>Fifth Outline Level</a:t>
            </a:r>
            <a:endParaRPr lang="en-GB" sz="1800" b="0" u="none" strike="noStrike">
              <a:solidFill>
                <a:schemeClr val="dk1"/>
              </a:solidFill>
              <a:effectLst/>
              <a:uFillTx/>
              <a:latin typeface="Arial"/>
            </a:endParaRPr>
          </a:p>
          <a:p>
            <a:pPr marL="2514600" lvl="5" indent="-228600" algn="l">
              <a:lnSpc>
                <a:spcPct val="100000"/>
              </a:lnSpc>
              <a:spcBef>
                <a:spcPts val="283"/>
              </a:spcBef>
              <a:buClr>
                <a:srgbClr val="000000"/>
              </a:buClr>
              <a:buSzPct val="45000"/>
              <a:buFont typeface="Wingdings" charset="2"/>
              <a:buChar char=""/>
            </a:pPr>
            <a:r>
              <a:rPr lang="en-GB" sz="1800" b="0" u="none" strike="noStrike">
                <a:solidFill>
                  <a:schemeClr val="dk1"/>
                </a:solidFill>
                <a:effectLst/>
                <a:uFillTx/>
                <a:latin typeface="Arial"/>
              </a:rPr>
              <a:t>Sixth Outline Level</a:t>
            </a:r>
            <a:endParaRPr lang="en-GB" sz="1800" b="0" u="none" strike="noStrike">
              <a:solidFill>
                <a:schemeClr val="dk1"/>
              </a:solidFill>
              <a:effectLst/>
              <a:uFillTx/>
              <a:latin typeface="Arial"/>
            </a:endParaRPr>
          </a:p>
          <a:p>
            <a:pPr marL="2971800" lvl="6" indent="-228600" algn="l">
              <a:lnSpc>
                <a:spcPct val="100000"/>
              </a:lnSpc>
              <a:spcBef>
                <a:spcPts val="283"/>
              </a:spcBef>
              <a:buClr>
                <a:srgbClr val="000000"/>
              </a:buClr>
              <a:buSzPct val="45000"/>
              <a:buFont typeface="Wingdings" charset="2"/>
              <a:buChar char=""/>
            </a:pPr>
            <a:r>
              <a:rPr lang="en-GB" sz="1800" b="0" u="none" strike="noStrike">
                <a:solidFill>
                  <a:schemeClr val="dk1"/>
                </a:solidFill>
                <a:effectLst/>
                <a:uFillTx/>
                <a:latin typeface="Arial"/>
              </a:rPr>
              <a:t>Seventh Outline Level</a:t>
            </a:r>
            <a:endParaRPr lang="en-GB" sz="1800" b="0" u="none" strike="noStrike">
              <a:solidFill>
                <a:schemeClr val="dk1"/>
              </a:solidFill>
              <a:effectLst/>
              <a:uFillTx/>
              <a:latin typeface="Arial"/>
            </a:endParaRPr>
          </a:p>
        </p:txBody>
      </p:sp>
      <p:sp>
        <p:nvSpPr>
          <p:cNvPr id="6" name="PlaceHolder 3"/>
          <p:cNvSpPr>
            <a:spLocks noGrp="1"/>
          </p:cNvSpPr>
          <p:nvPr>
            <p:ph type="sldNum" idx="1"/>
          </p:nvPr>
        </p:nvSpPr>
        <p:spPr>
          <a:xfrm>
            <a:off x="11338560" y="6400800"/>
            <a:ext cx="456480" cy="27360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000" b="0" u="none" strike="noStrike">
                <a:solidFill>
                  <a:schemeClr val="accent4"/>
                </a:solidFill>
                <a:effectLst/>
                <a:uFillTx/>
                <a:latin typeface="Arial"/>
              </a:defRPr>
            </a:lvl1pPr>
          </a:lstStyle>
          <a:p>
            <a:pPr indent="0" algn="r" defTabSz="914400">
              <a:lnSpc>
                <a:spcPct val="100000"/>
              </a:lnSpc>
              <a:buNone/>
              <a:tabLst>
                <a:tab pos="0" algn="l"/>
              </a:tabLst>
            </a:pPr>
            <a:fld id="{FF6FCC07-353D-46F6-BCFD-8D302D1F0FFF}" type="slidenum">
              <a:rPr lang="en-US" sz="1000" b="0" u="none" strike="noStrike">
                <a:solidFill>
                  <a:schemeClr val="accent4"/>
                </a:solidFill>
                <a:effectLst/>
                <a:uFillTx/>
                <a:latin typeface="Arial"/>
              </a:rPr>
              <a:t>&lt;number&gt;</a:t>
            </a:fld>
            <a:endParaRPr lang="en-GB" sz="10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slideLayout" Target="../slideLayouts/slideLayout3.xml"/><Relationship Id="rId10"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slideLayout" Target="../slideLayouts/slideLayout3.xml"/><Relationship Id="rId8"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slideLayout" Target="../slideLayouts/slideLayout3.xml"/><Relationship Id="rId9"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30.png"/><Relationship Id="rId9" Type="http://schemas.openxmlformats.org/officeDocument/2006/relationships/image" Target="../media/image31.png"/><Relationship Id="rId10" Type="http://schemas.openxmlformats.org/officeDocument/2006/relationships/image" Target="../media/image32.png"/><Relationship Id="rId11" Type="http://schemas.openxmlformats.org/officeDocument/2006/relationships/image" Target="../media/image33.png"/><Relationship Id="rId12" Type="http://schemas.openxmlformats.org/officeDocument/2006/relationships/image" Target="../media/image7.png"/><Relationship Id="rId13" Type="http://schemas.openxmlformats.org/officeDocument/2006/relationships/slideLayout" Target="../slideLayouts/slideLayout3.xml"/><Relationship Id="rId14"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 name="PlaceHolder 1"/>
          <p:cNvSpPr>
            <a:spLocks noGrp="1"/>
          </p:cNvSpPr>
          <p:nvPr>
            <p:ph type="title" hasCustomPrompt="1"/>
          </p:nvPr>
        </p:nvSpPr>
        <p:spPr>
          <a:xfrm>
            <a:off x="640080" y="2011680"/>
            <a:ext cx="4937040" cy="1736640"/>
          </a:xfrm>
          <a:prstGeom prst="rect">
            <a:avLst/>
          </a:prstGeom>
          <a:noFill/>
          <a:ln w="0">
            <a:noFill/>
          </a:ln>
        </p:spPr>
        <p:txBody>
          <a:bodyPr lIns="0" tIns="0" rIns="0" bIns="0" anchor="b">
            <a:noAutofit/>
          </a:bodyPr>
          <a:p>
            <a:pPr indent="0" algn="l" defTabSz="914400">
              <a:lnSpc>
                <a:spcPct val="100000"/>
              </a:lnSpc>
              <a:buNone/>
              <a:tabLst>
                <a:tab pos="0" algn="l"/>
              </a:tabLst>
            </a:pPr>
            <a:r>
              <a:rPr lang="en-US" sz="4400" b="1" u="none" strike="noStrike">
                <a:solidFill>
                  <a:schemeClr val="dk1"/>
                </a:solidFill>
                <a:effectLst/>
                <a:uFillTx/>
                <a:latin typeface="Arial"/>
              </a:rPr>
              <a:t>Agentic AI for coding</a:t>
            </a:r>
            <a:endParaRPr lang="en-GB" sz="4400" b="0" u="none" strike="noStrike">
              <a:solidFill>
                <a:schemeClr val="dk1"/>
              </a:solidFill>
              <a:effectLst/>
              <a:uFillTx/>
              <a:latin typeface="Arial"/>
            </a:endParaRPr>
          </a:p>
        </p:txBody>
      </p:sp>
      <p:sp>
        <p:nvSpPr>
          <p:cNvPr id="14" name="PlaceHolder 2"/>
          <p:cNvSpPr>
            <a:spLocks noGrp="1"/>
          </p:cNvSpPr>
          <p:nvPr>
            <p:ph hasCustomPrompt="1"/>
          </p:nvPr>
        </p:nvSpPr>
        <p:spPr>
          <a:xfrm>
            <a:off x="640080" y="3931920"/>
            <a:ext cx="4571280" cy="1096560"/>
          </a:xfrm>
          <a:prstGeom prst="rect">
            <a:avLst/>
          </a:prstGeom>
          <a:noFill/>
          <a:ln w="0">
            <a:noFill/>
          </a:ln>
        </p:spPr>
        <p:txBody>
          <a:bodyPr lIns="0" tIns="0" rIns="0" bIns="0" anchor="t">
            <a:noAutofit/>
          </a:bodyPr>
          <a:p>
            <a:pPr indent="0" algn="l" defTabSz="914400">
              <a:lnSpc>
                <a:spcPct val="100000"/>
              </a:lnSpc>
              <a:spcBef>
                <a:spcPts val="400"/>
              </a:spcBef>
              <a:buNone/>
              <a:tabLst>
                <a:tab pos="0" algn="l"/>
              </a:tabLst>
            </a:pPr>
            <a:r>
              <a:rPr lang="en-US" sz="2000" b="0" u="none" strike="noStrike">
                <a:solidFill>
                  <a:schemeClr val="accent1"/>
                </a:solidFill>
                <a:effectLst/>
                <a:uFillTx/>
                <a:latin typeface="Arial"/>
              </a:rPr>
              <a:t>Why it works so well, and what it can do for your research</a:t>
            </a:r>
            <a:endParaRPr lang="en-GB" sz="2000" b="0" u="none" strike="noStrike">
              <a:solidFill>
                <a:schemeClr val="dk1"/>
              </a:solidFill>
              <a:effectLst/>
              <a:uFillTx/>
              <a:latin typeface="Arial"/>
            </a:endParaRPr>
          </a:p>
        </p:txBody>
      </p:sp>
      <p:pic>
        <p:nvPicPr>
          <p:cNvPr id="15" name="Hero illustration" descr="An R script for a survival analysis, with the Kaplan-Meier plot it produces"/>
          <p:cNvPicPr/>
          <p:nvPr/>
        </p:nvPicPr>
        <p:blipFill>
          <a:blip r:embed="rId1"/>
          <a:stretch/>
        </p:blipFill>
        <p:spPr>
          <a:xfrm>
            <a:off x="5669280" y="914400"/>
            <a:ext cx="6171480" cy="487296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 name="PlaceHolder 1"/>
          <p:cNvSpPr>
            <a:spLocks noGrp="1"/>
          </p:cNvSpPr>
          <p:nvPr>
            <p:ph type="title" hasCustomPrompt="1"/>
          </p:nvPr>
        </p:nvSpPr>
        <p:spPr>
          <a:xfrm>
            <a:off x="548640" y="365760"/>
            <a:ext cx="11063520" cy="68508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400" b="1" u="none" strike="noStrike">
                <a:solidFill>
                  <a:schemeClr val="dk1"/>
                </a:solidFill>
                <a:effectLst/>
                <a:uFillTx/>
                <a:latin typeface="Arial"/>
              </a:rPr>
              <a:t>Why is AI so good at coding?</a:t>
            </a:r>
            <a:endParaRPr lang="en-GB" sz="3400" b="0" u="none" strike="noStrike">
              <a:solidFill>
                <a:schemeClr val="dk1"/>
              </a:solidFill>
              <a:effectLst/>
              <a:uFillTx/>
              <a:latin typeface="Arial"/>
            </a:endParaRPr>
          </a:p>
        </p:txBody>
      </p:sp>
      <p:sp>
        <p:nvSpPr>
          <p:cNvPr id="17" name="PlaceHolder 2"/>
          <p:cNvSpPr>
            <a:spLocks noGrp="1"/>
          </p:cNvSpPr>
          <p:nvPr>
            <p:ph hasCustomPrompt="1"/>
          </p:nvPr>
        </p:nvSpPr>
        <p:spPr>
          <a:xfrm>
            <a:off x="548640" y="1051560"/>
            <a:ext cx="11063520" cy="410760"/>
          </a:xfrm>
          <a:prstGeom prst="rect">
            <a:avLst/>
          </a:prstGeom>
          <a:noFill/>
          <a:ln w="0">
            <a:noFill/>
          </a:ln>
        </p:spPr>
        <p:txBody>
          <a:bodyPr lIns="0" tIns="0" rIns="0" bIns="0" anchor="t">
            <a:noAutofit/>
          </a:bodyPr>
          <a:p>
            <a:pPr indent="0" algn="l" defTabSz="914400">
              <a:lnSpc>
                <a:spcPct val="100000"/>
              </a:lnSpc>
              <a:spcBef>
                <a:spcPts val="360"/>
              </a:spcBef>
              <a:buNone/>
              <a:tabLst>
                <a:tab pos="0" algn="l"/>
              </a:tabLst>
            </a:pPr>
            <a:r>
              <a:rPr lang="en-US" sz="1800" b="0" u="none" strike="noStrike">
                <a:solidFill>
                  <a:schemeClr val="accent4"/>
                </a:solidFill>
                <a:effectLst/>
                <a:uFillTx/>
                <a:latin typeface="Arial"/>
              </a:rPr>
              <a:t>Everything a language model does well comes together in code</a:t>
            </a:r>
            <a:endParaRPr lang="en-GB" sz="1800" b="0" u="none" strike="noStrike">
              <a:solidFill>
                <a:schemeClr val="dk1"/>
              </a:solidFill>
              <a:effectLst/>
              <a:uFillTx/>
              <a:latin typeface="Arial"/>
            </a:endParaRPr>
          </a:p>
        </p:txBody>
      </p:sp>
      <p:sp>
        <p:nvSpPr>
          <p:cNvPr id="18" name="Card 1 box"/>
          <p:cNvSpPr/>
          <p:nvPr/>
        </p:nvSpPr>
        <p:spPr>
          <a:xfrm>
            <a:off x="548640" y="1783080"/>
            <a:ext cx="2559600" cy="2148120"/>
          </a:xfrm>
          <a:prstGeom prst="roundRect">
            <a:avLst>
              <a:gd name="adj" fmla="val 5106"/>
            </a:avLst>
          </a:prstGeom>
          <a:solidFill>
            <a:schemeClr val="bg1"/>
          </a:solidFill>
          <a:ln w="0">
            <a:noFill/>
          </a:ln>
          <a:effectLst>
            <a:outerShdw algn="bl" blurRad="1015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lnSpc>
                <a:spcPct val="100000"/>
              </a:lnSpc>
            </a:pPr>
            <a:endParaRPr lang="en-GB" sz="1800" b="0" u="none" strike="noStrike">
              <a:solidFill>
                <a:srgbClr val="000000"/>
              </a:solidFill>
              <a:effectLst/>
              <a:uFillTx/>
              <a:latin typeface="Arial"/>
            </a:endParaRPr>
          </a:p>
        </p:txBody>
      </p:sp>
      <p:sp>
        <p:nvSpPr>
          <p:cNvPr id="19" name="Card 1 icon circle"/>
          <p:cNvSpPr/>
          <p:nvPr/>
        </p:nvSpPr>
        <p:spPr>
          <a:xfrm>
            <a:off x="822960" y="2057400"/>
            <a:ext cx="685080" cy="68508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lnSpc>
                <a:spcPct val="100000"/>
              </a:lnSpc>
            </a:pPr>
            <a:endParaRPr lang="en-GB" sz="1800" b="0" u="none" strike="noStrike">
              <a:solidFill>
                <a:srgbClr val="FFFFFF"/>
              </a:solidFill>
              <a:effectLst/>
              <a:uFillTx/>
              <a:latin typeface="Arial"/>
            </a:endParaRPr>
          </a:p>
        </p:txBody>
      </p:sp>
      <p:pic>
        <p:nvPicPr>
          <p:cNvPr id="20" name="Card 1 icon" descr="preencoded.png"/>
          <p:cNvPicPr/>
          <p:nvPr/>
        </p:nvPicPr>
        <p:blipFill>
          <a:blip r:embed="rId1"/>
          <a:stretch/>
        </p:blipFill>
        <p:spPr>
          <a:xfrm>
            <a:off x="983160" y="2217600"/>
            <a:ext cx="365040" cy="365040"/>
          </a:xfrm>
          <a:prstGeom prst="rect">
            <a:avLst/>
          </a:prstGeom>
          <a:noFill/>
          <a:ln w="0">
            <a:noFill/>
          </a:ln>
        </p:spPr>
      </p:pic>
      <p:sp>
        <p:nvSpPr>
          <p:cNvPr id="21" name="Card 1 heading"/>
          <p:cNvSpPr/>
          <p:nvPr/>
        </p:nvSpPr>
        <p:spPr>
          <a:xfrm>
            <a:off x="822960" y="2880360"/>
            <a:ext cx="210240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chemeClr val="dk1"/>
                </a:solidFill>
                <a:effectLst/>
                <a:uFillTx/>
                <a:latin typeface="Arial"/>
              </a:rPr>
              <a:t>Many examples</a:t>
            </a:r>
            <a:endParaRPr lang="en-GB" sz="1900" b="0" u="none" strike="noStrike">
              <a:solidFill>
                <a:srgbClr val="000000"/>
              </a:solidFill>
              <a:effectLst/>
              <a:uFillTx/>
              <a:latin typeface="Arial"/>
            </a:endParaRPr>
          </a:p>
        </p:txBody>
      </p:sp>
      <p:sp>
        <p:nvSpPr>
          <p:cNvPr id="22" name="Card 1 caption"/>
          <p:cNvSpPr/>
          <p:nvPr/>
        </p:nvSpPr>
        <p:spPr>
          <a:xfrm>
            <a:off x="822960" y="3246120"/>
            <a:ext cx="2102400" cy="547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accent4"/>
                </a:solidFill>
                <a:effectLst/>
                <a:uFillTx/>
                <a:latin typeface="Arial"/>
              </a:rPr>
              <a:t>Billions of lines of open code to learn from</a:t>
            </a:r>
            <a:endParaRPr lang="en-GB" sz="1400" b="0" u="none" strike="noStrike">
              <a:solidFill>
                <a:srgbClr val="000000"/>
              </a:solidFill>
              <a:effectLst/>
              <a:uFillTx/>
              <a:latin typeface="Arial"/>
            </a:endParaRPr>
          </a:p>
        </p:txBody>
      </p:sp>
      <p:sp>
        <p:nvSpPr>
          <p:cNvPr id="23" name="Card 2 box"/>
          <p:cNvSpPr/>
          <p:nvPr/>
        </p:nvSpPr>
        <p:spPr>
          <a:xfrm>
            <a:off x="3383280" y="1783080"/>
            <a:ext cx="2559600" cy="2148120"/>
          </a:xfrm>
          <a:prstGeom prst="roundRect">
            <a:avLst>
              <a:gd name="adj" fmla="val 5106"/>
            </a:avLst>
          </a:prstGeom>
          <a:solidFill>
            <a:schemeClr val="bg1"/>
          </a:solidFill>
          <a:ln w="0">
            <a:noFill/>
          </a:ln>
          <a:effectLst>
            <a:outerShdw algn="bl" blurRad="1015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lnSpc>
                <a:spcPct val="100000"/>
              </a:lnSpc>
            </a:pPr>
            <a:endParaRPr lang="en-GB" sz="1800" b="0" u="none" strike="noStrike">
              <a:solidFill>
                <a:srgbClr val="000000"/>
              </a:solidFill>
              <a:effectLst/>
              <a:uFillTx/>
              <a:latin typeface="Arial"/>
            </a:endParaRPr>
          </a:p>
        </p:txBody>
      </p:sp>
      <p:sp>
        <p:nvSpPr>
          <p:cNvPr id="24" name="Card 2 icon circle"/>
          <p:cNvSpPr/>
          <p:nvPr/>
        </p:nvSpPr>
        <p:spPr>
          <a:xfrm>
            <a:off x="3657600" y="2057400"/>
            <a:ext cx="685080" cy="68508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lnSpc>
                <a:spcPct val="100000"/>
              </a:lnSpc>
            </a:pPr>
            <a:endParaRPr lang="en-GB" sz="1800" b="0" u="none" strike="noStrike">
              <a:solidFill>
                <a:srgbClr val="FFFFFF"/>
              </a:solidFill>
              <a:effectLst/>
              <a:uFillTx/>
              <a:latin typeface="Arial"/>
            </a:endParaRPr>
          </a:p>
        </p:txBody>
      </p:sp>
      <p:pic>
        <p:nvPicPr>
          <p:cNvPr id="25" name="Card 2 icon" descr="preencoded.png"/>
          <p:cNvPicPr/>
          <p:nvPr/>
        </p:nvPicPr>
        <p:blipFill>
          <a:blip r:embed="rId2"/>
          <a:stretch/>
        </p:blipFill>
        <p:spPr>
          <a:xfrm>
            <a:off x="3817800" y="2217600"/>
            <a:ext cx="365040" cy="365040"/>
          </a:xfrm>
          <a:prstGeom prst="rect">
            <a:avLst/>
          </a:prstGeom>
          <a:noFill/>
          <a:ln w="0">
            <a:noFill/>
          </a:ln>
        </p:spPr>
      </p:pic>
      <p:sp>
        <p:nvSpPr>
          <p:cNvPr id="26" name="Card 2 heading"/>
          <p:cNvSpPr/>
          <p:nvPr/>
        </p:nvSpPr>
        <p:spPr>
          <a:xfrm>
            <a:off x="3657600" y="2880360"/>
            <a:ext cx="210240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chemeClr val="dk1"/>
                </a:solidFill>
                <a:effectLst/>
                <a:uFillTx/>
                <a:latin typeface="Arial"/>
              </a:rPr>
              <a:t>Code is text</a:t>
            </a:r>
            <a:endParaRPr lang="en-GB" sz="1900" b="0" u="none" strike="noStrike">
              <a:solidFill>
                <a:srgbClr val="000000"/>
              </a:solidFill>
              <a:effectLst/>
              <a:uFillTx/>
              <a:latin typeface="Arial"/>
            </a:endParaRPr>
          </a:p>
        </p:txBody>
      </p:sp>
      <p:sp>
        <p:nvSpPr>
          <p:cNvPr id="27" name="Card 2 caption"/>
          <p:cNvSpPr/>
          <p:nvPr/>
        </p:nvSpPr>
        <p:spPr>
          <a:xfrm>
            <a:off x="3657600" y="3246120"/>
            <a:ext cx="2102400" cy="547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accent4"/>
                </a:solidFill>
                <a:effectLst/>
                <a:uFillTx/>
                <a:latin typeface="Arial"/>
              </a:rPr>
              <a:t>And text is what language models process</a:t>
            </a:r>
            <a:endParaRPr lang="en-GB" sz="1400" b="0" u="none" strike="noStrike">
              <a:solidFill>
                <a:srgbClr val="000000"/>
              </a:solidFill>
              <a:effectLst/>
              <a:uFillTx/>
              <a:latin typeface="Arial"/>
            </a:endParaRPr>
          </a:p>
        </p:txBody>
      </p:sp>
      <p:sp>
        <p:nvSpPr>
          <p:cNvPr id="28" name="Card 3 box"/>
          <p:cNvSpPr/>
          <p:nvPr/>
        </p:nvSpPr>
        <p:spPr>
          <a:xfrm>
            <a:off x="6217920" y="1783080"/>
            <a:ext cx="2559600" cy="2148120"/>
          </a:xfrm>
          <a:prstGeom prst="roundRect">
            <a:avLst>
              <a:gd name="adj" fmla="val 5106"/>
            </a:avLst>
          </a:prstGeom>
          <a:solidFill>
            <a:schemeClr val="bg1"/>
          </a:solidFill>
          <a:ln w="0">
            <a:noFill/>
          </a:ln>
          <a:effectLst>
            <a:outerShdw algn="bl" blurRad="1015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lnSpc>
                <a:spcPct val="100000"/>
              </a:lnSpc>
            </a:pPr>
            <a:endParaRPr lang="en-GB" sz="1800" b="0" u="none" strike="noStrike">
              <a:solidFill>
                <a:srgbClr val="000000"/>
              </a:solidFill>
              <a:effectLst/>
              <a:uFillTx/>
              <a:latin typeface="Arial"/>
            </a:endParaRPr>
          </a:p>
        </p:txBody>
      </p:sp>
      <p:sp>
        <p:nvSpPr>
          <p:cNvPr id="29" name="Card 3 icon circle"/>
          <p:cNvSpPr/>
          <p:nvPr/>
        </p:nvSpPr>
        <p:spPr>
          <a:xfrm>
            <a:off x="6492240" y="2057400"/>
            <a:ext cx="685080" cy="68508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lnSpc>
                <a:spcPct val="100000"/>
              </a:lnSpc>
            </a:pPr>
            <a:endParaRPr lang="en-GB" sz="1800" b="0" u="none" strike="noStrike">
              <a:solidFill>
                <a:srgbClr val="FFFFFF"/>
              </a:solidFill>
              <a:effectLst/>
              <a:uFillTx/>
              <a:latin typeface="Arial"/>
            </a:endParaRPr>
          </a:p>
        </p:txBody>
      </p:sp>
      <p:pic>
        <p:nvPicPr>
          <p:cNvPr id="30" name="Card 3 icon" descr="preencoded.png"/>
          <p:cNvPicPr/>
          <p:nvPr/>
        </p:nvPicPr>
        <p:blipFill>
          <a:blip r:embed="rId3"/>
          <a:stretch/>
        </p:blipFill>
        <p:spPr>
          <a:xfrm>
            <a:off x="6652440" y="2217600"/>
            <a:ext cx="365040" cy="365040"/>
          </a:xfrm>
          <a:prstGeom prst="rect">
            <a:avLst/>
          </a:prstGeom>
          <a:noFill/>
          <a:ln w="0">
            <a:noFill/>
          </a:ln>
        </p:spPr>
      </p:pic>
      <p:sp>
        <p:nvSpPr>
          <p:cNvPr id="31" name="Card 3 heading"/>
          <p:cNvSpPr/>
          <p:nvPr/>
        </p:nvSpPr>
        <p:spPr>
          <a:xfrm>
            <a:off x="6492240" y="2880360"/>
            <a:ext cx="210240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chemeClr val="dk1"/>
                </a:solidFill>
                <a:effectLst/>
                <a:uFillTx/>
                <a:latin typeface="Arial"/>
              </a:rPr>
              <a:t>Attention</a:t>
            </a:r>
            <a:endParaRPr lang="en-GB" sz="1900" b="0" u="none" strike="noStrike">
              <a:solidFill>
                <a:srgbClr val="000000"/>
              </a:solidFill>
              <a:effectLst/>
              <a:uFillTx/>
              <a:latin typeface="Arial"/>
            </a:endParaRPr>
          </a:p>
        </p:txBody>
      </p:sp>
      <p:sp>
        <p:nvSpPr>
          <p:cNvPr id="32" name="Card 3 caption"/>
          <p:cNvSpPr/>
          <p:nvPr/>
        </p:nvSpPr>
        <p:spPr>
          <a:xfrm>
            <a:off x="6492240" y="3246120"/>
            <a:ext cx="2102400" cy="547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accent4"/>
                </a:solidFill>
                <a:effectLst/>
                <a:uFillTx/>
                <a:latin typeface="Arial"/>
              </a:rPr>
              <a:t>Links each piece to related pieces far away</a:t>
            </a:r>
            <a:endParaRPr lang="en-GB" sz="1400" b="0" u="none" strike="noStrike">
              <a:solidFill>
                <a:srgbClr val="000000"/>
              </a:solidFill>
              <a:effectLst/>
              <a:uFillTx/>
              <a:latin typeface="Arial"/>
            </a:endParaRPr>
          </a:p>
        </p:txBody>
      </p:sp>
      <p:sp>
        <p:nvSpPr>
          <p:cNvPr id="33" name="Card 4 box"/>
          <p:cNvSpPr/>
          <p:nvPr/>
        </p:nvSpPr>
        <p:spPr>
          <a:xfrm>
            <a:off x="9052560" y="1783080"/>
            <a:ext cx="2559600" cy="2148120"/>
          </a:xfrm>
          <a:prstGeom prst="roundRect">
            <a:avLst>
              <a:gd name="adj" fmla="val 5106"/>
            </a:avLst>
          </a:prstGeom>
          <a:solidFill>
            <a:schemeClr val="bg1"/>
          </a:solidFill>
          <a:ln w="0">
            <a:noFill/>
          </a:ln>
          <a:effectLst>
            <a:outerShdw algn="bl" blurRad="1015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lnSpc>
                <a:spcPct val="100000"/>
              </a:lnSpc>
            </a:pPr>
            <a:endParaRPr lang="en-GB" sz="1800" b="0" u="none" strike="noStrike">
              <a:solidFill>
                <a:srgbClr val="000000"/>
              </a:solidFill>
              <a:effectLst/>
              <a:uFillTx/>
              <a:latin typeface="Arial"/>
            </a:endParaRPr>
          </a:p>
        </p:txBody>
      </p:sp>
      <p:sp>
        <p:nvSpPr>
          <p:cNvPr id="34" name="Card 4 icon circle"/>
          <p:cNvSpPr/>
          <p:nvPr/>
        </p:nvSpPr>
        <p:spPr>
          <a:xfrm>
            <a:off x="9326880" y="2057400"/>
            <a:ext cx="685080" cy="68508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lnSpc>
                <a:spcPct val="100000"/>
              </a:lnSpc>
            </a:pPr>
            <a:endParaRPr lang="en-GB" sz="1800" b="0" u="none" strike="noStrike">
              <a:solidFill>
                <a:srgbClr val="FFFFFF"/>
              </a:solidFill>
              <a:effectLst/>
              <a:uFillTx/>
              <a:latin typeface="Arial"/>
            </a:endParaRPr>
          </a:p>
        </p:txBody>
      </p:sp>
      <p:pic>
        <p:nvPicPr>
          <p:cNvPr id="35" name="Card 4 icon" descr="preencoded.png"/>
          <p:cNvPicPr/>
          <p:nvPr/>
        </p:nvPicPr>
        <p:blipFill>
          <a:blip r:embed="rId4"/>
          <a:stretch/>
        </p:blipFill>
        <p:spPr>
          <a:xfrm>
            <a:off x="9487080" y="2217600"/>
            <a:ext cx="365040" cy="365040"/>
          </a:xfrm>
          <a:prstGeom prst="rect">
            <a:avLst/>
          </a:prstGeom>
          <a:noFill/>
          <a:ln w="0">
            <a:noFill/>
          </a:ln>
        </p:spPr>
      </p:pic>
      <p:sp>
        <p:nvSpPr>
          <p:cNvPr id="36" name="Card 4 heading"/>
          <p:cNvSpPr/>
          <p:nvPr/>
        </p:nvSpPr>
        <p:spPr>
          <a:xfrm>
            <a:off x="9326880" y="2880360"/>
            <a:ext cx="210240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chemeClr val="dk1"/>
                </a:solidFill>
                <a:effectLst/>
                <a:uFillTx/>
                <a:latin typeface="Arial"/>
              </a:rPr>
              <a:t>Large context</a:t>
            </a:r>
            <a:endParaRPr lang="en-GB" sz="1900" b="0" u="none" strike="noStrike">
              <a:solidFill>
                <a:srgbClr val="000000"/>
              </a:solidFill>
              <a:effectLst/>
              <a:uFillTx/>
              <a:latin typeface="Arial"/>
            </a:endParaRPr>
          </a:p>
        </p:txBody>
      </p:sp>
      <p:sp>
        <p:nvSpPr>
          <p:cNvPr id="37" name="Card 4 caption"/>
          <p:cNvSpPr/>
          <p:nvPr/>
        </p:nvSpPr>
        <p:spPr>
          <a:xfrm>
            <a:off x="9326880" y="3246120"/>
            <a:ext cx="2102400" cy="547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accent4"/>
                </a:solidFill>
                <a:effectLst/>
                <a:uFillTx/>
                <a:latin typeface="Arial"/>
              </a:rPr>
              <a:t>Keeps a whole project in view at once</a:t>
            </a:r>
            <a:endParaRPr lang="en-GB" sz="1400" b="0" u="none" strike="noStrike">
              <a:solidFill>
                <a:srgbClr val="000000"/>
              </a:solidFill>
              <a:effectLst/>
              <a:uFillTx/>
              <a:latin typeface="Arial"/>
            </a:endParaRPr>
          </a:p>
        </p:txBody>
      </p:sp>
      <p:sp>
        <p:nvSpPr>
          <p:cNvPr id="38" name="Card 5 box"/>
          <p:cNvSpPr/>
          <p:nvPr/>
        </p:nvSpPr>
        <p:spPr>
          <a:xfrm>
            <a:off x="548640" y="4206240"/>
            <a:ext cx="2559600" cy="2148120"/>
          </a:xfrm>
          <a:prstGeom prst="roundRect">
            <a:avLst>
              <a:gd name="adj" fmla="val 5106"/>
            </a:avLst>
          </a:prstGeom>
          <a:solidFill>
            <a:schemeClr val="bg1"/>
          </a:solidFill>
          <a:ln w="0">
            <a:noFill/>
          </a:ln>
          <a:effectLst>
            <a:outerShdw algn="bl" blurRad="1015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lnSpc>
                <a:spcPct val="100000"/>
              </a:lnSpc>
            </a:pPr>
            <a:endParaRPr lang="en-GB" sz="1800" b="0" u="none" strike="noStrike">
              <a:solidFill>
                <a:srgbClr val="000000"/>
              </a:solidFill>
              <a:effectLst/>
              <a:uFillTx/>
              <a:latin typeface="Arial"/>
            </a:endParaRPr>
          </a:p>
        </p:txBody>
      </p:sp>
      <p:sp>
        <p:nvSpPr>
          <p:cNvPr id="39" name="Card 5 icon circle"/>
          <p:cNvSpPr/>
          <p:nvPr/>
        </p:nvSpPr>
        <p:spPr>
          <a:xfrm>
            <a:off x="822960" y="4480560"/>
            <a:ext cx="685080" cy="685080"/>
          </a:xfrm>
          <a:prstGeom prst="ellipse">
            <a:avLst/>
          </a:prstGeom>
          <a:solidFill>
            <a:schemeClr val="accent1"/>
          </a:solidFill>
          <a:ln w="0">
            <a:noFill/>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pic>
        <p:nvPicPr>
          <p:cNvPr id="40" name="Card 5 icon" descr="preencoded.png"/>
          <p:cNvPicPr/>
          <p:nvPr/>
        </p:nvPicPr>
        <p:blipFill>
          <a:blip r:embed="rId5"/>
          <a:stretch/>
        </p:blipFill>
        <p:spPr>
          <a:xfrm>
            <a:off x="983160" y="4640760"/>
            <a:ext cx="365040" cy="365040"/>
          </a:xfrm>
          <a:prstGeom prst="rect">
            <a:avLst/>
          </a:prstGeom>
          <a:noFill/>
          <a:ln w="0">
            <a:noFill/>
          </a:ln>
        </p:spPr>
      </p:pic>
      <p:sp>
        <p:nvSpPr>
          <p:cNvPr id="41" name="Card 5 heading"/>
          <p:cNvSpPr/>
          <p:nvPr/>
        </p:nvSpPr>
        <p:spPr>
          <a:xfrm>
            <a:off x="822960" y="5303520"/>
            <a:ext cx="210240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chemeClr val="dk1"/>
                </a:solidFill>
                <a:effectLst/>
                <a:uFillTx/>
                <a:latin typeface="Arial"/>
              </a:rPr>
              <a:t>Simple syntax</a:t>
            </a:r>
            <a:endParaRPr lang="en-GB" sz="1900" b="0" u="none" strike="noStrike">
              <a:solidFill>
                <a:srgbClr val="000000"/>
              </a:solidFill>
              <a:effectLst/>
              <a:uFillTx/>
              <a:latin typeface="Arial"/>
            </a:endParaRPr>
          </a:p>
        </p:txBody>
      </p:sp>
      <p:sp>
        <p:nvSpPr>
          <p:cNvPr id="42" name="Card 5 caption"/>
          <p:cNvSpPr/>
          <p:nvPr/>
        </p:nvSpPr>
        <p:spPr>
          <a:xfrm>
            <a:off x="822960" y="5669280"/>
            <a:ext cx="2102400" cy="547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accent4"/>
                </a:solidFill>
                <a:effectLst/>
                <a:uFillTx/>
                <a:latin typeface="Arial"/>
              </a:rPr>
              <a:t>Few words, strict grammar, no ambiguity</a:t>
            </a:r>
            <a:endParaRPr lang="en-GB" sz="1400" b="0" u="none" strike="noStrike">
              <a:solidFill>
                <a:srgbClr val="000000"/>
              </a:solidFill>
              <a:effectLst/>
              <a:uFillTx/>
              <a:latin typeface="Arial"/>
            </a:endParaRPr>
          </a:p>
        </p:txBody>
      </p:sp>
      <p:sp>
        <p:nvSpPr>
          <p:cNvPr id="43" name="Card 6 box"/>
          <p:cNvSpPr/>
          <p:nvPr/>
        </p:nvSpPr>
        <p:spPr>
          <a:xfrm>
            <a:off x="3383280" y="4206240"/>
            <a:ext cx="2559600" cy="2148120"/>
          </a:xfrm>
          <a:prstGeom prst="roundRect">
            <a:avLst>
              <a:gd name="adj" fmla="val 5106"/>
            </a:avLst>
          </a:prstGeom>
          <a:solidFill>
            <a:schemeClr val="bg1"/>
          </a:solidFill>
          <a:ln w="0">
            <a:noFill/>
          </a:ln>
          <a:effectLst>
            <a:outerShdw algn="bl" blurRad="1015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lnSpc>
                <a:spcPct val="100000"/>
              </a:lnSpc>
            </a:pPr>
            <a:endParaRPr lang="en-GB" sz="1800" b="0" u="none" strike="noStrike">
              <a:solidFill>
                <a:srgbClr val="000000"/>
              </a:solidFill>
              <a:effectLst/>
              <a:uFillTx/>
              <a:latin typeface="Arial"/>
            </a:endParaRPr>
          </a:p>
        </p:txBody>
      </p:sp>
      <p:sp>
        <p:nvSpPr>
          <p:cNvPr id="44" name="Card 6 icon circle"/>
          <p:cNvSpPr/>
          <p:nvPr/>
        </p:nvSpPr>
        <p:spPr>
          <a:xfrm>
            <a:off x="3657600" y="4480560"/>
            <a:ext cx="685080" cy="68508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lnSpc>
                <a:spcPct val="100000"/>
              </a:lnSpc>
            </a:pPr>
            <a:endParaRPr lang="en-GB" sz="1800" b="0" u="none" strike="noStrike">
              <a:solidFill>
                <a:srgbClr val="FFFFFF"/>
              </a:solidFill>
              <a:effectLst/>
              <a:uFillTx/>
              <a:latin typeface="Arial"/>
            </a:endParaRPr>
          </a:p>
        </p:txBody>
      </p:sp>
      <p:pic>
        <p:nvPicPr>
          <p:cNvPr id="45" name="Card 6 icon" descr="preencoded.png"/>
          <p:cNvPicPr/>
          <p:nvPr/>
        </p:nvPicPr>
        <p:blipFill>
          <a:blip r:embed="rId6"/>
          <a:stretch/>
        </p:blipFill>
        <p:spPr>
          <a:xfrm>
            <a:off x="3817800" y="4640760"/>
            <a:ext cx="365040" cy="365040"/>
          </a:xfrm>
          <a:prstGeom prst="rect">
            <a:avLst/>
          </a:prstGeom>
          <a:noFill/>
          <a:ln w="0">
            <a:noFill/>
          </a:ln>
        </p:spPr>
      </p:pic>
      <p:sp>
        <p:nvSpPr>
          <p:cNvPr id="46" name="Card 6 heading"/>
          <p:cNvSpPr/>
          <p:nvPr/>
        </p:nvSpPr>
        <p:spPr>
          <a:xfrm>
            <a:off x="3657600" y="5303520"/>
            <a:ext cx="210240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chemeClr val="dk1"/>
                </a:solidFill>
                <a:effectLst/>
                <a:uFillTx/>
                <a:latin typeface="Arial"/>
              </a:rPr>
              <a:t>Uses tools</a:t>
            </a:r>
            <a:endParaRPr lang="en-GB" sz="1900" b="0" u="none" strike="noStrike">
              <a:solidFill>
                <a:srgbClr val="000000"/>
              </a:solidFill>
              <a:effectLst/>
              <a:uFillTx/>
              <a:latin typeface="Arial"/>
            </a:endParaRPr>
          </a:p>
        </p:txBody>
      </p:sp>
      <p:sp>
        <p:nvSpPr>
          <p:cNvPr id="47" name="Card 6 caption"/>
          <p:cNvSpPr/>
          <p:nvPr/>
        </p:nvSpPr>
        <p:spPr>
          <a:xfrm>
            <a:off x="3657600" y="5669280"/>
            <a:ext cx="2102400" cy="547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accent4"/>
                </a:solidFill>
                <a:effectLst/>
                <a:uFillTx/>
                <a:latin typeface="Arial"/>
              </a:rPr>
              <a:t>Runs the code, reads errors, tries again</a:t>
            </a:r>
            <a:endParaRPr lang="en-GB" sz="1400" b="0" u="none" strike="noStrike">
              <a:solidFill>
                <a:srgbClr val="000000"/>
              </a:solidFill>
              <a:effectLst/>
              <a:uFillTx/>
              <a:latin typeface="Arial"/>
            </a:endParaRPr>
          </a:p>
        </p:txBody>
      </p:sp>
      <p:sp>
        <p:nvSpPr>
          <p:cNvPr id="48" name="Card 7 box"/>
          <p:cNvSpPr/>
          <p:nvPr/>
        </p:nvSpPr>
        <p:spPr>
          <a:xfrm>
            <a:off x="6217920" y="4206240"/>
            <a:ext cx="2559600" cy="2148120"/>
          </a:xfrm>
          <a:prstGeom prst="roundRect">
            <a:avLst>
              <a:gd name="adj" fmla="val 5106"/>
            </a:avLst>
          </a:prstGeom>
          <a:solidFill>
            <a:schemeClr val="bg1"/>
          </a:solidFill>
          <a:ln w="0">
            <a:noFill/>
          </a:ln>
          <a:effectLst>
            <a:outerShdw algn="bl" blurRad="1015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lnSpc>
                <a:spcPct val="100000"/>
              </a:lnSpc>
            </a:pPr>
            <a:endParaRPr lang="en-GB" sz="1800" b="0" u="none" strike="noStrike">
              <a:solidFill>
                <a:srgbClr val="000000"/>
              </a:solidFill>
              <a:effectLst/>
              <a:uFillTx/>
              <a:latin typeface="Arial"/>
            </a:endParaRPr>
          </a:p>
        </p:txBody>
      </p:sp>
      <p:sp>
        <p:nvSpPr>
          <p:cNvPr id="49" name="Card 7 icon circle"/>
          <p:cNvSpPr/>
          <p:nvPr/>
        </p:nvSpPr>
        <p:spPr>
          <a:xfrm>
            <a:off x="6492240" y="4480560"/>
            <a:ext cx="685080" cy="685080"/>
          </a:xfrm>
          <a:prstGeom prst="ellipse">
            <a:avLst/>
          </a:prstGeom>
          <a:solidFill>
            <a:schemeClr val="accent1"/>
          </a:solidFill>
          <a:ln w="0">
            <a:noFill/>
          </a:ln>
        </p:spPr>
        <p:style>
          <a:lnRef idx="0"/>
          <a:fillRef idx="0"/>
          <a:effectRef idx="0"/>
          <a:fontRef idx="minor"/>
        </p:style>
        <p:txBody>
          <a:bodyPr lIns="90000" tIns="45000" rIns="90000" bIns="45000" anchor="t">
            <a:noAutofit/>
          </a:bodyPr>
          <a:p>
            <a:pPr>
              <a:lnSpc>
                <a:spcPct val="100000"/>
              </a:lnSpc>
            </a:pPr>
            <a:endParaRPr lang="en-GB" sz="1800" b="0" u="none" strike="noStrike">
              <a:solidFill>
                <a:srgbClr val="FFFFFF"/>
              </a:solidFill>
              <a:effectLst/>
              <a:uFillTx/>
              <a:latin typeface="Arial"/>
            </a:endParaRPr>
          </a:p>
        </p:txBody>
      </p:sp>
      <p:pic>
        <p:nvPicPr>
          <p:cNvPr id="50" name="Card 7 icon" descr="preencoded.png"/>
          <p:cNvPicPr/>
          <p:nvPr/>
        </p:nvPicPr>
        <p:blipFill>
          <a:blip r:embed="rId7"/>
          <a:stretch/>
        </p:blipFill>
        <p:spPr>
          <a:xfrm>
            <a:off x="6652440" y="4640760"/>
            <a:ext cx="365040" cy="365040"/>
          </a:xfrm>
          <a:prstGeom prst="rect">
            <a:avLst/>
          </a:prstGeom>
          <a:noFill/>
          <a:ln w="0">
            <a:noFill/>
          </a:ln>
        </p:spPr>
      </p:pic>
      <p:sp>
        <p:nvSpPr>
          <p:cNvPr id="51" name="Card 7 heading"/>
          <p:cNvSpPr/>
          <p:nvPr/>
        </p:nvSpPr>
        <p:spPr>
          <a:xfrm>
            <a:off x="6492240" y="5303520"/>
            <a:ext cx="210240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chemeClr val="dk1"/>
                </a:solidFill>
                <a:effectLst/>
                <a:uFillTx/>
                <a:latin typeface="Arial"/>
              </a:rPr>
              <a:t>Testable</a:t>
            </a:r>
            <a:endParaRPr lang="en-GB" sz="1900" b="0" u="none" strike="noStrike">
              <a:solidFill>
                <a:srgbClr val="000000"/>
              </a:solidFill>
              <a:effectLst/>
              <a:uFillTx/>
              <a:latin typeface="Arial"/>
            </a:endParaRPr>
          </a:p>
        </p:txBody>
      </p:sp>
      <p:sp>
        <p:nvSpPr>
          <p:cNvPr id="52" name="Card 7 caption"/>
          <p:cNvSpPr/>
          <p:nvPr/>
        </p:nvSpPr>
        <p:spPr>
          <a:xfrm>
            <a:off x="6492240" y="5669280"/>
            <a:ext cx="2102400" cy="547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accent4"/>
                </a:solidFill>
                <a:effectLst/>
                <a:uFillTx/>
                <a:latin typeface="Arial"/>
              </a:rPr>
              <a:t>Code runs or it doesn't; tests pass or fail</a:t>
            </a:r>
            <a:endParaRPr lang="en-GB" sz="1400" b="0" u="none" strike="noStrike">
              <a:solidFill>
                <a:srgbClr val="000000"/>
              </a:solidFill>
              <a:effectLst/>
              <a:uFillTx/>
              <a:latin typeface="Arial"/>
            </a:endParaRPr>
          </a:p>
        </p:txBody>
      </p:sp>
      <p:sp>
        <p:nvSpPr>
          <p:cNvPr id="53" name="Card 8 box"/>
          <p:cNvSpPr/>
          <p:nvPr/>
        </p:nvSpPr>
        <p:spPr>
          <a:xfrm>
            <a:off x="9052560" y="4206240"/>
            <a:ext cx="2559600" cy="2148120"/>
          </a:xfrm>
          <a:prstGeom prst="roundRect">
            <a:avLst>
              <a:gd name="adj" fmla="val 5106"/>
            </a:avLst>
          </a:prstGeom>
          <a:solidFill>
            <a:schemeClr val="tx2"/>
          </a:solidFill>
          <a:ln w="0">
            <a:noFill/>
          </a:ln>
          <a:effectLst>
            <a:outerShdw algn="bl" blurRad="1015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pPr>
              <a:lnSpc>
                <a:spcPct val="100000"/>
              </a:lnSpc>
            </a:pPr>
            <a:endParaRPr lang="en-GB" sz="1800" b="0" u="none" strike="noStrike">
              <a:solidFill>
                <a:srgbClr val="FFFFFF"/>
              </a:solidFill>
              <a:effectLst/>
              <a:uFillTx/>
              <a:latin typeface="Arial"/>
            </a:endParaRPr>
          </a:p>
        </p:txBody>
      </p:sp>
      <p:sp>
        <p:nvSpPr>
          <p:cNvPr id="54" name="Card 8 icon circle"/>
          <p:cNvSpPr/>
          <p:nvPr/>
        </p:nvSpPr>
        <p:spPr>
          <a:xfrm>
            <a:off x="9326880" y="4480560"/>
            <a:ext cx="685080" cy="685080"/>
          </a:xfrm>
          <a:prstGeom prst="ellipse">
            <a:avLst/>
          </a:prstGeom>
          <a:solidFill>
            <a:schemeClr val="accent2"/>
          </a:solidFill>
          <a:ln w="0">
            <a:noFill/>
          </a:ln>
        </p:spPr>
        <p:style>
          <a:lnRef idx="0"/>
          <a:fillRef idx="0"/>
          <a:effectRef idx="0"/>
          <a:fontRef idx="minor"/>
        </p:style>
        <p:txBody>
          <a:bodyPr lIns="90000" tIns="45000" rIns="90000" bIns="45000" anchor="t">
            <a:noAutofit/>
          </a:bodyPr>
          <a:p>
            <a:pPr>
              <a:lnSpc>
                <a:spcPct val="100000"/>
              </a:lnSpc>
            </a:pPr>
            <a:endParaRPr lang="en-GB" sz="1800" b="0" u="none" strike="noStrike">
              <a:solidFill>
                <a:srgbClr val="FFFFFF"/>
              </a:solidFill>
              <a:effectLst/>
              <a:uFillTx/>
              <a:latin typeface="Arial"/>
            </a:endParaRPr>
          </a:p>
        </p:txBody>
      </p:sp>
      <p:pic>
        <p:nvPicPr>
          <p:cNvPr id="55" name="Card 8 icon" descr="preencoded.png"/>
          <p:cNvPicPr/>
          <p:nvPr/>
        </p:nvPicPr>
        <p:blipFill>
          <a:blip r:embed="rId8"/>
          <a:stretch/>
        </p:blipFill>
        <p:spPr>
          <a:xfrm>
            <a:off x="9487080" y="4640760"/>
            <a:ext cx="365040" cy="365040"/>
          </a:xfrm>
          <a:prstGeom prst="rect">
            <a:avLst/>
          </a:prstGeom>
          <a:noFill/>
          <a:ln w="0">
            <a:noFill/>
          </a:ln>
        </p:spPr>
      </p:pic>
      <p:sp>
        <p:nvSpPr>
          <p:cNvPr id="56" name="Card 8 heading"/>
          <p:cNvSpPr/>
          <p:nvPr/>
        </p:nvSpPr>
        <p:spPr>
          <a:xfrm>
            <a:off x="9326880" y="5303520"/>
            <a:ext cx="210240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700" b="0" u="none" strike="noStrike">
                <a:solidFill>
                  <a:schemeClr val="accent3"/>
                </a:solidFill>
                <a:effectLst/>
                <a:uFillTx/>
                <a:latin typeface="Arial"/>
              </a:rPr>
              <a:t>This all screams</a:t>
            </a:r>
            <a:endParaRPr lang="en-GB" sz="1700" b="0" u="none" strike="noStrike">
              <a:solidFill>
                <a:srgbClr val="000000"/>
              </a:solidFill>
              <a:effectLst/>
              <a:uFillTx/>
              <a:latin typeface="Arial"/>
            </a:endParaRPr>
          </a:p>
        </p:txBody>
      </p:sp>
      <p:sp>
        <p:nvSpPr>
          <p:cNvPr id="57" name="Card 8 punchline"/>
          <p:cNvSpPr/>
          <p:nvPr/>
        </p:nvSpPr>
        <p:spPr>
          <a:xfrm>
            <a:off x="9326880" y="5669280"/>
            <a:ext cx="2102400" cy="54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600" b="1" u="none" strike="noStrike">
                <a:solidFill>
                  <a:schemeClr val="lt1"/>
                </a:solidFill>
                <a:effectLst/>
                <a:uFillTx/>
                <a:latin typeface="Arial"/>
              </a:rPr>
              <a:t>Coding</a:t>
            </a:r>
            <a:endParaRPr lang="en-GB" sz="3600" b="0" u="none" strike="noStrike">
              <a:solidFill>
                <a:srgbClr val="000000"/>
              </a:solidFill>
              <a:effectLst/>
              <a:uFillTx/>
              <a:latin typeface="Arial"/>
            </a:endParaRPr>
          </a:p>
        </p:txBody>
      </p:sp>
      <p:sp>
        <p:nvSpPr>
          <p:cNvPr id="58" name="PlaceHolder 3"/>
          <p:cNvSpPr>
            <a:spLocks noGrp="1"/>
          </p:cNvSpPr>
          <p:nvPr>
            <p:ph type="sldNum" idx="5"/>
          </p:nvPr>
        </p:nvSpPr>
        <p:spPr>
          <a:xfrm>
            <a:off x="11338560" y="6400800"/>
            <a:ext cx="456480" cy="27360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000" b="0" u="none" strike="noStrike">
                <a:solidFill>
                  <a:schemeClr val="accent4"/>
                </a:solidFill>
                <a:effectLst/>
                <a:uFillTx/>
                <a:latin typeface="Arial"/>
              </a:defRPr>
            </a:lvl1pPr>
          </a:lstStyle>
          <a:p>
            <a:pPr indent="0" algn="r" defTabSz="914400">
              <a:lnSpc>
                <a:spcPct val="100000"/>
              </a:lnSpc>
              <a:buNone/>
              <a:tabLst>
                <a:tab pos="0" algn="l"/>
              </a:tabLst>
            </a:pPr>
            <a:fld id="{0F6EDE74-9C99-468A-B408-47A626C6736B}" type="slidenum">
              <a:rPr lang="en-US" sz="1000" b="0" u="none" strike="noStrike">
                <a:solidFill>
                  <a:schemeClr val="accent4"/>
                </a:solidFill>
                <a:effectLst/>
                <a:uFillTx/>
                <a:latin typeface="Arial"/>
              </a:rPr>
              <a:t>&lt;number&gt;</a:t>
            </a:fld>
            <a:endParaRPr lang="en-GB"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additive="repl">
                                        <p:cTn id="7" dur="400"/>
                                        <p:tgtEl>
                                          <p:spTgt spid="18"/>
                                        </p:tgtEl>
                                      </p:cBhvr>
                                    </p:animEffect>
                                  </p:childTnLst>
                                </p:cTn>
                              </p:par>
                              <p:par>
                                <p:cTn id="8" presetID="10" presetClass="entr"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additive="repl">
                                        <p:cTn id="10" dur="400"/>
                                        <p:tgtEl>
                                          <p:spTgt spid="19"/>
                                        </p:tgtEl>
                                      </p:cBhvr>
                                    </p:animEffect>
                                  </p:childTnLst>
                                </p:cTn>
                              </p:par>
                              <p:par>
                                <p:cTn id="11" presetID="10" presetClass="entr"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additive="repl">
                                        <p:cTn id="13" dur="400"/>
                                        <p:tgtEl>
                                          <p:spTgt spid="20"/>
                                        </p:tgtEl>
                                      </p:cBhvr>
                                    </p:animEffect>
                                  </p:childTnLst>
                                </p:cTn>
                              </p:par>
                              <p:par>
                                <p:cTn id="14" presetID="10" presetClass="entr" fill="hold"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additive="repl">
                                        <p:cTn id="16" dur="400"/>
                                        <p:tgtEl>
                                          <p:spTgt spid="21"/>
                                        </p:tgtEl>
                                      </p:cBhvr>
                                    </p:animEffect>
                                  </p:childTnLst>
                                </p:cTn>
                              </p:par>
                              <p:par>
                                <p:cTn id="17" presetID="10" presetClass="entr"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additive="repl">
                                        <p:cTn id="19" dur="400"/>
                                        <p:tgtEl>
                                          <p:spTgt spid="22"/>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additive="repl">
                                        <p:cTn id="24" dur="400"/>
                                        <p:tgtEl>
                                          <p:spTgt spid="23"/>
                                        </p:tgtEl>
                                      </p:cBhvr>
                                    </p:animEffect>
                                  </p:childTnLst>
                                </p:cTn>
                              </p:par>
                              <p:par>
                                <p:cTn id="25" presetID="10" presetClass="entr" fill="hold" nodeType="with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additive="repl">
                                        <p:cTn id="27" dur="400"/>
                                        <p:tgtEl>
                                          <p:spTgt spid="24"/>
                                        </p:tgtEl>
                                      </p:cBhvr>
                                    </p:animEffect>
                                  </p:childTnLst>
                                </p:cTn>
                              </p:par>
                              <p:par>
                                <p:cTn id="28" presetID="10" presetClass="entr" fill="hold" nodeType="withEffect">
                                  <p:stCondLst>
                                    <p:cond delay="0"/>
                                  </p:stCondLst>
                                  <p:childTnLst>
                                    <p:set>
                                      <p:cBhvr>
                                        <p:cTn id="29" dur="1" fill="hold">
                                          <p:stCondLst>
                                            <p:cond delay="0"/>
                                          </p:stCondLst>
                                        </p:cTn>
                                        <p:tgtEl>
                                          <p:spTgt spid="25"/>
                                        </p:tgtEl>
                                        <p:attrNameLst>
                                          <p:attrName>style.visibility</p:attrName>
                                        </p:attrNameLst>
                                      </p:cBhvr>
                                      <p:to>
                                        <p:strVal val="visible"/>
                                      </p:to>
                                    </p:set>
                                    <p:animEffect transition="in" filter="fade">
                                      <p:cBhvr additive="repl">
                                        <p:cTn id="30" dur="400"/>
                                        <p:tgtEl>
                                          <p:spTgt spid="25"/>
                                        </p:tgtEl>
                                      </p:cBhvr>
                                    </p:animEffect>
                                  </p:childTnLst>
                                </p:cTn>
                              </p:par>
                              <p:par>
                                <p:cTn id="31" presetID="10" presetClass="entr" fill="hold" nodeType="withEffect">
                                  <p:stCondLst>
                                    <p:cond delay="0"/>
                                  </p:stCondLst>
                                  <p:childTnLst>
                                    <p:set>
                                      <p:cBhvr>
                                        <p:cTn id="32" dur="1" fill="hold">
                                          <p:stCondLst>
                                            <p:cond delay="0"/>
                                          </p:stCondLst>
                                        </p:cTn>
                                        <p:tgtEl>
                                          <p:spTgt spid="26"/>
                                        </p:tgtEl>
                                        <p:attrNameLst>
                                          <p:attrName>style.visibility</p:attrName>
                                        </p:attrNameLst>
                                      </p:cBhvr>
                                      <p:to>
                                        <p:strVal val="visible"/>
                                      </p:to>
                                    </p:set>
                                    <p:animEffect transition="in" filter="fade">
                                      <p:cBhvr additive="repl">
                                        <p:cTn id="33" dur="400"/>
                                        <p:tgtEl>
                                          <p:spTgt spid="26"/>
                                        </p:tgtEl>
                                      </p:cBhvr>
                                    </p:animEffect>
                                  </p:childTnLst>
                                </p:cTn>
                              </p:par>
                              <p:par>
                                <p:cTn id="34" presetID="10" presetClass="entr" fill="hold" nodeType="withEffect">
                                  <p:stCondLst>
                                    <p:cond delay="0"/>
                                  </p:stCondLst>
                                  <p:childTnLst>
                                    <p:set>
                                      <p:cBhvr>
                                        <p:cTn id="35" dur="1" fill="hold">
                                          <p:stCondLst>
                                            <p:cond delay="0"/>
                                          </p:stCondLst>
                                        </p:cTn>
                                        <p:tgtEl>
                                          <p:spTgt spid="27"/>
                                        </p:tgtEl>
                                        <p:attrNameLst>
                                          <p:attrName>style.visibility</p:attrName>
                                        </p:attrNameLst>
                                      </p:cBhvr>
                                      <p:to>
                                        <p:strVal val="visible"/>
                                      </p:to>
                                    </p:set>
                                    <p:animEffect transition="in" filter="fade">
                                      <p:cBhvr additive="repl">
                                        <p:cTn id="36" dur="400"/>
                                        <p:tgtEl>
                                          <p:spTgt spid="27"/>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fill="hold" nodeType="click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fade">
                                      <p:cBhvr additive="repl">
                                        <p:cTn id="41" dur="400"/>
                                        <p:tgtEl>
                                          <p:spTgt spid="28"/>
                                        </p:tgtEl>
                                      </p:cBhvr>
                                    </p:animEffect>
                                  </p:childTnLst>
                                </p:cTn>
                              </p:par>
                              <p:par>
                                <p:cTn id="42" presetID="10" presetClass="entr" fill="hold" nodeType="withEffect">
                                  <p:stCondLst>
                                    <p:cond delay="0"/>
                                  </p:stCondLst>
                                  <p:childTnLst>
                                    <p:set>
                                      <p:cBhvr>
                                        <p:cTn id="43" dur="1" fill="hold">
                                          <p:stCondLst>
                                            <p:cond delay="0"/>
                                          </p:stCondLst>
                                        </p:cTn>
                                        <p:tgtEl>
                                          <p:spTgt spid="29"/>
                                        </p:tgtEl>
                                        <p:attrNameLst>
                                          <p:attrName>style.visibility</p:attrName>
                                        </p:attrNameLst>
                                      </p:cBhvr>
                                      <p:to>
                                        <p:strVal val="visible"/>
                                      </p:to>
                                    </p:set>
                                    <p:animEffect transition="in" filter="fade">
                                      <p:cBhvr additive="repl">
                                        <p:cTn id="44" dur="400"/>
                                        <p:tgtEl>
                                          <p:spTgt spid="29"/>
                                        </p:tgtEl>
                                      </p:cBhvr>
                                    </p:animEffect>
                                  </p:childTnLst>
                                </p:cTn>
                              </p:par>
                              <p:par>
                                <p:cTn id="45" presetID="10" presetClass="entr" fill="hold" nodeType="with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additive="repl">
                                        <p:cTn id="47" dur="400"/>
                                        <p:tgtEl>
                                          <p:spTgt spid="30"/>
                                        </p:tgtEl>
                                      </p:cBhvr>
                                    </p:animEffect>
                                  </p:childTnLst>
                                </p:cTn>
                              </p:par>
                              <p:par>
                                <p:cTn id="48" presetID="10" presetClass="entr" fill="hold" nodeType="withEffect">
                                  <p:stCondLst>
                                    <p:cond delay="0"/>
                                  </p:stCondLst>
                                  <p:childTnLst>
                                    <p:set>
                                      <p:cBhvr>
                                        <p:cTn id="49" dur="1" fill="hold">
                                          <p:stCondLst>
                                            <p:cond delay="0"/>
                                          </p:stCondLst>
                                        </p:cTn>
                                        <p:tgtEl>
                                          <p:spTgt spid="31"/>
                                        </p:tgtEl>
                                        <p:attrNameLst>
                                          <p:attrName>style.visibility</p:attrName>
                                        </p:attrNameLst>
                                      </p:cBhvr>
                                      <p:to>
                                        <p:strVal val="visible"/>
                                      </p:to>
                                    </p:set>
                                    <p:animEffect transition="in" filter="fade">
                                      <p:cBhvr additive="repl">
                                        <p:cTn id="50" dur="400"/>
                                        <p:tgtEl>
                                          <p:spTgt spid="31"/>
                                        </p:tgtEl>
                                      </p:cBhvr>
                                    </p:animEffect>
                                  </p:childTnLst>
                                </p:cTn>
                              </p:par>
                              <p:par>
                                <p:cTn id="51" presetID="10" presetClass="entr" fill="hold" nodeType="with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additive="repl">
                                        <p:cTn id="53" dur="400"/>
                                        <p:tgtEl>
                                          <p:spTgt spid="32"/>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fill="hold" nodeType="click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fade">
                                      <p:cBhvr additive="repl">
                                        <p:cTn id="58" dur="400"/>
                                        <p:tgtEl>
                                          <p:spTgt spid="33"/>
                                        </p:tgtEl>
                                      </p:cBhvr>
                                    </p:animEffect>
                                  </p:childTnLst>
                                </p:cTn>
                              </p:par>
                              <p:par>
                                <p:cTn id="59" presetID="10" presetClass="entr" fill="hold" nodeType="withEffect">
                                  <p:stCondLst>
                                    <p:cond delay="0"/>
                                  </p:stCondLst>
                                  <p:childTnLst>
                                    <p:set>
                                      <p:cBhvr>
                                        <p:cTn id="60" dur="1" fill="hold">
                                          <p:stCondLst>
                                            <p:cond delay="0"/>
                                          </p:stCondLst>
                                        </p:cTn>
                                        <p:tgtEl>
                                          <p:spTgt spid="34"/>
                                        </p:tgtEl>
                                        <p:attrNameLst>
                                          <p:attrName>style.visibility</p:attrName>
                                        </p:attrNameLst>
                                      </p:cBhvr>
                                      <p:to>
                                        <p:strVal val="visible"/>
                                      </p:to>
                                    </p:set>
                                    <p:animEffect transition="in" filter="fade">
                                      <p:cBhvr additive="repl">
                                        <p:cTn id="61" dur="400"/>
                                        <p:tgtEl>
                                          <p:spTgt spid="34"/>
                                        </p:tgtEl>
                                      </p:cBhvr>
                                    </p:animEffect>
                                  </p:childTnLst>
                                </p:cTn>
                              </p:par>
                              <p:par>
                                <p:cTn id="62" presetID="10" presetClass="entr" fill="hold" nodeType="withEffect">
                                  <p:stCondLst>
                                    <p:cond delay="0"/>
                                  </p:stCondLst>
                                  <p:childTnLst>
                                    <p:set>
                                      <p:cBhvr>
                                        <p:cTn id="63" dur="1" fill="hold">
                                          <p:stCondLst>
                                            <p:cond delay="0"/>
                                          </p:stCondLst>
                                        </p:cTn>
                                        <p:tgtEl>
                                          <p:spTgt spid="35"/>
                                        </p:tgtEl>
                                        <p:attrNameLst>
                                          <p:attrName>style.visibility</p:attrName>
                                        </p:attrNameLst>
                                      </p:cBhvr>
                                      <p:to>
                                        <p:strVal val="visible"/>
                                      </p:to>
                                    </p:set>
                                    <p:animEffect transition="in" filter="fade">
                                      <p:cBhvr additive="repl">
                                        <p:cTn id="64" dur="400"/>
                                        <p:tgtEl>
                                          <p:spTgt spid="35"/>
                                        </p:tgtEl>
                                      </p:cBhvr>
                                    </p:animEffect>
                                  </p:childTnLst>
                                </p:cTn>
                              </p:par>
                              <p:par>
                                <p:cTn id="65" presetID="10" presetClass="entr" fill="hold" nodeType="withEffect">
                                  <p:stCondLst>
                                    <p:cond delay="0"/>
                                  </p:stCondLst>
                                  <p:childTnLst>
                                    <p:set>
                                      <p:cBhvr>
                                        <p:cTn id="66" dur="1" fill="hold">
                                          <p:stCondLst>
                                            <p:cond delay="0"/>
                                          </p:stCondLst>
                                        </p:cTn>
                                        <p:tgtEl>
                                          <p:spTgt spid="36"/>
                                        </p:tgtEl>
                                        <p:attrNameLst>
                                          <p:attrName>style.visibility</p:attrName>
                                        </p:attrNameLst>
                                      </p:cBhvr>
                                      <p:to>
                                        <p:strVal val="visible"/>
                                      </p:to>
                                    </p:set>
                                    <p:animEffect transition="in" filter="fade">
                                      <p:cBhvr additive="repl">
                                        <p:cTn id="67" dur="400"/>
                                        <p:tgtEl>
                                          <p:spTgt spid="36"/>
                                        </p:tgtEl>
                                      </p:cBhvr>
                                    </p:animEffect>
                                  </p:childTnLst>
                                </p:cTn>
                              </p:par>
                              <p:par>
                                <p:cTn id="68" presetID="10" presetClass="entr" fill="hold" nodeType="withEffect">
                                  <p:stCondLst>
                                    <p:cond delay="0"/>
                                  </p:stCondLst>
                                  <p:childTnLst>
                                    <p:set>
                                      <p:cBhvr>
                                        <p:cTn id="69" dur="1" fill="hold">
                                          <p:stCondLst>
                                            <p:cond delay="0"/>
                                          </p:stCondLst>
                                        </p:cTn>
                                        <p:tgtEl>
                                          <p:spTgt spid="37"/>
                                        </p:tgtEl>
                                        <p:attrNameLst>
                                          <p:attrName>style.visibility</p:attrName>
                                        </p:attrNameLst>
                                      </p:cBhvr>
                                      <p:to>
                                        <p:strVal val="visible"/>
                                      </p:to>
                                    </p:set>
                                    <p:animEffect transition="in" filter="fade">
                                      <p:cBhvr additive="repl">
                                        <p:cTn id="70" dur="400"/>
                                        <p:tgtEl>
                                          <p:spTgt spid="37"/>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fill="hold" nodeType="clickEffect">
                                  <p:stCondLst>
                                    <p:cond delay="0"/>
                                  </p:stCondLst>
                                  <p:childTnLst>
                                    <p:set>
                                      <p:cBhvr>
                                        <p:cTn id="74" dur="1" fill="hold">
                                          <p:stCondLst>
                                            <p:cond delay="0"/>
                                          </p:stCondLst>
                                        </p:cTn>
                                        <p:tgtEl>
                                          <p:spTgt spid="38"/>
                                        </p:tgtEl>
                                        <p:attrNameLst>
                                          <p:attrName>style.visibility</p:attrName>
                                        </p:attrNameLst>
                                      </p:cBhvr>
                                      <p:to>
                                        <p:strVal val="visible"/>
                                      </p:to>
                                    </p:set>
                                    <p:animEffect transition="in" filter="fade">
                                      <p:cBhvr additive="repl">
                                        <p:cTn id="75" dur="400"/>
                                        <p:tgtEl>
                                          <p:spTgt spid="38"/>
                                        </p:tgtEl>
                                      </p:cBhvr>
                                    </p:animEffect>
                                  </p:childTnLst>
                                </p:cTn>
                              </p:par>
                              <p:par>
                                <p:cTn id="76" presetID="10" presetClass="entr" fill="hold" nodeType="withEffect">
                                  <p:stCondLst>
                                    <p:cond delay="0"/>
                                  </p:stCondLst>
                                  <p:childTnLst>
                                    <p:set>
                                      <p:cBhvr>
                                        <p:cTn id="77" dur="1" fill="hold">
                                          <p:stCondLst>
                                            <p:cond delay="0"/>
                                          </p:stCondLst>
                                        </p:cTn>
                                        <p:tgtEl>
                                          <p:spTgt spid="58"/>
                                        </p:tgtEl>
                                        <p:attrNameLst>
                                          <p:attrName>style.visibility</p:attrName>
                                        </p:attrNameLst>
                                      </p:cBhvr>
                                      <p:to>
                                        <p:strVal val="visible"/>
                                      </p:to>
                                    </p:set>
                                    <p:animEffect transition="in" filter="fade">
                                      <p:cBhvr additive="repl">
                                        <p:cTn id="78" dur="400"/>
                                        <p:tgtEl>
                                          <p:spTgt spid="58"/>
                                        </p:tgtEl>
                                      </p:cBhvr>
                                    </p:animEffect>
                                  </p:childTnLst>
                                </p:cTn>
                              </p:par>
                              <p:par>
                                <p:cTn id="79" presetID="10" presetClass="entr" fill="hold" nodeType="withEffect">
                                  <p:stCondLst>
                                    <p:cond delay="0"/>
                                  </p:stCondLst>
                                  <p:childTnLst>
                                    <p:set>
                                      <p:cBhvr>
                                        <p:cTn id="80" dur="1" fill="hold">
                                          <p:stCondLst>
                                            <p:cond delay="0"/>
                                          </p:stCondLst>
                                        </p:cTn>
                                        <p:tgtEl>
                                          <p:spTgt spid="40"/>
                                        </p:tgtEl>
                                        <p:attrNameLst>
                                          <p:attrName>style.visibility</p:attrName>
                                        </p:attrNameLst>
                                      </p:cBhvr>
                                      <p:to>
                                        <p:strVal val="visible"/>
                                      </p:to>
                                    </p:set>
                                    <p:animEffect transition="in" filter="fade">
                                      <p:cBhvr additive="repl">
                                        <p:cTn id="81" dur="400"/>
                                        <p:tgtEl>
                                          <p:spTgt spid="40"/>
                                        </p:tgtEl>
                                      </p:cBhvr>
                                    </p:animEffect>
                                  </p:childTnLst>
                                </p:cTn>
                              </p:par>
                              <p:par>
                                <p:cTn id="82" presetID="10" presetClass="entr" fill="hold" nodeType="withEffect">
                                  <p:stCondLst>
                                    <p:cond delay="0"/>
                                  </p:stCondLst>
                                  <p:childTnLst>
                                    <p:set>
                                      <p:cBhvr>
                                        <p:cTn id="83" dur="1" fill="hold">
                                          <p:stCondLst>
                                            <p:cond delay="0"/>
                                          </p:stCondLst>
                                        </p:cTn>
                                        <p:tgtEl>
                                          <p:spTgt spid="41"/>
                                        </p:tgtEl>
                                        <p:attrNameLst>
                                          <p:attrName>style.visibility</p:attrName>
                                        </p:attrNameLst>
                                      </p:cBhvr>
                                      <p:to>
                                        <p:strVal val="visible"/>
                                      </p:to>
                                    </p:set>
                                    <p:animEffect transition="in" filter="fade">
                                      <p:cBhvr additive="repl">
                                        <p:cTn id="84" dur="400"/>
                                        <p:tgtEl>
                                          <p:spTgt spid="41"/>
                                        </p:tgtEl>
                                      </p:cBhvr>
                                    </p:animEffect>
                                  </p:childTnLst>
                                </p:cTn>
                              </p:par>
                              <p:par>
                                <p:cTn id="85" presetID="10" presetClass="entr" fill="hold" nodeType="withEffect">
                                  <p:stCondLst>
                                    <p:cond delay="0"/>
                                  </p:stCondLst>
                                  <p:childTnLst>
                                    <p:set>
                                      <p:cBhvr>
                                        <p:cTn id="86" dur="1" fill="hold">
                                          <p:stCondLst>
                                            <p:cond delay="0"/>
                                          </p:stCondLst>
                                        </p:cTn>
                                        <p:tgtEl>
                                          <p:spTgt spid="42"/>
                                        </p:tgtEl>
                                        <p:attrNameLst>
                                          <p:attrName>style.visibility</p:attrName>
                                        </p:attrNameLst>
                                      </p:cBhvr>
                                      <p:to>
                                        <p:strVal val="visible"/>
                                      </p:to>
                                    </p:set>
                                    <p:animEffect transition="in" filter="fade">
                                      <p:cBhvr additive="repl">
                                        <p:cTn id="87" dur="400"/>
                                        <p:tgtEl>
                                          <p:spTgt spid="42"/>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fill="hold" nodeType="clickEffect">
                                  <p:stCondLst>
                                    <p:cond delay="0"/>
                                  </p:stCondLst>
                                  <p:childTnLst>
                                    <p:set>
                                      <p:cBhvr>
                                        <p:cTn id="91" dur="1" fill="hold">
                                          <p:stCondLst>
                                            <p:cond delay="0"/>
                                          </p:stCondLst>
                                        </p:cTn>
                                        <p:tgtEl>
                                          <p:spTgt spid="43"/>
                                        </p:tgtEl>
                                        <p:attrNameLst>
                                          <p:attrName>style.visibility</p:attrName>
                                        </p:attrNameLst>
                                      </p:cBhvr>
                                      <p:to>
                                        <p:strVal val="visible"/>
                                      </p:to>
                                    </p:set>
                                    <p:animEffect transition="in" filter="fade">
                                      <p:cBhvr additive="repl">
                                        <p:cTn id="92" dur="400"/>
                                        <p:tgtEl>
                                          <p:spTgt spid="43"/>
                                        </p:tgtEl>
                                      </p:cBhvr>
                                    </p:animEffect>
                                  </p:childTnLst>
                                </p:cTn>
                              </p:par>
                              <p:par>
                                <p:cTn id="93" presetID="10" presetClass="entr" fill="hold" nodeType="withEffect">
                                  <p:stCondLst>
                                    <p:cond delay="0"/>
                                  </p:stCondLst>
                                  <p:childTnLst>
                                    <p:set>
                                      <p:cBhvr>
                                        <p:cTn id="94" dur="1" fill="hold">
                                          <p:stCondLst>
                                            <p:cond delay="0"/>
                                          </p:stCondLst>
                                        </p:cTn>
                                        <p:tgtEl>
                                          <p:spTgt spid="44"/>
                                        </p:tgtEl>
                                        <p:attrNameLst>
                                          <p:attrName>style.visibility</p:attrName>
                                        </p:attrNameLst>
                                      </p:cBhvr>
                                      <p:to>
                                        <p:strVal val="visible"/>
                                      </p:to>
                                    </p:set>
                                    <p:animEffect transition="in" filter="fade">
                                      <p:cBhvr additive="repl">
                                        <p:cTn id="95" dur="400"/>
                                        <p:tgtEl>
                                          <p:spTgt spid="44"/>
                                        </p:tgtEl>
                                      </p:cBhvr>
                                    </p:animEffect>
                                  </p:childTnLst>
                                </p:cTn>
                              </p:par>
                              <p:par>
                                <p:cTn id="96" presetID="10" presetClass="entr" fill="hold" nodeType="withEffect">
                                  <p:stCondLst>
                                    <p:cond delay="0"/>
                                  </p:stCondLst>
                                  <p:childTnLst>
                                    <p:set>
                                      <p:cBhvr>
                                        <p:cTn id="97" dur="1" fill="hold">
                                          <p:stCondLst>
                                            <p:cond delay="0"/>
                                          </p:stCondLst>
                                        </p:cTn>
                                        <p:tgtEl>
                                          <p:spTgt spid="45"/>
                                        </p:tgtEl>
                                        <p:attrNameLst>
                                          <p:attrName>style.visibility</p:attrName>
                                        </p:attrNameLst>
                                      </p:cBhvr>
                                      <p:to>
                                        <p:strVal val="visible"/>
                                      </p:to>
                                    </p:set>
                                    <p:animEffect transition="in" filter="fade">
                                      <p:cBhvr additive="repl">
                                        <p:cTn id="98" dur="400"/>
                                        <p:tgtEl>
                                          <p:spTgt spid="45"/>
                                        </p:tgtEl>
                                      </p:cBhvr>
                                    </p:animEffect>
                                  </p:childTnLst>
                                </p:cTn>
                              </p:par>
                              <p:par>
                                <p:cTn id="99" presetID="10" presetClass="entr" fill="hold" nodeType="withEffect">
                                  <p:stCondLst>
                                    <p:cond delay="0"/>
                                  </p:stCondLst>
                                  <p:childTnLst>
                                    <p:set>
                                      <p:cBhvr>
                                        <p:cTn id="100" dur="1" fill="hold">
                                          <p:stCondLst>
                                            <p:cond delay="0"/>
                                          </p:stCondLst>
                                        </p:cTn>
                                        <p:tgtEl>
                                          <p:spTgt spid="46"/>
                                        </p:tgtEl>
                                        <p:attrNameLst>
                                          <p:attrName>style.visibility</p:attrName>
                                        </p:attrNameLst>
                                      </p:cBhvr>
                                      <p:to>
                                        <p:strVal val="visible"/>
                                      </p:to>
                                    </p:set>
                                    <p:animEffect transition="in" filter="fade">
                                      <p:cBhvr additive="repl">
                                        <p:cTn id="101" dur="400"/>
                                        <p:tgtEl>
                                          <p:spTgt spid="46"/>
                                        </p:tgtEl>
                                      </p:cBhvr>
                                    </p:animEffect>
                                  </p:childTnLst>
                                </p:cTn>
                              </p:par>
                              <p:par>
                                <p:cTn id="102" presetID="10" presetClass="entr" fill="hold" nodeType="withEffect">
                                  <p:stCondLst>
                                    <p:cond delay="0"/>
                                  </p:stCondLst>
                                  <p:childTnLst>
                                    <p:set>
                                      <p:cBhvr>
                                        <p:cTn id="103" dur="1" fill="hold">
                                          <p:stCondLst>
                                            <p:cond delay="0"/>
                                          </p:stCondLst>
                                        </p:cTn>
                                        <p:tgtEl>
                                          <p:spTgt spid="47"/>
                                        </p:tgtEl>
                                        <p:attrNameLst>
                                          <p:attrName>style.visibility</p:attrName>
                                        </p:attrNameLst>
                                      </p:cBhvr>
                                      <p:to>
                                        <p:strVal val="visible"/>
                                      </p:to>
                                    </p:set>
                                    <p:animEffect transition="in" filter="fade">
                                      <p:cBhvr additive="repl">
                                        <p:cTn id="104" dur="400"/>
                                        <p:tgtEl>
                                          <p:spTgt spid="47"/>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fill="hold" nodeType="clickEffect">
                                  <p:stCondLst>
                                    <p:cond delay="0"/>
                                  </p:stCondLst>
                                  <p:childTnLst>
                                    <p:set>
                                      <p:cBhvr>
                                        <p:cTn id="108" dur="1" fill="hold">
                                          <p:stCondLst>
                                            <p:cond delay="0"/>
                                          </p:stCondLst>
                                        </p:cTn>
                                        <p:tgtEl>
                                          <p:spTgt spid="48"/>
                                        </p:tgtEl>
                                        <p:attrNameLst>
                                          <p:attrName>style.visibility</p:attrName>
                                        </p:attrNameLst>
                                      </p:cBhvr>
                                      <p:to>
                                        <p:strVal val="visible"/>
                                      </p:to>
                                    </p:set>
                                    <p:animEffect transition="in" filter="fade">
                                      <p:cBhvr additive="repl">
                                        <p:cTn id="109" dur="400"/>
                                        <p:tgtEl>
                                          <p:spTgt spid="48"/>
                                        </p:tgtEl>
                                      </p:cBhvr>
                                    </p:animEffect>
                                  </p:childTnLst>
                                </p:cTn>
                              </p:par>
                              <p:par>
                                <p:cTn id="110" presetID="10" presetClass="entr" fill="hold" nodeType="withEffect">
                                  <p:stCondLst>
                                    <p:cond delay="0"/>
                                  </p:stCondLst>
                                  <p:childTnLst>
                                    <p:set>
                                      <p:cBhvr>
                                        <p:cTn id="111" dur="1" fill="hold">
                                          <p:stCondLst>
                                            <p:cond delay="0"/>
                                          </p:stCondLst>
                                        </p:cTn>
                                        <p:tgtEl>
                                          <p:spTgt spid="49"/>
                                        </p:tgtEl>
                                        <p:attrNameLst>
                                          <p:attrName>style.visibility</p:attrName>
                                        </p:attrNameLst>
                                      </p:cBhvr>
                                      <p:to>
                                        <p:strVal val="visible"/>
                                      </p:to>
                                    </p:set>
                                    <p:animEffect transition="in" filter="fade">
                                      <p:cBhvr additive="repl">
                                        <p:cTn id="112" dur="400"/>
                                        <p:tgtEl>
                                          <p:spTgt spid="49"/>
                                        </p:tgtEl>
                                      </p:cBhvr>
                                    </p:animEffect>
                                  </p:childTnLst>
                                </p:cTn>
                              </p:par>
                              <p:par>
                                <p:cTn id="113" presetID="10" presetClass="entr" fill="hold" nodeType="withEffect">
                                  <p:stCondLst>
                                    <p:cond delay="0"/>
                                  </p:stCondLst>
                                  <p:childTnLst>
                                    <p:set>
                                      <p:cBhvr>
                                        <p:cTn id="114" dur="1" fill="hold">
                                          <p:stCondLst>
                                            <p:cond delay="0"/>
                                          </p:stCondLst>
                                        </p:cTn>
                                        <p:tgtEl>
                                          <p:spTgt spid="50"/>
                                        </p:tgtEl>
                                        <p:attrNameLst>
                                          <p:attrName>style.visibility</p:attrName>
                                        </p:attrNameLst>
                                      </p:cBhvr>
                                      <p:to>
                                        <p:strVal val="visible"/>
                                      </p:to>
                                    </p:set>
                                    <p:animEffect transition="in" filter="fade">
                                      <p:cBhvr additive="repl">
                                        <p:cTn id="115" dur="400"/>
                                        <p:tgtEl>
                                          <p:spTgt spid="50"/>
                                        </p:tgtEl>
                                      </p:cBhvr>
                                    </p:animEffect>
                                  </p:childTnLst>
                                </p:cTn>
                              </p:par>
                              <p:par>
                                <p:cTn id="116" presetID="10" presetClass="entr" fill="hold" nodeType="withEffect">
                                  <p:stCondLst>
                                    <p:cond delay="0"/>
                                  </p:stCondLst>
                                  <p:childTnLst>
                                    <p:set>
                                      <p:cBhvr>
                                        <p:cTn id="117" dur="1" fill="hold">
                                          <p:stCondLst>
                                            <p:cond delay="0"/>
                                          </p:stCondLst>
                                        </p:cTn>
                                        <p:tgtEl>
                                          <p:spTgt spid="51"/>
                                        </p:tgtEl>
                                        <p:attrNameLst>
                                          <p:attrName>style.visibility</p:attrName>
                                        </p:attrNameLst>
                                      </p:cBhvr>
                                      <p:to>
                                        <p:strVal val="visible"/>
                                      </p:to>
                                    </p:set>
                                    <p:animEffect transition="in" filter="fade">
                                      <p:cBhvr additive="repl">
                                        <p:cTn id="118" dur="400"/>
                                        <p:tgtEl>
                                          <p:spTgt spid="51"/>
                                        </p:tgtEl>
                                      </p:cBhvr>
                                    </p:animEffect>
                                  </p:childTnLst>
                                </p:cTn>
                              </p:par>
                              <p:par>
                                <p:cTn id="119" presetID="10" presetClass="entr" fill="hold" nodeType="withEffect">
                                  <p:stCondLst>
                                    <p:cond delay="0"/>
                                  </p:stCondLst>
                                  <p:childTnLst>
                                    <p:set>
                                      <p:cBhvr>
                                        <p:cTn id="120" dur="1" fill="hold">
                                          <p:stCondLst>
                                            <p:cond delay="0"/>
                                          </p:stCondLst>
                                        </p:cTn>
                                        <p:tgtEl>
                                          <p:spTgt spid="52"/>
                                        </p:tgtEl>
                                        <p:attrNameLst>
                                          <p:attrName>style.visibility</p:attrName>
                                        </p:attrNameLst>
                                      </p:cBhvr>
                                      <p:to>
                                        <p:strVal val="visible"/>
                                      </p:to>
                                    </p:set>
                                    <p:animEffect transition="in" filter="fade">
                                      <p:cBhvr additive="repl">
                                        <p:cTn id="121" dur="400"/>
                                        <p:tgtEl>
                                          <p:spTgt spid="52"/>
                                        </p:tgtEl>
                                      </p:cBhvr>
                                    </p:animEffect>
                                  </p:childTnLst>
                                </p:cTn>
                              </p:par>
                            </p:childTnLst>
                          </p:cTn>
                        </p:par>
                      </p:childTnLst>
                    </p:cTn>
                  </p:par>
                  <p:par>
                    <p:cTn id="122" fill="hold">
                      <p:stCondLst>
                        <p:cond delay="indefinite"/>
                      </p:stCondLst>
                      <p:childTnLst>
                        <p:par>
                          <p:cTn id="123" fill="hold">
                            <p:stCondLst>
                              <p:cond delay="0"/>
                            </p:stCondLst>
                            <p:childTnLst>
                              <p:par>
                                <p:cTn id="124" presetID="10" presetClass="entr" fill="hold" nodeType="clickEffect">
                                  <p:stCondLst>
                                    <p:cond delay="0"/>
                                  </p:stCondLst>
                                  <p:childTnLst>
                                    <p:set>
                                      <p:cBhvr>
                                        <p:cTn id="125" dur="1" fill="hold">
                                          <p:stCondLst>
                                            <p:cond delay="0"/>
                                          </p:stCondLst>
                                        </p:cTn>
                                        <p:tgtEl>
                                          <p:spTgt spid="53"/>
                                        </p:tgtEl>
                                        <p:attrNameLst>
                                          <p:attrName>style.visibility</p:attrName>
                                        </p:attrNameLst>
                                      </p:cBhvr>
                                      <p:to>
                                        <p:strVal val="visible"/>
                                      </p:to>
                                    </p:set>
                                    <p:animEffect transition="in" filter="fade">
                                      <p:cBhvr additive="repl">
                                        <p:cTn id="126" dur="400"/>
                                        <p:tgtEl>
                                          <p:spTgt spid="53"/>
                                        </p:tgtEl>
                                      </p:cBhvr>
                                    </p:animEffect>
                                  </p:childTnLst>
                                </p:cTn>
                              </p:par>
                              <p:par>
                                <p:cTn id="127" presetID="10" presetClass="entr" fill="hold" nodeType="withEffect">
                                  <p:stCondLst>
                                    <p:cond delay="0"/>
                                  </p:stCondLst>
                                  <p:childTnLst>
                                    <p:set>
                                      <p:cBhvr>
                                        <p:cTn id="128" dur="1" fill="hold">
                                          <p:stCondLst>
                                            <p:cond delay="0"/>
                                          </p:stCondLst>
                                        </p:cTn>
                                        <p:tgtEl>
                                          <p:spTgt spid="54"/>
                                        </p:tgtEl>
                                        <p:attrNameLst>
                                          <p:attrName>style.visibility</p:attrName>
                                        </p:attrNameLst>
                                      </p:cBhvr>
                                      <p:to>
                                        <p:strVal val="visible"/>
                                      </p:to>
                                    </p:set>
                                    <p:animEffect transition="in" filter="fade">
                                      <p:cBhvr additive="repl">
                                        <p:cTn id="129" dur="400"/>
                                        <p:tgtEl>
                                          <p:spTgt spid="54"/>
                                        </p:tgtEl>
                                      </p:cBhvr>
                                    </p:animEffect>
                                  </p:childTnLst>
                                </p:cTn>
                              </p:par>
                              <p:par>
                                <p:cTn id="130" presetID="10" presetClass="entr" fill="hold" nodeType="withEffect">
                                  <p:stCondLst>
                                    <p:cond delay="0"/>
                                  </p:stCondLst>
                                  <p:childTnLst>
                                    <p:set>
                                      <p:cBhvr>
                                        <p:cTn id="131" dur="1" fill="hold">
                                          <p:stCondLst>
                                            <p:cond delay="0"/>
                                          </p:stCondLst>
                                        </p:cTn>
                                        <p:tgtEl>
                                          <p:spTgt spid="55"/>
                                        </p:tgtEl>
                                        <p:attrNameLst>
                                          <p:attrName>style.visibility</p:attrName>
                                        </p:attrNameLst>
                                      </p:cBhvr>
                                      <p:to>
                                        <p:strVal val="visible"/>
                                      </p:to>
                                    </p:set>
                                    <p:animEffect transition="in" filter="fade">
                                      <p:cBhvr additive="repl">
                                        <p:cTn id="132" dur="400"/>
                                        <p:tgtEl>
                                          <p:spTgt spid="55"/>
                                        </p:tgtEl>
                                      </p:cBhvr>
                                    </p:animEffect>
                                  </p:childTnLst>
                                </p:cTn>
                              </p:par>
                              <p:par>
                                <p:cTn id="133" presetID="10" presetClass="entr" fill="hold" nodeType="withEffect">
                                  <p:stCondLst>
                                    <p:cond delay="0"/>
                                  </p:stCondLst>
                                  <p:childTnLst>
                                    <p:set>
                                      <p:cBhvr>
                                        <p:cTn id="134" dur="1" fill="hold">
                                          <p:stCondLst>
                                            <p:cond delay="0"/>
                                          </p:stCondLst>
                                        </p:cTn>
                                        <p:tgtEl>
                                          <p:spTgt spid="56"/>
                                        </p:tgtEl>
                                        <p:attrNameLst>
                                          <p:attrName>style.visibility</p:attrName>
                                        </p:attrNameLst>
                                      </p:cBhvr>
                                      <p:to>
                                        <p:strVal val="visible"/>
                                      </p:to>
                                    </p:set>
                                    <p:animEffect transition="in" filter="fade">
                                      <p:cBhvr additive="repl">
                                        <p:cTn id="135" dur="400"/>
                                        <p:tgtEl>
                                          <p:spTgt spid="56"/>
                                        </p:tgtEl>
                                      </p:cBhvr>
                                    </p:animEffect>
                                  </p:childTnLst>
                                </p:cTn>
                              </p:par>
                              <p:par>
                                <p:cTn id="136" presetID="10" presetClass="entr" fill="hold" nodeType="withEffect">
                                  <p:stCondLst>
                                    <p:cond delay="0"/>
                                  </p:stCondLst>
                                  <p:childTnLst>
                                    <p:set>
                                      <p:cBhvr>
                                        <p:cTn id="137" dur="1" fill="hold">
                                          <p:stCondLst>
                                            <p:cond delay="0"/>
                                          </p:stCondLst>
                                        </p:cTn>
                                        <p:tgtEl>
                                          <p:spTgt spid="57"/>
                                        </p:tgtEl>
                                        <p:attrNameLst>
                                          <p:attrName>style.visibility</p:attrName>
                                        </p:attrNameLst>
                                      </p:cBhvr>
                                      <p:to>
                                        <p:strVal val="visible"/>
                                      </p:to>
                                    </p:set>
                                    <p:animEffect transition="in" filter="fade">
                                      <p:cBhvr additive="repl">
                                        <p:cTn id="138" dur="400"/>
                                        <p:tgtEl>
                                          <p:spTgt spid="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 name="PlaceHolder 1"/>
          <p:cNvSpPr>
            <a:spLocks noGrp="1"/>
          </p:cNvSpPr>
          <p:nvPr>
            <p:ph type="title" hasCustomPrompt="1"/>
          </p:nvPr>
        </p:nvSpPr>
        <p:spPr>
          <a:xfrm>
            <a:off x="548640" y="365760"/>
            <a:ext cx="11063520" cy="68508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400" b="1" u="none" strike="noStrike">
                <a:solidFill>
                  <a:schemeClr val="dk1"/>
                </a:solidFill>
                <a:effectLst/>
                <a:uFillTx/>
                <a:latin typeface="Arial"/>
              </a:rPr>
              <a:t>What can it do for you?</a:t>
            </a:r>
            <a:endParaRPr lang="en-GB" sz="3400" b="0" u="none" strike="noStrike">
              <a:solidFill>
                <a:schemeClr val="dk1"/>
              </a:solidFill>
              <a:effectLst/>
              <a:uFillTx/>
              <a:latin typeface="Arial"/>
            </a:endParaRPr>
          </a:p>
        </p:txBody>
      </p:sp>
      <p:sp>
        <p:nvSpPr>
          <p:cNvPr id="60" name="PlaceHolder 2"/>
          <p:cNvSpPr>
            <a:spLocks noGrp="1"/>
          </p:cNvSpPr>
          <p:nvPr>
            <p:ph hasCustomPrompt="1"/>
          </p:nvPr>
        </p:nvSpPr>
        <p:spPr>
          <a:xfrm>
            <a:off x="548640" y="1051560"/>
            <a:ext cx="11063520" cy="410760"/>
          </a:xfrm>
          <a:prstGeom prst="rect">
            <a:avLst/>
          </a:prstGeom>
          <a:noFill/>
          <a:ln w="0">
            <a:noFill/>
          </a:ln>
        </p:spPr>
        <p:txBody>
          <a:bodyPr lIns="0" tIns="0" rIns="0" bIns="0" anchor="t">
            <a:noAutofit/>
          </a:bodyPr>
          <a:p>
            <a:pPr indent="0" algn="l" defTabSz="914400">
              <a:lnSpc>
                <a:spcPct val="100000"/>
              </a:lnSpc>
              <a:spcBef>
                <a:spcPts val="360"/>
              </a:spcBef>
              <a:buNone/>
              <a:tabLst>
                <a:tab pos="0" algn="l"/>
              </a:tabLst>
            </a:pPr>
            <a:r>
              <a:rPr lang="en-US" sz="1800" b="0" u="none" strike="noStrike">
                <a:solidFill>
                  <a:schemeClr val="accent4"/>
                </a:solidFill>
                <a:effectLst/>
                <a:uFillTx/>
                <a:latin typeface="Arial"/>
              </a:rPr>
              <a:t>You describe what you want; the agent writes, runs and fixes the code</a:t>
            </a:r>
            <a:endParaRPr lang="en-GB" sz="1800" b="0" u="none" strike="noStrike">
              <a:solidFill>
                <a:schemeClr val="dk1"/>
              </a:solidFill>
              <a:effectLst/>
              <a:uFillTx/>
              <a:latin typeface="Arial"/>
            </a:endParaRPr>
          </a:p>
        </p:txBody>
      </p:sp>
      <p:sp>
        <p:nvSpPr>
          <p:cNvPr id="61" name="Frame Make plots"/>
          <p:cNvSpPr/>
          <p:nvPr/>
        </p:nvSpPr>
        <p:spPr>
          <a:xfrm>
            <a:off x="548640" y="1783080"/>
            <a:ext cx="3291120" cy="1828080"/>
          </a:xfrm>
          <a:prstGeom prst="rect">
            <a:avLst/>
          </a:prstGeom>
          <a:solidFill>
            <a:schemeClr val="bg1"/>
          </a:solidFill>
          <a:ln w="9525">
            <a:solidFill>
              <a:srgbClr val="DDDAD3"/>
            </a:solidFill>
            <a:round/>
          </a:ln>
          <a:effectLst>
            <a:outerShdw algn="bl" blurRad="1015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pic>
        <p:nvPicPr>
          <p:cNvPr id="62" name="Image Make plots" descr="Epidemic curve of weekly case counts with a smoothed trend line (synthetic data)"/>
          <p:cNvPicPr/>
          <p:nvPr/>
        </p:nvPicPr>
        <p:blipFill>
          <a:blip r:embed="rId1"/>
          <a:stretch/>
        </p:blipFill>
        <p:spPr>
          <a:xfrm>
            <a:off x="548640" y="1783080"/>
            <a:ext cx="3291120" cy="1828080"/>
          </a:xfrm>
          <a:prstGeom prst="rect">
            <a:avLst/>
          </a:prstGeom>
          <a:noFill/>
          <a:ln w="0">
            <a:noFill/>
          </a:ln>
        </p:spPr>
      </p:pic>
      <p:sp>
        <p:nvSpPr>
          <p:cNvPr id="63" name="Label Make plots"/>
          <p:cNvSpPr/>
          <p:nvPr/>
        </p:nvSpPr>
        <p:spPr>
          <a:xfrm>
            <a:off x="548640" y="3721680"/>
            <a:ext cx="3291120" cy="365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dk2"/>
                </a:solidFill>
                <a:effectLst/>
                <a:uFillTx/>
                <a:latin typeface="Arial"/>
              </a:rPr>
              <a:t>Make plots</a:t>
            </a:r>
            <a:endParaRPr lang="en-GB" sz="1800" b="0" u="none" strike="noStrike">
              <a:solidFill>
                <a:srgbClr val="000000"/>
              </a:solidFill>
              <a:effectLst/>
              <a:uFillTx/>
              <a:latin typeface="Arial"/>
            </a:endParaRPr>
          </a:p>
        </p:txBody>
      </p:sp>
      <p:sp>
        <p:nvSpPr>
          <p:cNvPr id="64" name="Frame Find bugs"/>
          <p:cNvSpPr/>
          <p:nvPr/>
        </p:nvSpPr>
        <p:spPr>
          <a:xfrm>
            <a:off x="4434840" y="1783080"/>
            <a:ext cx="3291120" cy="1828080"/>
          </a:xfrm>
          <a:prstGeom prst="rect">
            <a:avLst/>
          </a:prstGeom>
          <a:solidFill>
            <a:schemeClr val="bg1"/>
          </a:solidFill>
          <a:ln w="9525">
            <a:solidFill>
              <a:srgbClr val="DDDAD3"/>
            </a:solidFill>
            <a:round/>
          </a:ln>
          <a:effectLst>
            <a:outerShdw algn="bl" blurRad="1015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pic>
        <p:nvPicPr>
          <p:cNvPr id="65" name="Image Find bugs" descr="R code where mean(bmi) is corrected to mean(bmi, na.rm = TRUE)"/>
          <p:cNvPicPr/>
          <p:nvPr/>
        </p:nvPicPr>
        <p:blipFill>
          <a:blip r:embed="rId2"/>
          <a:stretch/>
        </p:blipFill>
        <p:spPr>
          <a:xfrm>
            <a:off x="4434840" y="1783080"/>
            <a:ext cx="3291120" cy="1828080"/>
          </a:xfrm>
          <a:prstGeom prst="rect">
            <a:avLst/>
          </a:prstGeom>
          <a:noFill/>
          <a:ln w="0">
            <a:noFill/>
          </a:ln>
        </p:spPr>
      </p:pic>
      <p:sp>
        <p:nvSpPr>
          <p:cNvPr id="66" name="Label Find bugs"/>
          <p:cNvSpPr/>
          <p:nvPr/>
        </p:nvSpPr>
        <p:spPr>
          <a:xfrm>
            <a:off x="4434840" y="3721680"/>
            <a:ext cx="3291120" cy="365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dk2"/>
                </a:solidFill>
                <a:effectLst/>
                <a:uFillTx/>
                <a:latin typeface="Arial"/>
              </a:rPr>
              <a:t>Find bugs</a:t>
            </a:r>
            <a:endParaRPr lang="en-GB" sz="1800" b="0" u="none" strike="noStrike">
              <a:solidFill>
                <a:srgbClr val="000000"/>
              </a:solidFill>
              <a:effectLst/>
              <a:uFillTx/>
              <a:latin typeface="Arial"/>
            </a:endParaRPr>
          </a:p>
        </p:txBody>
      </p:sp>
      <p:sp>
        <p:nvSpPr>
          <p:cNvPr id="67" name="Frame Write R scripts"/>
          <p:cNvSpPr/>
          <p:nvPr/>
        </p:nvSpPr>
        <p:spPr>
          <a:xfrm>
            <a:off x="8321040" y="1783080"/>
            <a:ext cx="3291120" cy="1828080"/>
          </a:xfrm>
          <a:prstGeom prst="rect">
            <a:avLst/>
          </a:prstGeom>
          <a:solidFill>
            <a:schemeClr val="bg1"/>
          </a:solidFill>
          <a:ln w="9525">
            <a:solidFill>
              <a:srgbClr val="DDDAD3"/>
            </a:solidFill>
            <a:round/>
          </a:ln>
          <a:effectLst>
            <a:outerShdw algn="bl" blurRad="1015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pic>
        <p:nvPicPr>
          <p:cNvPr id="68" name="Image Write R scripts" descr="R script fitting a logistic regression of mortality on age, sex, BMI and smoking"/>
          <p:cNvPicPr/>
          <p:nvPr/>
        </p:nvPicPr>
        <p:blipFill>
          <a:blip r:embed="rId3"/>
          <a:stretch/>
        </p:blipFill>
        <p:spPr>
          <a:xfrm>
            <a:off x="8321040" y="1783080"/>
            <a:ext cx="3291120" cy="1828080"/>
          </a:xfrm>
          <a:prstGeom prst="rect">
            <a:avLst/>
          </a:prstGeom>
          <a:noFill/>
          <a:ln w="0">
            <a:noFill/>
          </a:ln>
        </p:spPr>
      </p:pic>
      <p:sp>
        <p:nvSpPr>
          <p:cNvPr id="69" name="Label Write R scripts"/>
          <p:cNvSpPr/>
          <p:nvPr/>
        </p:nvSpPr>
        <p:spPr>
          <a:xfrm>
            <a:off x="8321040" y="3721680"/>
            <a:ext cx="3291120" cy="365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dk2"/>
                </a:solidFill>
                <a:effectLst/>
                <a:uFillTx/>
                <a:latin typeface="Arial"/>
              </a:rPr>
              <a:t>Write R scripts</a:t>
            </a:r>
            <a:endParaRPr lang="en-GB" sz="1800" b="0" u="none" strike="noStrike">
              <a:solidFill>
                <a:srgbClr val="000000"/>
              </a:solidFill>
              <a:effectLst/>
              <a:uFillTx/>
              <a:latin typeface="Arial"/>
            </a:endParaRPr>
          </a:p>
        </p:txBody>
      </p:sp>
      <p:sp>
        <p:nvSpPr>
          <p:cNvPr id="70" name="Frame Build web pages"/>
          <p:cNvSpPr/>
          <p:nvPr/>
        </p:nvSpPr>
        <p:spPr>
          <a:xfrm>
            <a:off x="548640" y="4206240"/>
            <a:ext cx="3291120" cy="1828080"/>
          </a:xfrm>
          <a:prstGeom prst="rect">
            <a:avLst/>
          </a:prstGeom>
          <a:solidFill>
            <a:schemeClr val="bg1"/>
          </a:solidFill>
          <a:ln w="9525">
            <a:solidFill>
              <a:srgbClr val="DDDAD3"/>
            </a:solidFill>
            <a:round/>
          </a:ln>
          <a:effectLst>
            <a:outerShdw algn="bl" blurRad="1015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pic>
        <p:nvPicPr>
          <p:cNvPr id="71" name="Image Build web pages" descr="Mock-up of an interactive cohort dashboard web page with sliders and a bar chart"/>
          <p:cNvPicPr/>
          <p:nvPr/>
        </p:nvPicPr>
        <p:blipFill>
          <a:blip r:embed="rId4"/>
          <a:stretch/>
        </p:blipFill>
        <p:spPr>
          <a:xfrm>
            <a:off x="548640" y="4206240"/>
            <a:ext cx="3291120" cy="1828080"/>
          </a:xfrm>
          <a:prstGeom prst="rect">
            <a:avLst/>
          </a:prstGeom>
          <a:noFill/>
          <a:ln w="0">
            <a:noFill/>
          </a:ln>
        </p:spPr>
      </p:pic>
      <p:sp>
        <p:nvSpPr>
          <p:cNvPr id="72" name="Label Build web pages"/>
          <p:cNvSpPr/>
          <p:nvPr/>
        </p:nvSpPr>
        <p:spPr>
          <a:xfrm>
            <a:off x="548640" y="6144840"/>
            <a:ext cx="3291120" cy="365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dk2"/>
                </a:solidFill>
                <a:effectLst/>
                <a:uFillTx/>
                <a:latin typeface="Arial"/>
              </a:rPr>
              <a:t>Build web pages</a:t>
            </a:r>
            <a:endParaRPr lang="en-GB" sz="1800" b="0" u="none" strike="noStrike">
              <a:solidFill>
                <a:srgbClr val="000000"/>
              </a:solidFill>
              <a:effectLst/>
              <a:uFillTx/>
              <a:latin typeface="Arial"/>
            </a:endParaRPr>
          </a:p>
        </p:txBody>
      </p:sp>
      <p:sp>
        <p:nvSpPr>
          <p:cNvPr id="73" name="Frame Develop algorithms"/>
          <p:cNvSpPr/>
          <p:nvPr/>
        </p:nvSpPr>
        <p:spPr>
          <a:xfrm>
            <a:off x="4434840" y="4206240"/>
            <a:ext cx="3291120" cy="1828080"/>
          </a:xfrm>
          <a:prstGeom prst="rect">
            <a:avLst/>
          </a:prstGeom>
          <a:solidFill>
            <a:schemeClr val="bg1"/>
          </a:solidFill>
          <a:ln w="9525">
            <a:solidFill>
              <a:srgbClr val="DDDAD3"/>
            </a:solidFill>
            <a:round/>
          </a:ln>
          <a:effectLst>
            <a:outerShdw algn="bl" blurRad="1015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pic>
        <p:nvPicPr>
          <p:cNvPr id="74" name="Image Develop algorithms" descr="Flow diagram of a bootstrap: resample, fit model, repeat 1000 times, estimate with CI"/>
          <p:cNvPicPr/>
          <p:nvPr/>
        </p:nvPicPr>
        <p:blipFill>
          <a:blip r:embed="rId5"/>
          <a:stretch/>
        </p:blipFill>
        <p:spPr>
          <a:xfrm>
            <a:off x="4434840" y="4206240"/>
            <a:ext cx="3291120" cy="1828080"/>
          </a:xfrm>
          <a:prstGeom prst="rect">
            <a:avLst/>
          </a:prstGeom>
          <a:noFill/>
          <a:ln w="0">
            <a:noFill/>
          </a:ln>
        </p:spPr>
      </p:pic>
      <p:sp>
        <p:nvSpPr>
          <p:cNvPr id="75" name="Label Develop algorithms"/>
          <p:cNvSpPr/>
          <p:nvPr/>
        </p:nvSpPr>
        <p:spPr>
          <a:xfrm>
            <a:off x="4434840" y="6144840"/>
            <a:ext cx="3291120" cy="365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chemeClr val="dk2"/>
                </a:solidFill>
                <a:effectLst/>
                <a:uFillTx/>
                <a:latin typeface="Arial"/>
              </a:rPr>
              <a:t>Develop algorithms</a:t>
            </a:r>
            <a:endParaRPr lang="en-GB" sz="1800" b="0" u="none" strike="noStrike">
              <a:solidFill>
                <a:srgbClr val="000000"/>
              </a:solidFill>
              <a:effectLst/>
              <a:uFillTx/>
              <a:latin typeface="Arial"/>
            </a:endParaRPr>
          </a:p>
        </p:txBody>
      </p:sp>
      <p:sp>
        <p:nvSpPr>
          <p:cNvPr id="76" name="Card more"/>
          <p:cNvSpPr/>
          <p:nvPr/>
        </p:nvSpPr>
        <p:spPr>
          <a:xfrm>
            <a:off x="8321040" y="4206240"/>
            <a:ext cx="3291120" cy="2303640"/>
          </a:xfrm>
          <a:prstGeom prst="roundRect">
            <a:avLst>
              <a:gd name="adj" fmla="val 4762"/>
            </a:avLst>
          </a:prstGeom>
          <a:solidFill>
            <a:schemeClr val="accent1"/>
          </a:solidFill>
          <a:ln w="0">
            <a:noFill/>
          </a:ln>
          <a:effectLst>
            <a:outerShdw algn="bl" blurRad="1015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pic>
        <p:nvPicPr>
          <p:cNvPr id="77" name="Icon conversation" descr="preencoded.png"/>
          <p:cNvPicPr/>
          <p:nvPr/>
        </p:nvPicPr>
        <p:blipFill>
          <a:blip r:embed="rId6"/>
          <a:stretch/>
        </p:blipFill>
        <p:spPr>
          <a:xfrm>
            <a:off x="8641080" y="4526280"/>
            <a:ext cx="502200" cy="502200"/>
          </a:xfrm>
          <a:prstGeom prst="rect">
            <a:avLst/>
          </a:prstGeom>
          <a:noFill/>
          <a:ln w="0">
            <a:noFill/>
          </a:ln>
        </p:spPr>
      </p:pic>
      <p:sp>
        <p:nvSpPr>
          <p:cNvPr id="78" name="More text"/>
          <p:cNvSpPr/>
          <p:nvPr/>
        </p:nvSpPr>
        <p:spPr>
          <a:xfrm>
            <a:off x="8641080" y="5166360"/>
            <a:ext cx="2651040" cy="1096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200" b="1" u="none" strike="noStrike">
                <a:solidFill>
                  <a:srgbClr val="FFFFFF"/>
                </a:solidFill>
                <a:effectLst/>
                <a:uFillTx/>
                <a:latin typeface="Arial"/>
              </a:rPr>
              <a:t>…and much more</a:t>
            </a:r>
            <a:endParaRPr lang="en-GB" sz="2200" b="0" u="none" strike="noStrike">
              <a:solidFill>
                <a:srgbClr val="000000"/>
              </a:solidFill>
              <a:effectLst/>
              <a:uFillTx/>
              <a:latin typeface="Arial"/>
            </a:endParaRPr>
          </a:p>
          <a:p>
            <a:pPr defTabSz="914400">
              <a:lnSpc>
                <a:spcPct val="100000"/>
              </a:lnSpc>
              <a:tabLst>
                <a:tab pos="0" algn="l"/>
              </a:tabLst>
            </a:pPr>
            <a:r>
              <a:rPr lang="en-US" sz="1500" b="0" u="none" strike="noStrike">
                <a:solidFill>
                  <a:srgbClr val="E9E4DA"/>
                </a:solidFill>
                <a:effectLst/>
                <a:uFillTx/>
                <a:latin typeface="Arial"/>
              </a:rPr>
              <a:t>Cleaning data, translating Stata to R, documenting code</a:t>
            </a:r>
            <a:endParaRPr lang="en-GB" sz="1500" b="0" u="none" strike="noStrike">
              <a:solidFill>
                <a:srgbClr val="000000"/>
              </a:solidFill>
              <a:effectLst/>
              <a:uFillTx/>
              <a:latin typeface="Arial"/>
            </a:endParaRPr>
          </a:p>
        </p:txBody>
      </p:sp>
      <p:sp>
        <p:nvSpPr>
          <p:cNvPr id="79" name="PlaceHolder 3"/>
          <p:cNvSpPr>
            <a:spLocks noGrp="1"/>
          </p:cNvSpPr>
          <p:nvPr>
            <p:ph type="sldNum" idx="6"/>
          </p:nvPr>
        </p:nvSpPr>
        <p:spPr>
          <a:xfrm>
            <a:off x="11338560" y="6400800"/>
            <a:ext cx="456480" cy="27360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000" b="0" u="none" strike="noStrike">
                <a:solidFill>
                  <a:schemeClr val="accent4"/>
                </a:solidFill>
                <a:effectLst/>
                <a:uFillTx/>
                <a:latin typeface="Arial"/>
              </a:defRPr>
            </a:lvl1pPr>
          </a:lstStyle>
          <a:p>
            <a:pPr indent="0" algn="r" defTabSz="914400">
              <a:lnSpc>
                <a:spcPct val="100000"/>
              </a:lnSpc>
              <a:buNone/>
              <a:tabLst>
                <a:tab pos="0" algn="l"/>
              </a:tabLst>
            </a:pPr>
            <a:fld id="{E4F072B2-D89F-40C1-828C-3388D4343AFD}" type="slidenum">
              <a:rPr lang="en-US" sz="1000" b="0" u="none" strike="noStrike">
                <a:solidFill>
                  <a:schemeClr val="accent4"/>
                </a:solidFill>
                <a:effectLst/>
                <a:uFillTx/>
                <a:latin typeface="Arial"/>
              </a:rPr>
              <a:t>&lt;number&gt;</a:t>
            </a:fld>
            <a:endParaRPr lang="en-GB"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PlaceHolder 1"/>
          <p:cNvSpPr>
            <a:spLocks noGrp="1"/>
          </p:cNvSpPr>
          <p:nvPr>
            <p:ph type="title" hasCustomPrompt="1"/>
          </p:nvPr>
        </p:nvSpPr>
        <p:spPr>
          <a:xfrm>
            <a:off x="548640" y="365760"/>
            <a:ext cx="11063520" cy="68508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400" b="1" u="none" strike="noStrike">
                <a:solidFill>
                  <a:schemeClr val="dk1"/>
                </a:solidFill>
                <a:effectLst/>
                <a:uFillTx/>
                <a:latin typeface="Arial"/>
              </a:rPr>
              <a:t>Reproducible science</a:t>
            </a:r>
            <a:endParaRPr lang="en-GB" sz="3400" b="0" u="none" strike="noStrike">
              <a:solidFill>
                <a:schemeClr val="dk1"/>
              </a:solidFill>
              <a:effectLst/>
              <a:uFillTx/>
              <a:latin typeface="Arial"/>
            </a:endParaRPr>
          </a:p>
        </p:txBody>
      </p:sp>
      <p:sp>
        <p:nvSpPr>
          <p:cNvPr id="81" name="PlaceHolder 2"/>
          <p:cNvSpPr>
            <a:spLocks noGrp="1"/>
          </p:cNvSpPr>
          <p:nvPr>
            <p:ph hasCustomPrompt="1"/>
          </p:nvPr>
        </p:nvSpPr>
        <p:spPr>
          <a:xfrm>
            <a:off x="548640" y="1051560"/>
            <a:ext cx="11063520" cy="410760"/>
          </a:xfrm>
          <a:prstGeom prst="rect">
            <a:avLst/>
          </a:prstGeom>
          <a:noFill/>
          <a:ln w="0">
            <a:noFill/>
          </a:ln>
        </p:spPr>
        <p:txBody>
          <a:bodyPr lIns="0" tIns="0" rIns="0" bIns="0" anchor="t">
            <a:noAutofit/>
          </a:bodyPr>
          <a:p>
            <a:pPr indent="0" algn="l" defTabSz="914400">
              <a:lnSpc>
                <a:spcPct val="100000"/>
              </a:lnSpc>
              <a:spcBef>
                <a:spcPts val="360"/>
              </a:spcBef>
              <a:buNone/>
              <a:tabLst>
                <a:tab pos="0" algn="l"/>
              </a:tabLst>
            </a:pPr>
            <a:r>
              <a:rPr lang="en-US" sz="1800" b="0" u="none" strike="noStrike">
                <a:solidFill>
                  <a:schemeClr val="accent4"/>
                </a:solidFill>
                <a:effectLst/>
                <a:uFillTx/>
                <a:latin typeface="Arial"/>
              </a:rPr>
              <a:t>A paper is a precise description of an analysis, written in natural language</a:t>
            </a:r>
            <a:endParaRPr lang="en-GB" sz="1800" b="0" u="none" strike="noStrike">
              <a:solidFill>
                <a:schemeClr val="dk1"/>
              </a:solidFill>
              <a:effectLst/>
              <a:uFillTx/>
              <a:latin typeface="Arial"/>
            </a:endParaRPr>
          </a:p>
        </p:txBody>
      </p:sp>
      <p:sp>
        <p:nvSpPr>
          <p:cNvPr id="82" name="Frame paper"/>
          <p:cNvSpPr/>
          <p:nvPr/>
        </p:nvSpPr>
        <p:spPr>
          <a:xfrm>
            <a:off x="548640" y="1783080"/>
            <a:ext cx="2651040" cy="2126520"/>
          </a:xfrm>
          <a:prstGeom prst="rect">
            <a:avLst/>
          </a:prstGeom>
          <a:solidFill>
            <a:schemeClr val="bg1"/>
          </a:solidFill>
          <a:ln w="9525">
            <a:solidFill>
              <a:srgbClr val="DDDAD3"/>
            </a:solidFill>
            <a:round/>
          </a:ln>
          <a:effectLst>
            <a:outerShdw algn="bl" blurRad="1015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pic>
        <p:nvPicPr>
          <p:cNvPr id="83" name="Paper" descr="First page of Agogo and Mwambi (2025), Annals of Epidemiology, a mortality prediction study using NHANES"/>
          <p:cNvPicPr/>
          <p:nvPr/>
        </p:nvPicPr>
        <p:blipFill>
          <a:blip r:embed="rId1"/>
          <a:stretch/>
        </p:blipFill>
        <p:spPr>
          <a:xfrm>
            <a:off x="548640" y="1783080"/>
            <a:ext cx="2651040" cy="2126520"/>
          </a:xfrm>
          <a:prstGeom prst="rect">
            <a:avLst/>
          </a:prstGeom>
          <a:noFill/>
          <a:ln w="0">
            <a:noFill/>
          </a:ln>
        </p:spPr>
      </p:pic>
      <p:sp>
        <p:nvSpPr>
          <p:cNvPr id="84" name="Frame data"/>
          <p:cNvSpPr/>
          <p:nvPr/>
        </p:nvSpPr>
        <p:spPr>
          <a:xfrm>
            <a:off x="548640" y="4230360"/>
            <a:ext cx="2651040" cy="2061720"/>
          </a:xfrm>
          <a:prstGeom prst="rect">
            <a:avLst/>
          </a:prstGeom>
          <a:solidFill>
            <a:schemeClr val="bg1"/>
          </a:solidFill>
          <a:ln w="9525">
            <a:solidFill>
              <a:srgbClr val="DDDAD3"/>
            </a:solidFill>
            <a:round/>
          </a:ln>
          <a:effectLst>
            <a:outerShdw algn="bl" blurRad="1015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pic>
        <p:nvPicPr>
          <p:cNvPr id="85" name="Data" descr="Illustration of a data table with columns id, age, sex, bmi and dead"/>
          <p:cNvPicPr/>
          <p:nvPr/>
        </p:nvPicPr>
        <p:blipFill>
          <a:blip r:embed="rId2"/>
          <a:stretch/>
        </p:blipFill>
        <p:spPr>
          <a:xfrm>
            <a:off x="548640" y="4230360"/>
            <a:ext cx="2651040" cy="2061720"/>
          </a:xfrm>
          <a:prstGeom prst="rect">
            <a:avLst/>
          </a:prstGeom>
          <a:noFill/>
          <a:ln w="0">
            <a:noFill/>
          </a:ln>
        </p:spPr>
      </p:pic>
      <p:sp>
        <p:nvSpPr>
          <p:cNvPr id="86" name="Label Paper"/>
          <p:cNvSpPr/>
          <p:nvPr/>
        </p:nvSpPr>
        <p:spPr>
          <a:xfrm>
            <a:off x="2423160" y="1600200"/>
            <a:ext cx="913680" cy="365040"/>
          </a:xfrm>
          <a:prstGeom prst="roundRect">
            <a:avLst>
              <a:gd name="adj" fmla="val 45000"/>
            </a:avLst>
          </a:prstGeom>
          <a:solidFill>
            <a:schemeClr val="tx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Arial"/>
              </a:rPr>
              <a:t>Paper</a:t>
            </a:r>
            <a:endParaRPr lang="en-GB" sz="1500" b="0" u="none" strike="noStrike">
              <a:solidFill>
                <a:srgbClr val="FFFFFF"/>
              </a:solidFill>
              <a:effectLst/>
              <a:uFillTx/>
              <a:latin typeface="Arial"/>
            </a:endParaRPr>
          </a:p>
        </p:txBody>
      </p:sp>
      <p:sp>
        <p:nvSpPr>
          <p:cNvPr id="87" name="Label Data"/>
          <p:cNvSpPr/>
          <p:nvPr/>
        </p:nvSpPr>
        <p:spPr>
          <a:xfrm>
            <a:off x="2423160" y="4047480"/>
            <a:ext cx="913680" cy="365040"/>
          </a:xfrm>
          <a:prstGeom prst="roundRect">
            <a:avLst>
              <a:gd name="adj" fmla="val 45000"/>
            </a:avLst>
          </a:prstGeom>
          <a:solidFill>
            <a:schemeClr val="tx2"/>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FFFFFF"/>
                </a:solidFill>
                <a:effectLst/>
                <a:uFillTx/>
                <a:latin typeface="Arial"/>
              </a:rPr>
              <a:t>Data</a:t>
            </a:r>
            <a:endParaRPr lang="en-GB" sz="1500" b="0" u="none" strike="noStrike">
              <a:solidFill>
                <a:srgbClr val="FFFFFF"/>
              </a:solidFill>
              <a:effectLst/>
              <a:uFillTx/>
              <a:latin typeface="Arial"/>
            </a:endParaRPr>
          </a:p>
        </p:txBody>
      </p:sp>
      <p:sp>
        <p:nvSpPr>
          <p:cNvPr id="88" name="Agent circle"/>
          <p:cNvSpPr/>
          <p:nvPr/>
        </p:nvSpPr>
        <p:spPr>
          <a:xfrm>
            <a:off x="4709160" y="2894760"/>
            <a:ext cx="1828080" cy="1828080"/>
          </a:xfrm>
          <a:prstGeom prst="ellipse">
            <a:avLst/>
          </a:prstGeom>
          <a:solidFill>
            <a:schemeClr val="accent1"/>
          </a:solidFill>
          <a:ln w="0">
            <a:noFill/>
          </a:ln>
          <a:effectLst>
            <a:outerShdw algn="bl" blurRad="1015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pic>
        <p:nvPicPr>
          <p:cNvPr id="89" name="Agent icon" descr="preencoded.png"/>
          <p:cNvPicPr/>
          <p:nvPr/>
        </p:nvPicPr>
        <p:blipFill>
          <a:blip r:embed="rId3"/>
          <a:stretch/>
        </p:blipFill>
        <p:spPr>
          <a:xfrm>
            <a:off x="5166360" y="3351960"/>
            <a:ext cx="913680" cy="913680"/>
          </a:xfrm>
          <a:prstGeom prst="rect">
            <a:avLst/>
          </a:prstGeom>
          <a:noFill/>
          <a:ln w="0">
            <a:noFill/>
          </a:ln>
        </p:spPr>
      </p:pic>
      <p:sp>
        <p:nvSpPr>
          <p:cNvPr id="90" name="Agent label"/>
          <p:cNvSpPr/>
          <p:nvPr/>
        </p:nvSpPr>
        <p:spPr>
          <a:xfrm>
            <a:off x="4434840" y="4860720"/>
            <a:ext cx="2376720" cy="410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chemeClr val="dk1"/>
                </a:solidFill>
                <a:effectLst/>
                <a:uFillTx/>
                <a:latin typeface="Arial"/>
              </a:rPr>
              <a:t>AI agent</a:t>
            </a:r>
            <a:endParaRPr lang="en-GB" sz="2000" b="0" u="none" strike="noStrike">
              <a:solidFill>
                <a:srgbClr val="000000"/>
              </a:solidFill>
              <a:effectLst/>
              <a:uFillTx/>
              <a:latin typeface="Arial"/>
            </a:endParaRPr>
          </a:p>
        </p:txBody>
      </p:sp>
      <p:sp>
        <p:nvSpPr>
          <p:cNvPr id="91" name="Arrow paper"/>
          <p:cNvSpPr/>
          <p:nvPr/>
        </p:nvSpPr>
        <p:spPr>
          <a:xfrm>
            <a:off x="3383280" y="2846520"/>
            <a:ext cx="1188720" cy="962640"/>
          </a:xfrm>
          <a:prstGeom prst="line">
            <a:avLst/>
          </a:prstGeom>
          <a:ln w="31750">
            <a:solidFill>
              <a:srgbClr val="6B6B6B"/>
            </a:solidFill>
            <a:round/>
            <a:tailEnd len="med" type="triangle" w="med"/>
          </a:ln>
        </p:spPr>
        <p:style>
          <a:lnRef idx="0"/>
          <a:fillRef idx="0"/>
          <a:effectRef idx="0"/>
          <a:fontRef idx="minor"/>
        </p:style>
        <p:txBody>
          <a:bodyPr lIns="90000" tIns="45000" rIns="90000" bIns="45000" anchor="t" anchorCtr="1">
            <a:noAutofit/>
          </a:bodyPr>
          <a:p>
            <a:endParaRPr lang="en-GB" sz="1800" b="0" u="none" strike="noStrike">
              <a:solidFill>
                <a:srgbClr val="000000"/>
              </a:solidFill>
              <a:effectLst/>
              <a:uFillTx/>
              <a:latin typeface="Arial"/>
            </a:endParaRPr>
          </a:p>
        </p:txBody>
      </p:sp>
      <p:sp>
        <p:nvSpPr>
          <p:cNvPr id="92" name="Arrow data"/>
          <p:cNvSpPr/>
          <p:nvPr/>
        </p:nvSpPr>
        <p:spPr>
          <a:xfrm flipV="1">
            <a:off x="3383280" y="3809160"/>
            <a:ext cx="1188720" cy="1452240"/>
          </a:xfrm>
          <a:prstGeom prst="line">
            <a:avLst/>
          </a:prstGeom>
          <a:ln w="31750">
            <a:solidFill>
              <a:srgbClr val="6B6B6B"/>
            </a:solidFill>
            <a:round/>
            <a:tailEnd len="med" type="triangle" w="med"/>
          </a:ln>
        </p:spPr>
        <p:style>
          <a:lnRef idx="0"/>
          <a:fillRef idx="0"/>
          <a:effectRef idx="0"/>
          <a:fontRef idx="minor"/>
        </p:style>
        <p:txBody>
          <a:bodyPr lIns="90000" tIns="45000" rIns="90000" bIns="45000" anchor="t" anchorCtr="1">
            <a:noAutofit/>
          </a:bodyPr>
          <a:p>
            <a:endParaRPr lang="en-GB" sz="1800" b="0" u="none" strike="noStrike">
              <a:solidFill>
                <a:srgbClr val="000000"/>
              </a:solidFill>
              <a:effectLst/>
              <a:uFillTx/>
              <a:latin typeface="Arial"/>
            </a:endParaRPr>
          </a:p>
        </p:txBody>
      </p:sp>
      <p:sp>
        <p:nvSpPr>
          <p:cNvPr id="93" name="Arrow out"/>
          <p:cNvSpPr/>
          <p:nvPr/>
        </p:nvSpPr>
        <p:spPr>
          <a:xfrm>
            <a:off x="6675120" y="3809160"/>
            <a:ext cx="548640" cy="360"/>
          </a:xfrm>
          <a:prstGeom prst="line">
            <a:avLst/>
          </a:prstGeom>
          <a:ln w="31750">
            <a:solidFill>
              <a:srgbClr val="6B6B6B"/>
            </a:solidFill>
            <a:round/>
            <a:tailEnd len="med" type="triangle" w="med"/>
          </a:ln>
        </p:spPr>
        <p:style>
          <a:lnRef idx="0"/>
          <a:fillRef idx="0"/>
          <a:effectRef idx="0"/>
          <a:fontRef idx="minor"/>
        </p:style>
        <p:txBody>
          <a:bodyPr lIns="90000" tIns="-44640" rIns="90000" bIns="-44640" anchor="t" anchorCtr="1">
            <a:noAutofit/>
          </a:bodyPr>
          <a:p>
            <a:endParaRPr lang="en-GB" sz="1800" b="0" u="none" strike="noStrike">
              <a:solidFill>
                <a:srgbClr val="000000"/>
              </a:solidFill>
              <a:effectLst/>
              <a:uFillTx/>
              <a:latin typeface="Arial"/>
            </a:endParaRPr>
          </a:p>
        </p:txBody>
      </p:sp>
      <p:pic>
        <p:nvPicPr>
          <p:cNvPr id="94" name="Code" descr="R code that re-fits the paper's logistic regression and computes AUC-ROC and AUC-PR"/>
          <p:cNvPicPr/>
          <p:nvPr/>
        </p:nvPicPr>
        <p:blipFill>
          <a:blip r:embed="rId4"/>
          <a:stretch/>
        </p:blipFill>
        <p:spPr>
          <a:xfrm>
            <a:off x="7360920" y="1783080"/>
            <a:ext cx="4251240" cy="2479680"/>
          </a:xfrm>
          <a:prstGeom prst="rect">
            <a:avLst/>
          </a:prstGeom>
          <a:noFill/>
          <a:ln w="0">
            <a:noFill/>
          </a:ln>
          <a:effectLst>
            <a:outerShdw algn="bl" blurRad="101520" dir="5400000" dist="25560" kx="0" ky="0" rotWithShape="0" sx="100000" sy="100000">
              <a:srgbClr val="000000">
                <a:alpha val="12000"/>
              </a:srgbClr>
            </a:outerShdw>
          </a:effectLst>
        </p:spPr>
      </p:pic>
      <p:sp>
        <p:nvSpPr>
          <p:cNvPr id="95" name="Outcome circle Reproduces the published results"/>
          <p:cNvSpPr/>
          <p:nvPr/>
        </p:nvSpPr>
        <p:spPr>
          <a:xfrm>
            <a:off x="7360920" y="4629240"/>
            <a:ext cx="502200" cy="502200"/>
          </a:xfrm>
          <a:prstGeom prst="ellipse">
            <a:avLst/>
          </a:prstGeom>
          <a:solidFill>
            <a:schemeClr val="accent2"/>
          </a:solidFill>
          <a:ln w="0">
            <a:noFill/>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pic>
        <p:nvPicPr>
          <p:cNvPr id="96" name="Outcome icon Reproduces the published results" descr="preencoded.png"/>
          <p:cNvPicPr/>
          <p:nvPr/>
        </p:nvPicPr>
        <p:blipFill>
          <a:blip r:embed="rId5"/>
          <a:stretch/>
        </p:blipFill>
        <p:spPr>
          <a:xfrm>
            <a:off x="7489080" y="4757040"/>
            <a:ext cx="246240" cy="246240"/>
          </a:xfrm>
          <a:prstGeom prst="rect">
            <a:avLst/>
          </a:prstGeom>
          <a:noFill/>
          <a:ln w="0">
            <a:noFill/>
          </a:ln>
        </p:spPr>
      </p:pic>
      <p:sp>
        <p:nvSpPr>
          <p:cNvPr id="97" name="Outcome Reproduces the published results"/>
          <p:cNvSpPr/>
          <p:nvPr/>
        </p:nvSpPr>
        <p:spPr>
          <a:xfrm>
            <a:off x="8046720" y="4629240"/>
            <a:ext cx="3565440" cy="502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chemeClr val="dk1"/>
                </a:solidFill>
                <a:effectLst/>
                <a:uFillTx/>
                <a:latin typeface="Arial"/>
              </a:rPr>
              <a:t>Reproduces the published results</a:t>
            </a:r>
            <a:endParaRPr lang="en-GB" sz="1600" b="0" u="none" strike="noStrike">
              <a:solidFill>
                <a:srgbClr val="000000"/>
              </a:solidFill>
              <a:effectLst/>
              <a:uFillTx/>
              <a:latin typeface="Arial"/>
            </a:endParaRPr>
          </a:p>
        </p:txBody>
      </p:sp>
      <p:sp>
        <p:nvSpPr>
          <p:cNvPr id="98" name="Outcome circle Flags steps the paper leaves out"/>
          <p:cNvSpPr/>
          <p:nvPr/>
        </p:nvSpPr>
        <p:spPr>
          <a:xfrm>
            <a:off x="7360920" y="5315040"/>
            <a:ext cx="502200" cy="502200"/>
          </a:xfrm>
          <a:prstGeom prst="ellipse">
            <a:avLst/>
          </a:prstGeom>
          <a:solidFill>
            <a:schemeClr val="accent2"/>
          </a:solidFill>
          <a:ln w="0">
            <a:noFill/>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pic>
        <p:nvPicPr>
          <p:cNvPr id="99" name="Outcome icon Flags steps the paper leaves out" descr="preencoded.png"/>
          <p:cNvPicPr/>
          <p:nvPr/>
        </p:nvPicPr>
        <p:blipFill>
          <a:blip r:embed="rId6"/>
          <a:stretch/>
        </p:blipFill>
        <p:spPr>
          <a:xfrm>
            <a:off x="7489080" y="5442840"/>
            <a:ext cx="246240" cy="246240"/>
          </a:xfrm>
          <a:prstGeom prst="rect">
            <a:avLst/>
          </a:prstGeom>
          <a:noFill/>
          <a:ln w="0">
            <a:noFill/>
          </a:ln>
        </p:spPr>
      </p:pic>
      <p:sp>
        <p:nvSpPr>
          <p:cNvPr id="100" name="Outcome Flags steps the paper leaves out"/>
          <p:cNvSpPr/>
          <p:nvPr/>
        </p:nvSpPr>
        <p:spPr>
          <a:xfrm>
            <a:off x="8046720" y="5315040"/>
            <a:ext cx="3565440" cy="502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chemeClr val="dk1"/>
                </a:solidFill>
                <a:effectLst/>
                <a:uFillTx/>
                <a:latin typeface="Arial"/>
              </a:rPr>
              <a:t>Flags steps the paper leaves out</a:t>
            </a:r>
            <a:endParaRPr lang="en-GB" sz="1600" b="0" u="none" strike="noStrike">
              <a:solidFill>
                <a:srgbClr val="000000"/>
              </a:solidFill>
              <a:effectLst/>
              <a:uFillTx/>
              <a:latin typeface="Arial"/>
            </a:endParaRPr>
          </a:p>
        </p:txBody>
      </p:sp>
      <p:sp>
        <p:nvSpPr>
          <p:cNvPr id="101" name="Outcome circle Suggests better modelling choices"/>
          <p:cNvSpPr/>
          <p:nvPr/>
        </p:nvSpPr>
        <p:spPr>
          <a:xfrm>
            <a:off x="7360920" y="6000840"/>
            <a:ext cx="502200" cy="502200"/>
          </a:xfrm>
          <a:prstGeom prst="ellipse">
            <a:avLst/>
          </a:prstGeom>
          <a:solidFill>
            <a:schemeClr val="accent2"/>
          </a:solidFill>
          <a:ln w="0">
            <a:noFill/>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pic>
        <p:nvPicPr>
          <p:cNvPr id="102" name="Outcome icon Suggests better modelling choices" descr="preencoded.png"/>
          <p:cNvPicPr/>
          <p:nvPr/>
        </p:nvPicPr>
        <p:blipFill>
          <a:blip r:embed="rId7"/>
          <a:stretch/>
        </p:blipFill>
        <p:spPr>
          <a:xfrm>
            <a:off x="7489080" y="6128640"/>
            <a:ext cx="246240" cy="246240"/>
          </a:xfrm>
          <a:prstGeom prst="rect">
            <a:avLst/>
          </a:prstGeom>
          <a:noFill/>
          <a:ln w="0">
            <a:noFill/>
          </a:ln>
        </p:spPr>
      </p:pic>
      <p:sp>
        <p:nvSpPr>
          <p:cNvPr id="103" name="Outcome Suggests better modelling choices"/>
          <p:cNvSpPr/>
          <p:nvPr/>
        </p:nvSpPr>
        <p:spPr>
          <a:xfrm>
            <a:off x="8046720" y="6000840"/>
            <a:ext cx="3565440" cy="502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chemeClr val="dk1"/>
                </a:solidFill>
                <a:effectLst/>
                <a:uFillTx/>
                <a:latin typeface="Arial"/>
              </a:rPr>
              <a:t>Suggests better modelling choices</a:t>
            </a:r>
            <a:endParaRPr lang="en-GB" sz="1600" b="0" u="none" strike="noStrike">
              <a:solidFill>
                <a:srgbClr val="000000"/>
              </a:solidFill>
              <a:effectLst/>
              <a:uFillTx/>
              <a:latin typeface="Arial"/>
            </a:endParaRPr>
          </a:p>
        </p:txBody>
      </p:sp>
      <p:sp>
        <p:nvSpPr>
          <p:cNvPr id="104" name="PlaceHolder 3"/>
          <p:cNvSpPr>
            <a:spLocks noGrp="1"/>
          </p:cNvSpPr>
          <p:nvPr>
            <p:ph type="sldNum" idx="7"/>
          </p:nvPr>
        </p:nvSpPr>
        <p:spPr>
          <a:xfrm>
            <a:off x="11338560" y="6400800"/>
            <a:ext cx="456480" cy="27360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000" b="0" u="none" strike="noStrike">
                <a:solidFill>
                  <a:schemeClr val="accent4"/>
                </a:solidFill>
                <a:effectLst/>
                <a:uFillTx/>
                <a:latin typeface="Arial"/>
              </a:defRPr>
            </a:lvl1pPr>
          </a:lstStyle>
          <a:p>
            <a:pPr indent="0" algn="r" defTabSz="914400">
              <a:lnSpc>
                <a:spcPct val="100000"/>
              </a:lnSpc>
              <a:buNone/>
              <a:tabLst>
                <a:tab pos="0" algn="l"/>
              </a:tabLst>
            </a:pPr>
            <a:fld id="{C6C77170-A219-484C-AF11-5B25941379D6}" type="slidenum">
              <a:rPr lang="en-US" sz="1000" b="0" u="none" strike="noStrike">
                <a:solidFill>
                  <a:schemeClr val="accent4"/>
                </a:solidFill>
                <a:effectLst/>
                <a:uFillTx/>
                <a:latin typeface="Arial"/>
              </a:rPr>
              <a:t>&lt;number&gt;</a:t>
            </a:fld>
            <a:endParaRPr lang="en-GB"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2"/>
        </a:solidFill>
      </p:bgPr>
    </p:bg>
    <p:spTree>
      <p:nvGrpSpPr>
        <p:cNvPr id="1" name=""/>
        <p:cNvGrpSpPr/>
        <p:nvPr/>
      </p:nvGrpSpPr>
      <p:grpSpPr>
        <a:xfrm>
          <a:off x="0" y="0"/>
          <a:ext cx="0" cy="0"/>
          <a:chOff x="0" y="0"/>
          <a:chExt cx="0" cy="0"/>
        </a:xfrm>
      </p:grpSpPr>
      <p:sp>
        <p:nvSpPr>
          <p:cNvPr id="105" name="PlaceHolder 1"/>
          <p:cNvSpPr>
            <a:spLocks noGrp="1"/>
          </p:cNvSpPr>
          <p:nvPr>
            <p:ph type="title"/>
          </p:nvPr>
        </p:nvSpPr>
        <p:spPr>
          <a:xfrm>
            <a:off x="822960" y="2148840"/>
            <a:ext cx="6583320" cy="1371240"/>
          </a:xfrm>
          <a:prstGeom prst="rect">
            <a:avLst/>
          </a:prstGeom>
          <a:noFill/>
          <a:ln w="0">
            <a:noFill/>
          </a:ln>
        </p:spPr>
        <p:txBody>
          <a:bodyPr lIns="0" tIns="0" rIns="0" bIns="0" anchor="b">
            <a:noAutofit/>
          </a:bodyPr>
          <a:p>
            <a:pPr indent="0" algn="l">
              <a:lnSpc>
                <a:spcPct val="100000"/>
              </a:lnSpc>
              <a:buNone/>
              <a:tabLst>
                <a:tab pos="0" algn="l"/>
              </a:tabLst>
            </a:pPr>
            <a:r>
              <a:rPr lang="en-GB" sz="8000" b="1" u="none" strike="noStrike">
                <a:solidFill>
                  <a:srgbClr val="FFFFFF"/>
                </a:solidFill>
                <a:effectLst/>
                <a:uFillTx/>
                <a:latin typeface="Arial"/>
              </a:rPr>
              <a:t>Workshop</a:t>
            </a:r>
            <a:endParaRPr lang="en-GB" sz="8000" b="0" u="none" strike="noStrike">
              <a:solidFill>
                <a:schemeClr val="dk1"/>
              </a:solidFill>
              <a:effectLst/>
              <a:uFillTx/>
              <a:latin typeface="Arial"/>
            </a:endParaRPr>
          </a:p>
        </p:txBody>
      </p:sp>
      <p:sp>
        <p:nvSpPr>
          <p:cNvPr id="106" name="PlaceHolder 2"/>
          <p:cNvSpPr>
            <a:spLocks noGrp="1"/>
          </p:cNvSpPr>
          <p:nvPr>
            <p:ph/>
          </p:nvPr>
        </p:nvSpPr>
        <p:spPr>
          <a:xfrm>
            <a:off x="822960" y="3657600"/>
            <a:ext cx="6583320" cy="639720"/>
          </a:xfrm>
          <a:prstGeom prst="rect">
            <a:avLst/>
          </a:prstGeom>
          <a:noFill/>
          <a:ln w="0">
            <a:noFill/>
          </a:ln>
        </p:spPr>
        <p:txBody>
          <a:bodyPr lIns="0" tIns="0" rIns="0" bIns="0" anchor="t">
            <a:noAutofit/>
          </a:bodyPr>
          <a:p>
            <a:pPr indent="0" algn="l">
              <a:lnSpc>
                <a:spcPct val="100000"/>
              </a:lnSpc>
              <a:spcBef>
                <a:spcPts val="1417"/>
              </a:spcBef>
              <a:buNone/>
              <a:tabLst>
                <a:tab pos="0" algn="l"/>
              </a:tabLst>
            </a:pPr>
            <a:r>
              <a:rPr lang="en-GB" sz="3200" b="0" u="none" strike="noStrike">
                <a:solidFill>
                  <a:srgbClr val="E9E4DA"/>
                </a:solidFill>
                <a:effectLst/>
                <a:uFillTx/>
                <a:latin typeface="Arial"/>
              </a:rPr>
              <a:t>Reproducible science</a:t>
            </a:r>
            <a:endParaRPr lang="en-GB" sz="3200" b="0" u="none" strike="noStrike">
              <a:solidFill>
                <a:schemeClr val="dk1"/>
              </a:solidFill>
              <a:effectLst/>
              <a:uFillTx/>
              <a:latin typeface="Arial"/>
            </a:endParaRPr>
          </a:p>
        </p:txBody>
      </p:sp>
      <p:sp>
        <p:nvSpPr>
          <p:cNvPr id="107" name="Terminal"/>
          <p:cNvSpPr/>
          <p:nvPr/>
        </p:nvSpPr>
        <p:spPr>
          <a:xfrm>
            <a:off x="7818120" y="2103120"/>
            <a:ext cx="3565800" cy="2377080"/>
          </a:xfrm>
          <a:prstGeom prst="roundRect">
            <a:avLst>
              <a:gd name="adj" fmla="val 6000"/>
            </a:avLst>
          </a:prstGeom>
          <a:solidFill>
            <a:srgbClr val="1F6E6B"/>
          </a:solidFill>
          <a:ln w="0">
            <a:noFill/>
          </a:ln>
          <a:effectLst>
            <a:outerShdw algn="t" blurRad="101520" dir="5400000" dist="25560" rotWithShape="0">
              <a:srgbClr val="000000">
                <a:alpha val="12000"/>
              </a:srgbClr>
            </a:outerShdw>
          </a:effectLst>
        </p:spPr>
        <p:style>
          <a:lnRef idx="0"/>
          <a:fillRef idx="0"/>
          <a:effectRef idx="0"/>
          <a:fontRef idx="minor"/>
        </p:style>
        <p:txBody>
          <a:bodyPr lIns="0" tIns="0" rIns="0" bIns="0" anchor="ctr">
            <a:noAutofit/>
          </a:bodyPr>
          <a:p>
            <a:pPr algn="ctr">
              <a:lnSpc>
                <a:spcPct val="100000"/>
              </a:lnSpc>
              <a:tabLst>
                <a:tab pos="0" algn="l"/>
              </a:tabLst>
            </a:pPr>
            <a:r>
              <a:rPr lang="en-GB" sz="5400" b="1" u="none" strike="noStrike">
                <a:solidFill>
                  <a:srgbClr val="D9734E"/>
                </a:solidFill>
                <a:effectLst/>
                <a:uFillTx/>
                <a:latin typeface="Courier New"/>
              </a:rPr>
              <a:t>&gt; _</a:t>
            </a:r>
            <a:endParaRPr lang="en-GB" sz="5400" b="0" u="none" strike="noStrike">
              <a:solidFill>
                <a:srgbClr val="FFFFFF"/>
              </a:solidFill>
              <a:effectLst/>
              <a:uFillTx/>
              <a:latin typeface="Arial"/>
            </a:endParaRPr>
          </a:p>
        </p:txBody>
      </p:sp>
      <p:sp>
        <p:nvSpPr>
          <p:cNvPr id="108" name="Terminal button 1"/>
          <p:cNvSpPr/>
          <p:nvPr/>
        </p:nvSpPr>
        <p:spPr>
          <a:xfrm>
            <a:off x="8046720" y="2286000"/>
            <a:ext cx="127800" cy="127800"/>
          </a:xfrm>
          <a:prstGeom prst="ellipse">
            <a:avLst/>
          </a:prstGeom>
          <a:solidFill>
            <a:srgbClr val="ED6A5E"/>
          </a:solidFill>
          <a:ln w="0">
            <a:noFill/>
          </a:ln>
        </p:spPr>
        <p:style>
          <a:lnRef idx="0"/>
          <a:fillRef idx="0"/>
          <a:effectRef idx="0"/>
          <a:fontRef idx="minor"/>
        </p:style>
        <p:txBody>
          <a:bodyPr lIns="0" tIns="0" rIns="0" bIns="0" anchor="ctr">
            <a:noAutofit/>
          </a:bodyPr>
          <a:p>
            <a:endParaRPr lang="en-GB" sz="1800" b="0" u="none" strike="noStrike">
              <a:solidFill>
                <a:srgbClr val="FFFFFF"/>
              </a:solidFill>
              <a:effectLst/>
              <a:uFillTx/>
              <a:latin typeface="Arial"/>
            </a:endParaRPr>
          </a:p>
        </p:txBody>
      </p:sp>
      <p:sp>
        <p:nvSpPr>
          <p:cNvPr id="109" name="Terminal button 2"/>
          <p:cNvSpPr/>
          <p:nvPr/>
        </p:nvSpPr>
        <p:spPr>
          <a:xfrm>
            <a:off x="8275320" y="2286000"/>
            <a:ext cx="127800" cy="127800"/>
          </a:xfrm>
          <a:prstGeom prst="ellipse">
            <a:avLst/>
          </a:prstGeom>
          <a:solidFill>
            <a:srgbClr val="F5BF4F"/>
          </a:solidFill>
          <a:ln w="0">
            <a:noFill/>
          </a:ln>
        </p:spPr>
        <p:style>
          <a:lnRef idx="0"/>
          <a:fillRef idx="0"/>
          <a:effectRef idx="0"/>
          <a:fontRef idx="minor"/>
        </p:style>
        <p:txBody>
          <a:bodyPr lIns="0" tIns="0" rIns="0" bIns="0" anchor="ctr">
            <a:noAutofit/>
          </a:bodyPr>
          <a:p>
            <a:endParaRPr lang="en-GB" sz="1800" b="0" u="none" strike="noStrike">
              <a:solidFill>
                <a:srgbClr val="000000"/>
              </a:solidFill>
              <a:effectLst/>
              <a:uFillTx/>
              <a:latin typeface="Arial"/>
            </a:endParaRPr>
          </a:p>
        </p:txBody>
      </p:sp>
      <p:sp>
        <p:nvSpPr>
          <p:cNvPr id="110" name="Terminal button 3"/>
          <p:cNvSpPr/>
          <p:nvPr/>
        </p:nvSpPr>
        <p:spPr>
          <a:xfrm>
            <a:off x="8503920" y="2286000"/>
            <a:ext cx="127800" cy="127800"/>
          </a:xfrm>
          <a:prstGeom prst="ellipse">
            <a:avLst/>
          </a:prstGeom>
          <a:solidFill>
            <a:srgbClr val="62C554"/>
          </a:solidFill>
          <a:ln w="0">
            <a:noFill/>
          </a:ln>
        </p:spPr>
        <p:style>
          <a:lnRef idx="0"/>
          <a:fillRef idx="0"/>
          <a:effectRef idx="0"/>
          <a:fontRef idx="minor"/>
        </p:style>
        <p:txBody>
          <a:bodyPr lIns="0" tIns="0" rIns="0" bIns="0" anchor="ctr">
            <a:noAutofit/>
          </a:bodyPr>
          <a:p>
            <a:endParaRPr lang="en-GB"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PlaceHolder 1"/>
          <p:cNvSpPr>
            <a:spLocks noGrp="1"/>
          </p:cNvSpPr>
          <p:nvPr>
            <p:ph type="title" hasCustomPrompt="1"/>
          </p:nvPr>
        </p:nvSpPr>
        <p:spPr>
          <a:xfrm>
            <a:off x="548640" y="365760"/>
            <a:ext cx="11063520" cy="685080"/>
          </a:xfrm>
          <a:prstGeom prst="rect">
            <a:avLst/>
          </a:prstGeom>
          <a:noFill/>
          <a:ln w="0">
            <a:noFill/>
          </a:ln>
        </p:spPr>
        <p:txBody>
          <a:bodyPr lIns="0" tIns="0" rIns="0" bIns="0" anchor="ctr">
            <a:noAutofit/>
          </a:bodyPr>
          <a:p>
            <a:pPr indent="0" algn="l" defTabSz="914400">
              <a:lnSpc>
                <a:spcPct val="100000"/>
              </a:lnSpc>
              <a:buNone/>
              <a:tabLst>
                <a:tab pos="0" algn="l"/>
              </a:tabLst>
            </a:pPr>
            <a:r>
              <a:rPr lang="en-US" sz="3400" b="1" u="none" strike="noStrike">
                <a:solidFill>
                  <a:schemeClr val="dk1"/>
                </a:solidFill>
                <a:effectLst/>
                <a:uFillTx/>
                <a:latin typeface="Arial"/>
              </a:rPr>
              <a:t>How does an AI agent work?</a:t>
            </a:r>
            <a:endParaRPr lang="en-GB" sz="3400" b="0" u="none" strike="noStrike">
              <a:solidFill>
                <a:schemeClr val="dk1"/>
              </a:solidFill>
              <a:effectLst/>
              <a:uFillTx/>
              <a:latin typeface="Arial"/>
            </a:endParaRPr>
          </a:p>
        </p:txBody>
      </p:sp>
      <p:sp>
        <p:nvSpPr>
          <p:cNvPr id="112" name="PlaceHolder 2"/>
          <p:cNvSpPr>
            <a:spLocks noGrp="1"/>
          </p:cNvSpPr>
          <p:nvPr>
            <p:ph hasCustomPrompt="1"/>
          </p:nvPr>
        </p:nvSpPr>
        <p:spPr>
          <a:xfrm>
            <a:off x="548640" y="1051560"/>
            <a:ext cx="11063520" cy="410760"/>
          </a:xfrm>
          <a:prstGeom prst="rect">
            <a:avLst/>
          </a:prstGeom>
          <a:noFill/>
          <a:ln w="0">
            <a:noFill/>
          </a:ln>
        </p:spPr>
        <p:txBody>
          <a:bodyPr lIns="0" tIns="0" rIns="0" bIns="0" anchor="t">
            <a:noAutofit/>
          </a:bodyPr>
          <a:p>
            <a:pPr indent="0" algn="l" defTabSz="914400">
              <a:lnSpc>
                <a:spcPct val="100000"/>
              </a:lnSpc>
              <a:spcBef>
                <a:spcPts val="360"/>
              </a:spcBef>
              <a:buNone/>
              <a:tabLst>
                <a:tab pos="0" algn="l"/>
              </a:tabLst>
            </a:pPr>
            <a:r>
              <a:rPr lang="en-US" sz="1800" b="0" u="none" strike="noStrike">
                <a:solidFill>
                  <a:schemeClr val="accent4"/>
                </a:solidFill>
                <a:effectLst/>
                <a:uFillTx/>
                <a:latin typeface="Arial"/>
              </a:rPr>
              <a:t>The model reads, writes and runs code, in a loop</a:t>
            </a:r>
            <a:endParaRPr lang="en-GB" sz="1800" b="0" u="none" strike="noStrike">
              <a:solidFill>
                <a:schemeClr val="dk1"/>
              </a:solidFill>
              <a:effectLst/>
              <a:uFillTx/>
              <a:latin typeface="Arial"/>
            </a:endParaRPr>
          </a:p>
        </p:txBody>
      </p:sp>
      <p:sp>
        <p:nvSpPr>
          <p:cNvPr id="113" name="Legend arrow AI looks at 2"/>
          <p:cNvSpPr/>
          <p:nvPr/>
        </p:nvSpPr>
        <p:spPr>
          <a:xfrm>
            <a:off x="9464040" y="502920"/>
            <a:ext cx="548640" cy="360"/>
          </a:xfrm>
          <a:prstGeom prst="line">
            <a:avLst/>
          </a:prstGeom>
          <a:ln w="31750">
            <a:solidFill>
              <a:srgbClr val="1F6E6B"/>
            </a:solidFill>
            <a:round/>
            <a:tailEnd len="med" type="triangle" w="med"/>
          </a:ln>
        </p:spPr>
        <p:style>
          <a:lnRef idx="0"/>
          <a:fillRef idx="0"/>
          <a:effectRef idx="0"/>
          <a:fontRef idx="minor"/>
        </p:style>
        <p:txBody>
          <a:bodyPr lIns="90000" tIns="-44640" rIns="90000" bIns="-44640" anchor="t" anchorCtr="1">
            <a:noAutofit/>
          </a:bodyPr>
          <a:p>
            <a:endParaRPr lang="en-GB" sz="1800" b="0" u="none" strike="noStrike">
              <a:solidFill>
                <a:srgbClr val="000000"/>
              </a:solidFill>
              <a:effectLst/>
              <a:uFillTx/>
              <a:latin typeface="Arial"/>
            </a:endParaRPr>
          </a:p>
        </p:txBody>
      </p:sp>
      <p:sp>
        <p:nvSpPr>
          <p:cNvPr id="114" name="Legend AI looks at 2"/>
          <p:cNvSpPr/>
          <p:nvPr/>
        </p:nvSpPr>
        <p:spPr>
          <a:xfrm>
            <a:off x="10149840" y="365760"/>
            <a:ext cx="146232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chemeClr val="dk1"/>
                </a:solidFill>
                <a:effectLst/>
                <a:uFillTx/>
                <a:latin typeface="Arial"/>
              </a:rPr>
              <a:t>AI looks at</a:t>
            </a:r>
            <a:endParaRPr lang="en-GB" sz="1400" b="0" u="none" strike="noStrike">
              <a:solidFill>
                <a:srgbClr val="000000"/>
              </a:solidFill>
              <a:effectLst/>
              <a:uFillTx/>
              <a:latin typeface="Arial"/>
            </a:endParaRPr>
          </a:p>
        </p:txBody>
      </p:sp>
      <p:sp>
        <p:nvSpPr>
          <p:cNvPr id="115" name="Legend arrow AI writes 2"/>
          <p:cNvSpPr/>
          <p:nvPr/>
        </p:nvSpPr>
        <p:spPr>
          <a:xfrm>
            <a:off x="9464040" y="831960"/>
            <a:ext cx="548640" cy="360"/>
          </a:xfrm>
          <a:prstGeom prst="line">
            <a:avLst/>
          </a:prstGeom>
          <a:ln w="31750">
            <a:solidFill>
              <a:srgbClr val="D9734E"/>
            </a:solidFill>
            <a:round/>
            <a:tailEnd len="med" type="triangle" w="med"/>
          </a:ln>
        </p:spPr>
        <p:style>
          <a:lnRef idx="0"/>
          <a:fillRef idx="0"/>
          <a:effectRef idx="0"/>
          <a:fontRef idx="minor"/>
        </p:style>
        <p:txBody>
          <a:bodyPr lIns="90000" tIns="-44640" rIns="90000" bIns="-44640" anchor="t" anchorCtr="1">
            <a:noAutofit/>
          </a:bodyPr>
          <a:p>
            <a:endParaRPr lang="en-GB" sz="1800" b="0" u="none" strike="noStrike">
              <a:solidFill>
                <a:srgbClr val="000000"/>
              </a:solidFill>
              <a:effectLst/>
              <a:uFillTx/>
              <a:latin typeface="Arial"/>
            </a:endParaRPr>
          </a:p>
        </p:txBody>
      </p:sp>
      <p:sp>
        <p:nvSpPr>
          <p:cNvPr id="116" name="Legend AI writes 2"/>
          <p:cNvSpPr/>
          <p:nvPr/>
        </p:nvSpPr>
        <p:spPr>
          <a:xfrm>
            <a:off x="10149840" y="694800"/>
            <a:ext cx="146232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chemeClr val="dk1"/>
                </a:solidFill>
                <a:effectLst/>
                <a:uFillTx/>
                <a:latin typeface="Arial"/>
              </a:rPr>
              <a:t>AI writes</a:t>
            </a:r>
            <a:endParaRPr lang="en-GB" sz="1400" b="0" u="none" strike="noStrike">
              <a:solidFill>
                <a:srgbClr val="000000"/>
              </a:solidFill>
              <a:effectLst/>
              <a:uFillTx/>
              <a:latin typeface="Arial"/>
            </a:endParaRPr>
          </a:p>
        </p:txBody>
      </p:sp>
      <p:sp>
        <p:nvSpPr>
          <p:cNvPr id="117" name="Legend arrow AI runs 2"/>
          <p:cNvSpPr/>
          <p:nvPr/>
        </p:nvSpPr>
        <p:spPr>
          <a:xfrm>
            <a:off x="9464040" y="1161000"/>
            <a:ext cx="548640" cy="360"/>
          </a:xfrm>
          <a:prstGeom prst="line">
            <a:avLst/>
          </a:prstGeom>
          <a:ln w="63500">
            <a:solidFill>
              <a:srgbClr val="D9734E"/>
            </a:solidFill>
            <a:round/>
            <a:tailEnd len="med" type="triangle" w="med"/>
          </a:ln>
        </p:spPr>
        <p:style>
          <a:lnRef idx="0"/>
          <a:fillRef idx="0"/>
          <a:effectRef idx="0"/>
          <a:fontRef idx="minor"/>
        </p:style>
        <p:txBody>
          <a:bodyPr lIns="90000" tIns="-44640" rIns="90000" bIns="-44640" anchor="t" anchorCtr="1">
            <a:noAutofit/>
          </a:bodyPr>
          <a:p>
            <a:endParaRPr lang="en-GB" sz="1800" b="0" u="none" strike="noStrike">
              <a:solidFill>
                <a:srgbClr val="000000"/>
              </a:solidFill>
              <a:effectLst/>
              <a:uFillTx/>
              <a:latin typeface="Arial"/>
            </a:endParaRPr>
          </a:p>
        </p:txBody>
      </p:sp>
      <p:sp>
        <p:nvSpPr>
          <p:cNvPr id="118" name="Legend AI runs 2"/>
          <p:cNvSpPr/>
          <p:nvPr/>
        </p:nvSpPr>
        <p:spPr>
          <a:xfrm>
            <a:off x="10149840" y="1024200"/>
            <a:ext cx="146232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chemeClr val="dk1"/>
                </a:solidFill>
                <a:effectLst/>
                <a:uFillTx/>
                <a:latin typeface="Arial"/>
              </a:rPr>
              <a:t>AI runs</a:t>
            </a:r>
            <a:endParaRPr lang="en-GB" sz="1400" b="0" u="none" strike="noStrike">
              <a:solidFill>
                <a:srgbClr val="000000"/>
              </a:solidFill>
              <a:effectLst/>
              <a:uFillTx/>
              <a:latin typeface="Arial"/>
            </a:endParaRPr>
          </a:p>
        </p:txBody>
      </p:sp>
      <p:sp>
        <p:nvSpPr>
          <p:cNvPr id="119" name="Model circle 2"/>
          <p:cNvSpPr/>
          <p:nvPr/>
        </p:nvSpPr>
        <p:spPr>
          <a:xfrm>
            <a:off x="822960" y="3246120"/>
            <a:ext cx="1828080" cy="1828080"/>
          </a:xfrm>
          <a:prstGeom prst="ellipse">
            <a:avLst/>
          </a:prstGeom>
          <a:solidFill>
            <a:schemeClr val="accent1"/>
          </a:solidFill>
          <a:ln w="0">
            <a:noFill/>
          </a:ln>
          <a:effectLst>
            <a:outerShdw algn="bl" blurRad="1015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pic>
        <p:nvPicPr>
          <p:cNvPr id="120" name="Model icon 2" descr="preencoded.png"/>
          <p:cNvPicPr/>
          <p:nvPr/>
        </p:nvPicPr>
        <p:blipFill>
          <a:blip r:embed="rId1"/>
          <a:stretch/>
        </p:blipFill>
        <p:spPr>
          <a:xfrm>
            <a:off x="1463040" y="3474720"/>
            <a:ext cx="547920" cy="547920"/>
          </a:xfrm>
          <a:prstGeom prst="rect">
            <a:avLst/>
          </a:prstGeom>
          <a:noFill/>
          <a:ln w="0">
            <a:noFill/>
          </a:ln>
        </p:spPr>
      </p:pic>
      <p:sp>
        <p:nvSpPr>
          <p:cNvPr id="121" name="Runs in the cloud badge 2"/>
          <p:cNvSpPr/>
          <p:nvPr/>
        </p:nvSpPr>
        <p:spPr>
          <a:xfrm>
            <a:off x="827640" y="3250800"/>
            <a:ext cx="502200" cy="502200"/>
          </a:xfrm>
          <a:prstGeom prst="ellipse">
            <a:avLst/>
          </a:prstGeom>
          <a:solidFill>
            <a:schemeClr val="bg1"/>
          </a:solidFill>
          <a:ln w="9525">
            <a:solidFill>
              <a:srgbClr val="DDDAD3"/>
            </a:solidFill>
            <a:round/>
          </a:ln>
          <a:effectLst>
            <a:outerShdw algn="bl" blurRad="1015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pic>
        <p:nvPicPr>
          <p:cNvPr id="122" name="Runs in the cloud icon 2" descr="Runs in the cloud"/>
          <p:cNvPicPr/>
          <p:nvPr/>
        </p:nvPicPr>
        <p:blipFill>
          <a:blip r:embed="rId2"/>
          <a:stretch/>
        </p:blipFill>
        <p:spPr>
          <a:xfrm>
            <a:off x="941760" y="3364920"/>
            <a:ext cx="273600" cy="273600"/>
          </a:xfrm>
          <a:prstGeom prst="rect">
            <a:avLst/>
          </a:prstGeom>
          <a:noFill/>
          <a:ln w="0">
            <a:noFill/>
          </a:ln>
        </p:spPr>
      </p:pic>
      <p:sp>
        <p:nvSpPr>
          <p:cNvPr id="123" name="Model label 2"/>
          <p:cNvSpPr/>
          <p:nvPr/>
        </p:nvSpPr>
        <p:spPr>
          <a:xfrm>
            <a:off x="914400" y="4114800"/>
            <a:ext cx="1645200" cy="593640"/>
          </a:xfrm>
          <a:prstGeom prst="rect">
            <a:avLst/>
          </a:prstGeom>
          <a:noFill/>
          <a:ln w="0">
            <a:noFill/>
          </a:ln>
        </p:spPr>
        <p:style>
          <a:lnRef idx="0"/>
          <a:fillRef idx="0"/>
          <a:effectRef idx="0"/>
          <a:fontRef idx="minor"/>
        </p:style>
        <p:txBody>
          <a:bodyPr lIns="0" tIns="0" rIns="0" bIns="0" anchor="t">
            <a:noAutofit/>
          </a:bodyPr>
          <a:p>
            <a:pPr algn="ctr" defTabSz="914400">
              <a:lnSpc>
                <a:spcPct val="100000"/>
              </a:lnSpc>
              <a:tabLst>
                <a:tab pos="0" algn="l"/>
              </a:tabLst>
            </a:pPr>
            <a:r>
              <a:rPr lang="en-US" sz="1600" b="1" u="none" strike="noStrike">
                <a:solidFill>
                  <a:srgbClr val="FFFFFF"/>
                </a:solidFill>
                <a:effectLst/>
                <a:uFillTx/>
                <a:latin typeface="Arial"/>
              </a:rPr>
              <a:t>Language model</a:t>
            </a:r>
            <a:endParaRPr lang="en-GB" sz="1600" b="0" u="none" strike="noStrike">
              <a:solidFill>
                <a:srgbClr val="000000"/>
              </a:solidFill>
              <a:effectLst/>
              <a:uFillTx/>
              <a:latin typeface="Arial"/>
            </a:endParaRPr>
          </a:p>
          <a:p>
            <a:pPr algn="ctr" defTabSz="914400">
              <a:lnSpc>
                <a:spcPct val="100000"/>
              </a:lnSpc>
              <a:tabLst>
                <a:tab pos="0" algn="l"/>
              </a:tabLst>
            </a:pPr>
            <a:r>
              <a:rPr lang="en-US" sz="1300" b="0" u="none" strike="noStrike">
                <a:solidFill>
                  <a:srgbClr val="E9E4DA"/>
                </a:solidFill>
                <a:effectLst/>
                <a:uFillTx/>
                <a:latin typeface="Arial"/>
              </a:rPr>
              <a:t>e.g. ChatGPT</a:t>
            </a:r>
            <a:endParaRPr lang="en-GB" sz="1300" b="0" u="none" strike="noStrike">
              <a:solidFill>
                <a:srgbClr val="000000"/>
              </a:solidFill>
              <a:effectLst/>
              <a:uFillTx/>
              <a:latin typeface="Arial"/>
            </a:endParaRPr>
          </a:p>
        </p:txBody>
      </p:sp>
      <p:pic>
        <p:nvPicPr>
          <p:cNvPr id="124" name="Loop icon 2" descr="preencoded.png"/>
          <p:cNvPicPr/>
          <p:nvPr/>
        </p:nvPicPr>
        <p:blipFill>
          <a:blip r:embed="rId3"/>
          <a:stretch/>
        </p:blipFill>
        <p:spPr>
          <a:xfrm>
            <a:off x="685800" y="5577840"/>
            <a:ext cx="273600" cy="273600"/>
          </a:xfrm>
          <a:prstGeom prst="rect">
            <a:avLst/>
          </a:prstGeom>
          <a:noFill/>
          <a:ln w="0">
            <a:noFill/>
          </a:ln>
        </p:spPr>
      </p:pic>
      <p:sp>
        <p:nvSpPr>
          <p:cNvPr id="125" name="Loop note 2"/>
          <p:cNvSpPr/>
          <p:nvPr/>
        </p:nvSpPr>
        <p:spPr>
          <a:xfrm>
            <a:off x="1097280" y="5468040"/>
            <a:ext cx="2193840" cy="502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u="none" strike="noStrike">
                <a:solidFill>
                  <a:schemeClr val="accent4"/>
                </a:solidFill>
                <a:effectLst/>
                <a:uFillTx/>
                <a:latin typeface="Arial"/>
              </a:rPr>
              <a:t>Repeats until</a:t>
            </a:r>
            <a:endParaRPr lang="en-GB"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chemeClr val="accent4"/>
                </a:solidFill>
                <a:effectLst/>
                <a:uFillTx/>
                <a:latin typeface="Arial"/>
              </a:rPr>
              <a:t>the result is right</a:t>
            </a:r>
            <a:endParaRPr lang="en-GB" sz="1300" b="0" u="none" strike="noStrike">
              <a:solidFill>
                <a:srgbClr val="000000"/>
              </a:solidFill>
              <a:effectLst/>
              <a:uFillTx/>
              <a:latin typeface="Arial"/>
            </a:endParaRPr>
          </a:p>
        </p:txBody>
      </p:sp>
      <p:sp>
        <p:nvSpPr>
          <p:cNvPr id="126" name="Person circle 2"/>
          <p:cNvSpPr/>
          <p:nvPr/>
        </p:nvSpPr>
        <p:spPr>
          <a:xfrm>
            <a:off x="1417320" y="1645920"/>
            <a:ext cx="639360" cy="639360"/>
          </a:xfrm>
          <a:prstGeom prst="ellipse">
            <a:avLst/>
          </a:prstGeom>
          <a:solidFill>
            <a:schemeClr val="tx2"/>
          </a:solidFill>
          <a:ln w="0">
            <a:noFill/>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pic>
        <p:nvPicPr>
          <p:cNvPr id="127" name="Person icon 2" descr="preencoded.png"/>
          <p:cNvPicPr/>
          <p:nvPr/>
        </p:nvPicPr>
        <p:blipFill>
          <a:blip r:embed="rId4"/>
          <a:stretch/>
        </p:blipFill>
        <p:spPr>
          <a:xfrm>
            <a:off x="1581840" y="1810440"/>
            <a:ext cx="310320" cy="310320"/>
          </a:xfrm>
          <a:prstGeom prst="rect">
            <a:avLst/>
          </a:prstGeom>
          <a:noFill/>
          <a:ln w="0">
            <a:noFill/>
          </a:ln>
        </p:spPr>
      </p:pic>
      <p:sp>
        <p:nvSpPr>
          <p:cNvPr id="128" name="Person label 2"/>
          <p:cNvSpPr/>
          <p:nvPr/>
        </p:nvSpPr>
        <p:spPr>
          <a:xfrm>
            <a:off x="457200" y="1783080"/>
            <a:ext cx="822240" cy="365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600" b="1" u="none" strike="noStrike">
                <a:solidFill>
                  <a:schemeClr val="dk1"/>
                </a:solidFill>
                <a:effectLst/>
                <a:uFillTx/>
                <a:latin typeface="Arial"/>
              </a:rPr>
              <a:t>You</a:t>
            </a:r>
            <a:endParaRPr lang="en-GB" sz="1600" b="0" u="none" strike="noStrike">
              <a:solidFill>
                <a:srgbClr val="000000"/>
              </a:solidFill>
              <a:effectLst/>
              <a:uFillTx/>
              <a:latin typeface="Arial"/>
            </a:endParaRPr>
          </a:p>
        </p:txBody>
      </p:sp>
      <p:sp>
        <p:nvSpPr>
          <p:cNvPr id="129" name="Chat bubble 2"/>
          <p:cNvSpPr/>
          <p:nvPr/>
        </p:nvSpPr>
        <p:spPr>
          <a:xfrm>
            <a:off x="2194560" y="1627560"/>
            <a:ext cx="1188000" cy="685080"/>
          </a:xfrm>
          <a:prstGeom prst="roundRect">
            <a:avLst>
              <a:gd name="adj" fmla="val 26667"/>
            </a:avLst>
          </a:prstGeom>
          <a:solidFill>
            <a:schemeClr val="bg1"/>
          </a:solidFill>
          <a:ln w="9525">
            <a:solidFill>
              <a:srgbClr val="DDDAD3"/>
            </a:solidFill>
            <a:round/>
          </a:ln>
        </p:spPr>
        <p:style>
          <a:lnRef idx="0"/>
          <a:fillRef idx="0"/>
          <a:effectRef idx="0"/>
          <a:fontRef idx="minor"/>
        </p:style>
        <p:txBody>
          <a:bodyPr lIns="25560" tIns="25560" rIns="25560" bIns="25560" anchor="ctr">
            <a:noAutofit/>
          </a:bodyPr>
          <a:p>
            <a:pPr algn="ctr" defTabSz="914400">
              <a:lnSpc>
                <a:spcPct val="100000"/>
              </a:lnSpc>
              <a:tabLst>
                <a:tab pos="0" algn="l"/>
              </a:tabLst>
            </a:pPr>
            <a:r>
              <a:rPr lang="en-US" sz="1300" b="0" i="1" u="none" strike="noStrike">
                <a:solidFill>
                  <a:schemeClr val="dk1"/>
                </a:solidFill>
                <a:effectLst/>
                <a:uFillTx/>
                <a:latin typeface="Arial"/>
              </a:rPr>
              <a:t>“Plot survival by age”</a:t>
            </a:r>
            <a:endParaRPr lang="en-GB" sz="1300" b="0" u="none" strike="noStrike">
              <a:solidFill>
                <a:srgbClr val="000000"/>
              </a:solidFill>
              <a:effectLst/>
              <a:uFillTx/>
              <a:latin typeface="Arial"/>
            </a:endParaRPr>
          </a:p>
        </p:txBody>
      </p:sp>
      <p:sp>
        <p:nvSpPr>
          <p:cNvPr id="130" name="Arrow person to model 2"/>
          <p:cNvSpPr/>
          <p:nvPr/>
        </p:nvSpPr>
        <p:spPr>
          <a:xfrm>
            <a:off x="1554480" y="2377440"/>
            <a:ext cx="360" cy="886680"/>
          </a:xfrm>
          <a:prstGeom prst="line">
            <a:avLst/>
          </a:prstGeom>
          <a:ln w="31750">
            <a:solidFill>
              <a:srgbClr val="1F6E6B"/>
            </a:solidFill>
            <a:round/>
            <a:tailEnd len="med" type="triangle" w="med"/>
          </a:ln>
        </p:spPr>
        <p:style>
          <a:lnRef idx="0"/>
          <a:fillRef idx="0"/>
          <a:effectRef idx="0"/>
          <a:fontRef idx="minor"/>
        </p:style>
        <p:txBody>
          <a:bodyPr lIns="0" tIns="45000" rIns="0" bIns="45000" anchor="t" anchorCtr="1">
            <a:noAutofit/>
          </a:bodyPr>
          <a:p>
            <a:endParaRPr lang="en-GB" sz="1800" b="0" u="none" strike="noStrike">
              <a:solidFill>
                <a:srgbClr val="000000"/>
              </a:solidFill>
              <a:effectLst/>
              <a:uFillTx/>
              <a:latin typeface="Arial"/>
            </a:endParaRPr>
          </a:p>
        </p:txBody>
      </p:sp>
      <p:sp>
        <p:nvSpPr>
          <p:cNvPr id="131" name="Arrow model to person 2"/>
          <p:cNvSpPr/>
          <p:nvPr/>
        </p:nvSpPr>
        <p:spPr>
          <a:xfrm flipV="1">
            <a:off x="1920240" y="2377440"/>
            <a:ext cx="360" cy="886680"/>
          </a:xfrm>
          <a:prstGeom prst="line">
            <a:avLst/>
          </a:prstGeom>
          <a:ln w="31750">
            <a:solidFill>
              <a:srgbClr val="D9734E"/>
            </a:solidFill>
            <a:round/>
            <a:tailEnd len="med" type="triangle" w="med"/>
          </a:ln>
        </p:spPr>
        <p:style>
          <a:lnRef idx="0"/>
          <a:fillRef idx="0"/>
          <a:effectRef idx="0"/>
          <a:fontRef idx="minor"/>
        </p:style>
        <p:txBody>
          <a:bodyPr lIns="0" tIns="45000" rIns="0" bIns="45000" anchor="t" anchorCtr="1">
            <a:noAutofit/>
          </a:bodyPr>
          <a:p>
            <a:endParaRPr lang="en-GB" sz="1800" b="0" u="none" strike="noStrike">
              <a:solidFill>
                <a:srgbClr val="000000"/>
              </a:solidFill>
              <a:effectLst/>
              <a:uFillTx/>
              <a:latin typeface="Arial"/>
            </a:endParaRPr>
          </a:p>
        </p:txBody>
      </p:sp>
      <p:sp>
        <p:nvSpPr>
          <p:cNvPr id="132" name="Action zone 2"/>
          <p:cNvSpPr/>
          <p:nvPr/>
        </p:nvSpPr>
        <p:spPr>
          <a:xfrm>
            <a:off x="3520440" y="1691640"/>
            <a:ext cx="8137440" cy="4799880"/>
          </a:xfrm>
          <a:prstGeom prst="roundRect">
            <a:avLst>
              <a:gd name="adj" fmla="val 2857"/>
            </a:avLst>
          </a:prstGeom>
          <a:solidFill>
            <a:schemeClr val="accent2">
              <a:alpha val="10000"/>
            </a:schemeClr>
          </a:solidFill>
          <a:ln w="19050">
            <a:solidFill>
              <a:srgbClr val="D9734E"/>
            </a:solidFill>
            <a:prstDash val="dash"/>
            <a:round/>
          </a:ln>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pic>
        <p:nvPicPr>
          <p:cNvPr id="133" name="Action icon 2" descr="preencoded.png"/>
          <p:cNvPicPr/>
          <p:nvPr/>
        </p:nvPicPr>
        <p:blipFill>
          <a:blip r:embed="rId5"/>
          <a:stretch/>
        </p:blipFill>
        <p:spPr>
          <a:xfrm>
            <a:off x="3749040" y="5742360"/>
            <a:ext cx="255240" cy="255240"/>
          </a:xfrm>
          <a:prstGeom prst="rect">
            <a:avLst/>
          </a:prstGeom>
          <a:noFill/>
          <a:ln w="0">
            <a:noFill/>
          </a:ln>
        </p:spPr>
      </p:pic>
      <p:sp>
        <p:nvSpPr>
          <p:cNvPr id="134" name="Runs on your computer badge 2"/>
          <p:cNvSpPr/>
          <p:nvPr/>
        </p:nvSpPr>
        <p:spPr>
          <a:xfrm>
            <a:off x="3749040" y="1477440"/>
            <a:ext cx="502200" cy="502200"/>
          </a:xfrm>
          <a:prstGeom prst="ellipse">
            <a:avLst/>
          </a:prstGeom>
          <a:solidFill>
            <a:schemeClr val="bg1"/>
          </a:solidFill>
          <a:ln w="9525">
            <a:solidFill>
              <a:srgbClr val="DDDAD3"/>
            </a:solidFill>
            <a:round/>
          </a:ln>
          <a:effectLst>
            <a:outerShdw algn="bl" blurRad="1015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pic>
        <p:nvPicPr>
          <p:cNvPr id="135" name="Runs on your computer icon 2" descr="Runs on your computer"/>
          <p:cNvPicPr/>
          <p:nvPr/>
        </p:nvPicPr>
        <p:blipFill>
          <a:blip r:embed="rId6"/>
          <a:stretch/>
        </p:blipFill>
        <p:spPr>
          <a:xfrm>
            <a:off x="3863160" y="1591560"/>
            <a:ext cx="273600" cy="273600"/>
          </a:xfrm>
          <a:prstGeom prst="rect">
            <a:avLst/>
          </a:prstGeom>
          <a:noFill/>
          <a:ln w="0">
            <a:noFill/>
          </a:ln>
        </p:spPr>
      </p:pic>
      <p:sp>
        <p:nvSpPr>
          <p:cNvPr id="136" name="Action zone heading 2"/>
          <p:cNvSpPr/>
          <p:nvPr/>
        </p:nvSpPr>
        <p:spPr>
          <a:xfrm>
            <a:off x="4114800" y="5623560"/>
            <a:ext cx="1370880" cy="6850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chemeClr val="accent6"/>
                </a:solidFill>
                <a:effectLst/>
                <a:uFillTx/>
                <a:latin typeface="Arial"/>
              </a:rPr>
              <a:t>Where the agent acts</a:t>
            </a:r>
            <a:endParaRPr lang="en-GB" sz="1600" b="0" u="none" strike="noStrike">
              <a:solidFill>
                <a:srgbClr val="000000"/>
              </a:solidFill>
              <a:effectLst/>
              <a:uFillTx/>
              <a:latin typeface="Arial"/>
            </a:endParaRPr>
          </a:p>
        </p:txBody>
      </p:sp>
      <p:sp>
        <p:nvSpPr>
          <p:cNvPr id="137" name="Computer 2"/>
          <p:cNvSpPr/>
          <p:nvPr/>
        </p:nvSpPr>
        <p:spPr>
          <a:xfrm>
            <a:off x="6217920" y="3246120"/>
            <a:ext cx="2193840" cy="1736640"/>
          </a:xfrm>
          <a:prstGeom prst="roundRect">
            <a:avLst>
              <a:gd name="adj" fmla="val 4211"/>
            </a:avLst>
          </a:prstGeom>
          <a:solidFill>
            <a:schemeClr val="tx2"/>
          </a:solidFill>
          <a:ln w="0">
            <a:noFill/>
          </a:ln>
          <a:effectLst>
            <a:outerShdw algn="bl" blurRad="1015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sp>
        <p:nvSpPr>
          <p:cNvPr id="138" name="Computer button 1"/>
          <p:cNvSpPr/>
          <p:nvPr/>
        </p:nvSpPr>
        <p:spPr>
          <a:xfrm>
            <a:off x="6355080" y="3364920"/>
            <a:ext cx="90720" cy="90720"/>
          </a:xfrm>
          <a:prstGeom prst="ellipse">
            <a:avLst/>
          </a:prstGeom>
          <a:solidFill>
            <a:srgbClr val="ED6A5E"/>
          </a:solidFill>
          <a:ln w="0">
            <a:noFill/>
          </a:ln>
        </p:spPr>
        <p:style>
          <a:lnRef idx="0"/>
          <a:fillRef idx="0"/>
          <a:effectRef idx="0"/>
          <a:fontRef idx="minor"/>
        </p:style>
        <p:txBody>
          <a:bodyPr lIns="45360" tIns="19440" rIns="45360" bIns="19440" anchor="t">
            <a:noAutofit/>
          </a:bodyPr>
          <a:p>
            <a:endParaRPr lang="en-GB" sz="1800" b="0" u="none" strike="noStrike">
              <a:solidFill>
                <a:srgbClr val="FFFFFF"/>
              </a:solidFill>
              <a:effectLst/>
              <a:uFillTx/>
              <a:latin typeface="Arial"/>
            </a:endParaRPr>
          </a:p>
        </p:txBody>
      </p:sp>
      <p:sp>
        <p:nvSpPr>
          <p:cNvPr id="139" name="Computer button 2"/>
          <p:cNvSpPr/>
          <p:nvPr/>
        </p:nvSpPr>
        <p:spPr>
          <a:xfrm>
            <a:off x="6510600" y="3364920"/>
            <a:ext cx="90720" cy="90720"/>
          </a:xfrm>
          <a:prstGeom prst="ellipse">
            <a:avLst/>
          </a:prstGeom>
          <a:solidFill>
            <a:srgbClr val="F5BF4F"/>
          </a:solidFill>
          <a:ln w="0">
            <a:noFill/>
          </a:ln>
        </p:spPr>
        <p:style>
          <a:lnRef idx="0"/>
          <a:fillRef idx="0"/>
          <a:effectRef idx="0"/>
          <a:fontRef idx="minor"/>
        </p:style>
        <p:txBody>
          <a:bodyPr lIns="45360" tIns="19440" rIns="45360" bIns="19440" anchor="t">
            <a:noAutofit/>
          </a:bodyPr>
          <a:p>
            <a:endParaRPr lang="en-GB" sz="1800" b="0" u="none" strike="noStrike">
              <a:solidFill>
                <a:srgbClr val="000000"/>
              </a:solidFill>
              <a:effectLst/>
              <a:uFillTx/>
              <a:latin typeface="Arial"/>
            </a:endParaRPr>
          </a:p>
        </p:txBody>
      </p:sp>
      <p:sp>
        <p:nvSpPr>
          <p:cNvPr id="140" name="Computer button 3"/>
          <p:cNvSpPr/>
          <p:nvPr/>
        </p:nvSpPr>
        <p:spPr>
          <a:xfrm>
            <a:off x="6666120" y="3364920"/>
            <a:ext cx="90720" cy="90720"/>
          </a:xfrm>
          <a:prstGeom prst="ellipse">
            <a:avLst/>
          </a:prstGeom>
          <a:solidFill>
            <a:srgbClr val="62C554"/>
          </a:solidFill>
          <a:ln w="0">
            <a:noFill/>
          </a:ln>
        </p:spPr>
        <p:style>
          <a:lnRef idx="0"/>
          <a:fillRef idx="0"/>
          <a:effectRef idx="0"/>
          <a:fontRef idx="minor"/>
        </p:style>
        <p:txBody>
          <a:bodyPr lIns="45360" tIns="19440" rIns="45360" bIns="19440" anchor="t">
            <a:noAutofit/>
          </a:bodyPr>
          <a:p>
            <a:endParaRPr lang="en-GB" sz="1800" b="0" u="none" strike="noStrike">
              <a:solidFill>
                <a:srgbClr val="000000"/>
              </a:solidFill>
              <a:effectLst/>
              <a:uFillTx/>
              <a:latin typeface="Arial"/>
            </a:endParaRPr>
          </a:p>
        </p:txBody>
      </p:sp>
      <p:sp>
        <p:nvSpPr>
          <p:cNvPr id="141" name="Computer text 2"/>
          <p:cNvSpPr/>
          <p:nvPr/>
        </p:nvSpPr>
        <p:spPr>
          <a:xfrm>
            <a:off x="6446520" y="3593520"/>
            <a:ext cx="1828080" cy="1553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1" u="none" strike="noStrike">
                <a:solidFill>
                  <a:srgbClr val="7FB8B2"/>
                </a:solidFill>
                <a:effectLst/>
                <a:uFillTx/>
                <a:latin typeface="Courier New"/>
                <a:ea typeface="Courier New"/>
              </a:rPr>
              <a:t>&gt; command</a:t>
            </a:r>
            <a:endParaRPr lang="en-GB" sz="1400" b="0" u="none" strike="noStrike">
              <a:solidFill>
                <a:srgbClr val="000000"/>
              </a:solidFill>
              <a:effectLst/>
              <a:uFillTx/>
              <a:latin typeface="Arial"/>
            </a:endParaRPr>
          </a:p>
          <a:p>
            <a:pPr defTabSz="914400">
              <a:lnSpc>
                <a:spcPct val="100000"/>
              </a:lnSpc>
              <a:tabLst>
                <a:tab pos="0" algn="l"/>
              </a:tabLst>
            </a:pPr>
            <a:r>
              <a:rPr lang="en-US" sz="1400" b="0" u="none" strike="noStrike">
                <a:solidFill>
                  <a:srgbClr val="E9E4DA"/>
                </a:solidFill>
                <a:effectLst/>
                <a:uFillTx/>
                <a:latin typeface="Courier New"/>
                <a:ea typeface="Courier New"/>
              </a:rPr>
              <a:t>output 1</a:t>
            </a:r>
            <a:endParaRPr lang="en-GB" sz="1400" b="0" u="none" strike="noStrike">
              <a:solidFill>
                <a:srgbClr val="000000"/>
              </a:solidFill>
              <a:effectLst/>
              <a:uFillTx/>
              <a:latin typeface="Arial"/>
            </a:endParaRPr>
          </a:p>
          <a:p>
            <a:pPr defTabSz="914400">
              <a:lnSpc>
                <a:spcPct val="100000"/>
              </a:lnSpc>
              <a:tabLst>
                <a:tab pos="0" algn="l"/>
              </a:tabLst>
            </a:pPr>
            <a:r>
              <a:rPr lang="en-US" sz="1400" b="0" u="none" strike="noStrike">
                <a:solidFill>
                  <a:srgbClr val="E9E4DA"/>
                </a:solidFill>
                <a:effectLst/>
                <a:uFillTx/>
                <a:latin typeface="Courier New"/>
                <a:ea typeface="Courier New"/>
              </a:rPr>
              <a:t>output 2</a:t>
            </a:r>
            <a:endParaRPr lang="en-GB" sz="1400" b="0" u="none" strike="noStrike">
              <a:solidFill>
                <a:srgbClr val="000000"/>
              </a:solidFill>
              <a:effectLst/>
              <a:uFillTx/>
              <a:latin typeface="Arial"/>
            </a:endParaRPr>
          </a:p>
          <a:p>
            <a:pPr defTabSz="914400">
              <a:lnSpc>
                <a:spcPct val="100000"/>
              </a:lnSpc>
              <a:tabLst>
                <a:tab pos="0" algn="l"/>
              </a:tabLst>
            </a:pPr>
            <a:r>
              <a:rPr lang="en-US" sz="1400" b="0" u="none" strike="noStrike">
                <a:solidFill>
                  <a:srgbClr val="E9E4DA"/>
                </a:solidFill>
                <a:effectLst/>
                <a:uFillTx/>
                <a:latin typeface="Courier New"/>
                <a:ea typeface="Courier New"/>
              </a:rPr>
              <a:t>output 3</a:t>
            </a:r>
            <a:endParaRPr lang="en-GB" sz="1400" b="0" u="none" strike="noStrike">
              <a:solidFill>
                <a:srgbClr val="000000"/>
              </a:solidFill>
              <a:effectLst/>
              <a:uFillTx/>
              <a:latin typeface="Arial"/>
            </a:endParaRPr>
          </a:p>
          <a:p>
            <a:pPr defTabSz="914400">
              <a:lnSpc>
                <a:spcPct val="100000"/>
              </a:lnSpc>
              <a:tabLst>
                <a:tab pos="0" algn="l"/>
              </a:tabLst>
            </a:pPr>
            <a:r>
              <a:rPr lang="en-US" sz="1400" b="0" u="none" strike="noStrike">
                <a:solidFill>
                  <a:srgbClr val="E9E4DA"/>
                </a:solidFill>
                <a:effectLst/>
                <a:uFillTx/>
                <a:latin typeface="Courier New"/>
                <a:ea typeface="Courier New"/>
              </a:rPr>
              <a:t>...</a:t>
            </a:r>
            <a:endParaRPr lang="en-GB" sz="1400" b="0" u="none" strike="noStrike">
              <a:solidFill>
                <a:srgbClr val="000000"/>
              </a:solidFill>
              <a:effectLst/>
              <a:uFillTx/>
              <a:latin typeface="Arial"/>
            </a:endParaRPr>
          </a:p>
          <a:p>
            <a:pPr defTabSz="914400">
              <a:lnSpc>
                <a:spcPct val="100000"/>
              </a:lnSpc>
              <a:tabLst>
                <a:tab pos="0" algn="l"/>
              </a:tabLst>
            </a:pPr>
            <a:r>
              <a:rPr lang="en-US" sz="1400" b="1" u="none" strike="noStrike">
                <a:solidFill>
                  <a:srgbClr val="7FB8B2"/>
                </a:solidFill>
                <a:effectLst/>
                <a:uFillTx/>
                <a:latin typeface="Courier New"/>
                <a:ea typeface="Courier New"/>
              </a:rPr>
              <a:t>&gt; _</a:t>
            </a:r>
            <a:endParaRPr lang="en-GB" sz="1400" b="0" u="none" strike="noStrike">
              <a:solidFill>
                <a:srgbClr val="000000"/>
              </a:solidFill>
              <a:effectLst/>
              <a:uFillTx/>
              <a:latin typeface="Arial"/>
            </a:endParaRPr>
          </a:p>
        </p:txBody>
      </p:sp>
      <p:sp>
        <p:nvSpPr>
          <p:cNvPr id="142" name="Arrow model to computer 2"/>
          <p:cNvSpPr/>
          <p:nvPr/>
        </p:nvSpPr>
        <p:spPr>
          <a:xfrm>
            <a:off x="2697480" y="3886200"/>
            <a:ext cx="3474720" cy="360"/>
          </a:xfrm>
          <a:prstGeom prst="line">
            <a:avLst/>
          </a:prstGeom>
          <a:ln w="31750">
            <a:solidFill>
              <a:srgbClr val="D9734E"/>
            </a:solidFill>
            <a:round/>
            <a:tailEnd len="med" type="triangle" w="med"/>
          </a:ln>
        </p:spPr>
        <p:style>
          <a:lnRef idx="0"/>
          <a:fillRef idx="0"/>
          <a:effectRef idx="0"/>
          <a:fontRef idx="minor"/>
        </p:style>
        <p:txBody>
          <a:bodyPr lIns="90000" tIns="-44640" rIns="90000" bIns="-44640" anchor="t" anchorCtr="1">
            <a:noAutofit/>
          </a:bodyPr>
          <a:p>
            <a:endParaRPr lang="en-GB" sz="1800" b="0" u="none" strike="noStrike">
              <a:solidFill>
                <a:srgbClr val="000000"/>
              </a:solidFill>
              <a:effectLst/>
              <a:uFillTx/>
              <a:latin typeface="Arial"/>
            </a:endParaRPr>
          </a:p>
        </p:txBody>
      </p:sp>
      <p:sp>
        <p:nvSpPr>
          <p:cNvPr id="143" name="Commands label 2"/>
          <p:cNvSpPr/>
          <p:nvPr/>
        </p:nvSpPr>
        <p:spPr>
          <a:xfrm>
            <a:off x="3611880" y="3493080"/>
            <a:ext cx="246816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1" u="none" strike="noStrike">
                <a:solidFill>
                  <a:schemeClr val="accent6"/>
                </a:solidFill>
                <a:effectLst/>
                <a:uFillTx/>
                <a:latin typeface="Arial"/>
              </a:rPr>
              <a:t>types commands</a:t>
            </a:r>
            <a:endParaRPr lang="en-GB" sz="1300" b="0" u="none" strike="noStrike">
              <a:solidFill>
                <a:srgbClr val="000000"/>
              </a:solidFill>
              <a:effectLst/>
              <a:uFillTx/>
              <a:latin typeface="Arial"/>
            </a:endParaRPr>
          </a:p>
        </p:txBody>
      </p:sp>
      <p:sp>
        <p:nvSpPr>
          <p:cNvPr id="144" name="Arrow computer to model 2"/>
          <p:cNvSpPr/>
          <p:nvPr/>
        </p:nvSpPr>
        <p:spPr>
          <a:xfrm flipH="1">
            <a:off x="2697480" y="4343400"/>
            <a:ext cx="3474720" cy="360"/>
          </a:xfrm>
          <a:prstGeom prst="line">
            <a:avLst/>
          </a:prstGeom>
          <a:ln w="31750">
            <a:solidFill>
              <a:srgbClr val="1F6E6B"/>
            </a:solidFill>
            <a:round/>
            <a:tailEnd len="med" type="triangle" w="med"/>
          </a:ln>
        </p:spPr>
        <p:style>
          <a:lnRef idx="0"/>
          <a:fillRef idx="0"/>
          <a:effectRef idx="0"/>
          <a:fontRef idx="minor"/>
        </p:style>
        <p:txBody>
          <a:bodyPr lIns="90000" tIns="-44640" rIns="90000" bIns="-44640" anchor="t" anchorCtr="1">
            <a:noAutofit/>
          </a:bodyPr>
          <a:p>
            <a:endParaRPr lang="en-GB" sz="1800" b="0" u="none" strike="noStrike">
              <a:solidFill>
                <a:srgbClr val="000000"/>
              </a:solidFill>
              <a:effectLst/>
              <a:uFillTx/>
              <a:latin typeface="Arial"/>
            </a:endParaRPr>
          </a:p>
        </p:txBody>
      </p:sp>
      <p:sp>
        <p:nvSpPr>
          <p:cNvPr id="145" name="Output label 2"/>
          <p:cNvSpPr/>
          <p:nvPr/>
        </p:nvSpPr>
        <p:spPr>
          <a:xfrm>
            <a:off x="3611880" y="4434840"/>
            <a:ext cx="2468160" cy="273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300" b="0" u="none" strike="noStrike">
                <a:solidFill>
                  <a:schemeClr val="accent1"/>
                </a:solidFill>
                <a:effectLst/>
                <a:uFillTx/>
                <a:latin typeface="Arial"/>
              </a:rPr>
              <a:t>reads output</a:t>
            </a:r>
            <a:endParaRPr lang="en-GB" sz="1300" b="0" u="none" strike="noStrike">
              <a:solidFill>
                <a:srgbClr val="000000"/>
              </a:solidFill>
              <a:effectLst/>
              <a:uFillTx/>
              <a:latin typeface="Arial"/>
            </a:endParaRPr>
          </a:p>
        </p:txBody>
      </p:sp>
      <p:sp>
        <p:nvSpPr>
          <p:cNvPr id="146" name="Data card 2"/>
          <p:cNvSpPr/>
          <p:nvPr/>
        </p:nvSpPr>
        <p:spPr>
          <a:xfrm>
            <a:off x="5429160" y="2033280"/>
            <a:ext cx="1425600" cy="639360"/>
          </a:xfrm>
          <a:prstGeom prst="roundRect">
            <a:avLst>
              <a:gd name="adj" fmla="val 14286"/>
            </a:avLst>
          </a:prstGeom>
          <a:solidFill>
            <a:schemeClr val="bg1"/>
          </a:solidFill>
          <a:ln w="9525">
            <a:solidFill>
              <a:srgbClr val="E8BBA8"/>
            </a:solidFill>
            <a:round/>
          </a:ln>
          <a:effectLst>
            <a:outerShdw algn="bl" blurRad="1015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pic>
        <p:nvPicPr>
          <p:cNvPr id="147" name="Data icon 2" descr="preencoded.png"/>
          <p:cNvPicPr/>
          <p:nvPr/>
        </p:nvPicPr>
        <p:blipFill>
          <a:blip r:embed="rId7"/>
          <a:stretch/>
        </p:blipFill>
        <p:spPr>
          <a:xfrm>
            <a:off x="5593680" y="2216160"/>
            <a:ext cx="273600" cy="273600"/>
          </a:xfrm>
          <a:prstGeom prst="rect">
            <a:avLst/>
          </a:prstGeom>
          <a:noFill/>
          <a:ln w="0">
            <a:noFill/>
          </a:ln>
        </p:spPr>
      </p:pic>
      <p:sp>
        <p:nvSpPr>
          <p:cNvPr id="148" name="Data label 2"/>
          <p:cNvSpPr/>
          <p:nvPr/>
        </p:nvSpPr>
        <p:spPr>
          <a:xfrm>
            <a:off x="5959440" y="2170440"/>
            <a:ext cx="83124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chemeClr val="dk1"/>
                </a:solidFill>
                <a:effectLst/>
                <a:uFillTx/>
                <a:latin typeface="Arial"/>
              </a:rPr>
              <a:t>Data</a:t>
            </a:r>
            <a:endParaRPr lang="en-GB" sz="1500" b="0" u="none" strike="noStrike">
              <a:solidFill>
                <a:srgbClr val="000000"/>
              </a:solidFill>
              <a:effectLst/>
              <a:uFillTx/>
              <a:latin typeface="Arial"/>
            </a:endParaRPr>
          </a:p>
        </p:txBody>
      </p:sp>
      <p:sp>
        <p:nvSpPr>
          <p:cNvPr id="149" name="Arrow Data to computer 2"/>
          <p:cNvSpPr/>
          <p:nvPr/>
        </p:nvSpPr>
        <p:spPr>
          <a:xfrm>
            <a:off x="6540480" y="2746440"/>
            <a:ext cx="431640" cy="426240"/>
          </a:xfrm>
          <a:prstGeom prst="line">
            <a:avLst/>
          </a:prstGeom>
          <a:ln w="31750">
            <a:solidFill>
              <a:srgbClr val="1F6E6B"/>
            </a:solidFill>
            <a:round/>
            <a:tailEnd len="med" type="triangle" w="med"/>
          </a:ln>
        </p:spPr>
        <p:style>
          <a:lnRef idx="0"/>
          <a:fillRef idx="0"/>
          <a:effectRef idx="0"/>
          <a:fontRef idx="minor"/>
        </p:style>
        <p:txBody>
          <a:bodyPr lIns="90000" tIns="45000" rIns="90000" bIns="45000" anchor="t" anchorCtr="1">
            <a:noAutofit/>
          </a:bodyPr>
          <a:p>
            <a:endParaRPr lang="en-GB" sz="1800" b="0" u="none" strike="noStrike">
              <a:solidFill>
                <a:srgbClr val="000000"/>
              </a:solidFill>
              <a:effectLst/>
              <a:uFillTx/>
              <a:latin typeface="Arial"/>
            </a:endParaRPr>
          </a:p>
        </p:txBody>
      </p:sp>
      <p:sp>
        <p:nvSpPr>
          <p:cNvPr id="150" name="Skills database 2"/>
          <p:cNvSpPr/>
          <p:nvPr/>
        </p:nvSpPr>
        <p:spPr>
          <a:xfrm>
            <a:off x="7124400" y="1874520"/>
            <a:ext cx="1736640" cy="1023480"/>
          </a:xfrm>
          <a:prstGeom prst="can">
            <a:avLst>
              <a:gd name="adj" fmla="val 25000"/>
            </a:avLst>
          </a:prstGeom>
          <a:solidFill>
            <a:schemeClr val="bg1"/>
          </a:solidFill>
          <a:ln w="9525">
            <a:solidFill>
              <a:srgbClr val="E8BBA8"/>
            </a:solidFill>
            <a:round/>
          </a:ln>
          <a:effectLst>
            <a:outerShdw algn="bl" blurRad="1015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sp>
        <p:nvSpPr>
          <p:cNvPr id="151" name="Skills text 2"/>
          <p:cNvSpPr/>
          <p:nvPr/>
        </p:nvSpPr>
        <p:spPr>
          <a:xfrm>
            <a:off x="7170120" y="2103120"/>
            <a:ext cx="1645200" cy="749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chemeClr val="dk1"/>
                </a:solidFill>
                <a:effectLst/>
                <a:uFillTx/>
                <a:latin typeface="Arial"/>
              </a:rPr>
              <a:t>Skills</a:t>
            </a:r>
            <a:endParaRPr lang="en-GB" sz="1400" b="0" u="none" strike="noStrike">
              <a:solidFill>
                <a:srgbClr val="000000"/>
              </a:solidFill>
              <a:effectLst/>
              <a:uFillTx/>
              <a:latin typeface="Arial"/>
            </a:endParaRPr>
          </a:p>
          <a:p>
            <a:pPr algn="ctr" defTabSz="914400">
              <a:lnSpc>
                <a:spcPct val="100000"/>
              </a:lnSpc>
              <a:tabLst>
                <a:tab pos="0" algn="l"/>
              </a:tabLst>
            </a:pPr>
            <a:r>
              <a:rPr lang="en-US" sz="1100" b="0" u="none" strike="noStrike">
                <a:solidFill>
                  <a:schemeClr val="dk1"/>
                </a:solidFill>
                <a:effectLst/>
                <a:uFillTx/>
                <a:latin typeface="Arial"/>
              </a:rPr>
              <a:t>Survival analysis</a:t>
            </a:r>
            <a:endParaRPr lang="en-GB" sz="1100" b="0" u="none" strike="noStrike">
              <a:solidFill>
                <a:srgbClr val="000000"/>
              </a:solidFill>
              <a:effectLst/>
              <a:uFillTx/>
              <a:latin typeface="Arial"/>
            </a:endParaRPr>
          </a:p>
          <a:p>
            <a:pPr algn="ctr" defTabSz="914400">
              <a:lnSpc>
                <a:spcPct val="100000"/>
              </a:lnSpc>
              <a:tabLst>
                <a:tab pos="0" algn="l"/>
              </a:tabLst>
            </a:pPr>
            <a:r>
              <a:rPr lang="en-US" sz="1100" b="0" u="none" strike="noStrike">
                <a:solidFill>
                  <a:schemeClr val="dk1"/>
                </a:solidFill>
                <a:effectLst/>
                <a:uFillTx/>
                <a:latin typeface="Arial"/>
              </a:rPr>
              <a:t>Journal figure style</a:t>
            </a:r>
            <a:endParaRPr lang="en-GB" sz="1100" b="0" u="none" strike="noStrike">
              <a:solidFill>
                <a:srgbClr val="000000"/>
              </a:solidFill>
              <a:effectLst/>
              <a:uFillTx/>
              <a:latin typeface="Arial"/>
            </a:endParaRPr>
          </a:p>
          <a:p>
            <a:pPr algn="ctr" defTabSz="914400">
              <a:lnSpc>
                <a:spcPct val="100000"/>
              </a:lnSpc>
              <a:tabLst>
                <a:tab pos="0" algn="l"/>
              </a:tabLst>
            </a:pPr>
            <a:r>
              <a:rPr lang="en-US" sz="1100" b="0" u="none" strike="noStrike">
                <a:solidFill>
                  <a:schemeClr val="dk1"/>
                </a:solidFill>
                <a:effectLst/>
                <a:uFillTx/>
                <a:latin typeface="Arial"/>
              </a:rPr>
              <a:t>Making slides</a:t>
            </a:r>
            <a:endParaRPr lang="en-GB" sz="1100" b="0" u="none" strike="noStrike">
              <a:solidFill>
                <a:srgbClr val="000000"/>
              </a:solidFill>
              <a:effectLst/>
              <a:uFillTx/>
              <a:latin typeface="Arial"/>
            </a:endParaRPr>
          </a:p>
        </p:txBody>
      </p:sp>
      <p:sp>
        <p:nvSpPr>
          <p:cNvPr id="152" name="Arrow Skills to computer 2"/>
          <p:cNvSpPr/>
          <p:nvPr/>
        </p:nvSpPr>
        <p:spPr>
          <a:xfrm flipH="1">
            <a:off x="7504920" y="2926080"/>
            <a:ext cx="144720" cy="246600"/>
          </a:xfrm>
          <a:prstGeom prst="line">
            <a:avLst/>
          </a:prstGeom>
          <a:ln w="31750">
            <a:solidFill>
              <a:srgbClr val="1F6E6B"/>
            </a:solidFill>
            <a:round/>
            <a:tailEnd len="med" type="triangle" w="med"/>
          </a:ln>
        </p:spPr>
        <p:style>
          <a:lnRef idx="0"/>
          <a:fillRef idx="0"/>
          <a:effectRef idx="0"/>
          <a:fontRef idx="minor"/>
        </p:style>
        <p:txBody>
          <a:bodyPr lIns="72360" tIns="45000" rIns="72360" bIns="45000" anchor="t" anchorCtr="1">
            <a:noAutofit/>
          </a:bodyPr>
          <a:p>
            <a:endParaRPr lang="en-GB" sz="1800" b="0" u="none" strike="noStrike">
              <a:solidFill>
                <a:srgbClr val="000000"/>
              </a:solidFill>
              <a:effectLst/>
              <a:uFillTx/>
              <a:latin typeface="Arial"/>
            </a:endParaRPr>
          </a:p>
        </p:txBody>
      </p:sp>
      <p:sp>
        <p:nvSpPr>
          <p:cNvPr id="153" name="Web card 2"/>
          <p:cNvSpPr/>
          <p:nvPr/>
        </p:nvSpPr>
        <p:spPr>
          <a:xfrm>
            <a:off x="8936280" y="2421720"/>
            <a:ext cx="1425600" cy="639360"/>
          </a:xfrm>
          <a:prstGeom prst="roundRect">
            <a:avLst>
              <a:gd name="adj" fmla="val 14286"/>
            </a:avLst>
          </a:prstGeom>
          <a:solidFill>
            <a:schemeClr val="bg1"/>
          </a:solidFill>
          <a:ln w="9525">
            <a:solidFill>
              <a:srgbClr val="E8BBA8"/>
            </a:solidFill>
            <a:round/>
          </a:ln>
          <a:effectLst>
            <a:outerShdw algn="bl" blurRad="1015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pic>
        <p:nvPicPr>
          <p:cNvPr id="154" name="Web icon 2" descr="preencoded.png"/>
          <p:cNvPicPr/>
          <p:nvPr/>
        </p:nvPicPr>
        <p:blipFill>
          <a:blip r:embed="rId8"/>
          <a:stretch/>
        </p:blipFill>
        <p:spPr>
          <a:xfrm>
            <a:off x="9100800" y="2604600"/>
            <a:ext cx="273600" cy="273600"/>
          </a:xfrm>
          <a:prstGeom prst="rect">
            <a:avLst/>
          </a:prstGeom>
          <a:noFill/>
          <a:ln w="0">
            <a:noFill/>
          </a:ln>
        </p:spPr>
      </p:pic>
      <p:sp>
        <p:nvSpPr>
          <p:cNvPr id="155" name="Web label 2"/>
          <p:cNvSpPr/>
          <p:nvPr/>
        </p:nvSpPr>
        <p:spPr>
          <a:xfrm>
            <a:off x="9466560" y="2558880"/>
            <a:ext cx="83124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chemeClr val="dk1"/>
                </a:solidFill>
                <a:effectLst/>
                <a:uFillTx/>
                <a:latin typeface="Arial"/>
              </a:rPr>
              <a:t>Web</a:t>
            </a:r>
            <a:endParaRPr lang="en-GB" sz="1500" b="0" u="none" strike="noStrike">
              <a:solidFill>
                <a:srgbClr val="000000"/>
              </a:solidFill>
              <a:effectLst/>
              <a:uFillTx/>
              <a:latin typeface="Arial"/>
            </a:endParaRPr>
          </a:p>
        </p:txBody>
      </p:sp>
      <p:sp>
        <p:nvSpPr>
          <p:cNvPr id="156" name="Arrow Web to computer 2"/>
          <p:cNvSpPr/>
          <p:nvPr/>
        </p:nvSpPr>
        <p:spPr>
          <a:xfrm flipH="1">
            <a:off x="8190360" y="2973960"/>
            <a:ext cx="672480" cy="198720"/>
          </a:xfrm>
          <a:prstGeom prst="line">
            <a:avLst/>
          </a:prstGeom>
          <a:ln w="31750">
            <a:solidFill>
              <a:srgbClr val="1F6E6B"/>
            </a:solidFill>
            <a:round/>
            <a:tailEnd len="med" type="triangle" w="med"/>
          </a:ln>
        </p:spPr>
        <p:style>
          <a:lnRef idx="0"/>
          <a:fillRef idx="0"/>
          <a:effectRef idx="0"/>
          <a:fontRef idx="minor"/>
        </p:style>
        <p:txBody>
          <a:bodyPr lIns="90000" tIns="45000" rIns="90000" bIns="45000" anchor="t" anchorCtr="1">
            <a:noAutofit/>
          </a:bodyPr>
          <a:p>
            <a:endParaRPr lang="en-GB" sz="1800" b="0" u="none" strike="noStrike">
              <a:solidFill>
                <a:srgbClr val="000000"/>
              </a:solidFill>
              <a:effectLst/>
              <a:uFillTx/>
              <a:latin typeface="Arial"/>
            </a:endParaRPr>
          </a:p>
        </p:txBody>
      </p:sp>
      <p:sp>
        <p:nvSpPr>
          <p:cNvPr id="157" name="Plan card 2"/>
          <p:cNvSpPr/>
          <p:nvPr/>
        </p:nvSpPr>
        <p:spPr>
          <a:xfrm>
            <a:off x="9902880" y="3287520"/>
            <a:ext cx="1425600" cy="639360"/>
          </a:xfrm>
          <a:prstGeom prst="roundRect">
            <a:avLst>
              <a:gd name="adj" fmla="val 14286"/>
            </a:avLst>
          </a:prstGeom>
          <a:solidFill>
            <a:schemeClr val="bg1"/>
          </a:solidFill>
          <a:ln w="9525">
            <a:solidFill>
              <a:srgbClr val="DDDAD3"/>
            </a:solidFill>
            <a:round/>
          </a:ln>
          <a:effectLst>
            <a:outerShdw algn="bl" blurRad="1015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pic>
        <p:nvPicPr>
          <p:cNvPr id="158" name="Plan icon 2" descr="preencoded.png"/>
          <p:cNvPicPr/>
          <p:nvPr/>
        </p:nvPicPr>
        <p:blipFill>
          <a:blip r:embed="rId9"/>
          <a:stretch/>
        </p:blipFill>
        <p:spPr>
          <a:xfrm>
            <a:off x="10067760" y="3470400"/>
            <a:ext cx="273600" cy="273600"/>
          </a:xfrm>
          <a:prstGeom prst="rect">
            <a:avLst/>
          </a:prstGeom>
          <a:noFill/>
          <a:ln w="0">
            <a:noFill/>
          </a:ln>
        </p:spPr>
      </p:pic>
      <p:sp>
        <p:nvSpPr>
          <p:cNvPr id="159" name="Plan label 2"/>
          <p:cNvSpPr/>
          <p:nvPr/>
        </p:nvSpPr>
        <p:spPr>
          <a:xfrm>
            <a:off x="10433520" y="3424680"/>
            <a:ext cx="83124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chemeClr val="dk1"/>
                </a:solidFill>
                <a:effectLst/>
                <a:uFillTx/>
                <a:latin typeface="Arial"/>
              </a:rPr>
              <a:t>Plan</a:t>
            </a:r>
            <a:endParaRPr lang="en-GB" sz="1500" b="0" u="none" strike="noStrike">
              <a:solidFill>
                <a:srgbClr val="000000"/>
              </a:solidFill>
              <a:effectLst/>
              <a:uFillTx/>
              <a:latin typeface="Arial"/>
            </a:endParaRPr>
          </a:p>
        </p:txBody>
      </p:sp>
      <p:sp>
        <p:nvSpPr>
          <p:cNvPr id="160" name="Arrow computer to Plan 2"/>
          <p:cNvSpPr/>
          <p:nvPr/>
        </p:nvSpPr>
        <p:spPr>
          <a:xfrm flipV="1">
            <a:off x="8493840" y="3773520"/>
            <a:ext cx="1344240" cy="112320"/>
          </a:xfrm>
          <a:prstGeom prst="line">
            <a:avLst/>
          </a:prstGeom>
          <a:ln w="31750">
            <a:solidFill>
              <a:srgbClr val="D9734E"/>
            </a:solidFill>
            <a:round/>
            <a:tailEnd len="med" type="triangle" w="med"/>
          </a:ln>
        </p:spPr>
        <p:style>
          <a:lnRef idx="0"/>
          <a:fillRef idx="0"/>
          <a:effectRef idx="0"/>
          <a:fontRef idx="minor"/>
        </p:style>
        <p:txBody>
          <a:bodyPr lIns="90000" tIns="45000" rIns="90000" bIns="45000" anchor="t" anchorCtr="1">
            <a:noAutofit/>
          </a:bodyPr>
          <a:p>
            <a:endParaRPr lang="en-GB" sz="1800" b="0" u="none" strike="noStrike">
              <a:solidFill>
                <a:srgbClr val="000000"/>
              </a:solidFill>
              <a:effectLst/>
              <a:uFillTx/>
              <a:latin typeface="Arial"/>
            </a:endParaRPr>
          </a:p>
        </p:txBody>
      </p:sp>
      <p:sp>
        <p:nvSpPr>
          <p:cNvPr id="161" name="Arrow Plan to computer 2"/>
          <p:cNvSpPr/>
          <p:nvPr/>
        </p:nvSpPr>
        <p:spPr>
          <a:xfrm flipH="1">
            <a:off x="8476920" y="3573000"/>
            <a:ext cx="1344240" cy="112320"/>
          </a:xfrm>
          <a:prstGeom prst="line">
            <a:avLst/>
          </a:prstGeom>
          <a:ln w="31750">
            <a:solidFill>
              <a:srgbClr val="1F6E6B"/>
            </a:solidFill>
            <a:round/>
            <a:tailEnd len="med" type="triangle" w="med"/>
          </a:ln>
        </p:spPr>
        <p:style>
          <a:lnRef idx="0"/>
          <a:fillRef idx="0"/>
          <a:effectRef idx="0"/>
          <a:fontRef idx="minor"/>
        </p:style>
        <p:txBody>
          <a:bodyPr lIns="90000" tIns="45000" rIns="90000" bIns="45000" anchor="t" anchorCtr="1">
            <a:noAutofit/>
          </a:bodyPr>
          <a:p>
            <a:endParaRPr lang="en-GB" sz="1800" b="0" u="none" strike="noStrike">
              <a:solidFill>
                <a:srgbClr val="000000"/>
              </a:solidFill>
              <a:effectLst/>
              <a:uFillTx/>
              <a:latin typeface="Arial"/>
            </a:endParaRPr>
          </a:p>
        </p:txBody>
      </p:sp>
      <p:sp>
        <p:nvSpPr>
          <p:cNvPr id="162" name="Code card 2"/>
          <p:cNvSpPr/>
          <p:nvPr/>
        </p:nvSpPr>
        <p:spPr>
          <a:xfrm>
            <a:off x="9902880" y="4302000"/>
            <a:ext cx="1425600" cy="639360"/>
          </a:xfrm>
          <a:prstGeom prst="roundRect">
            <a:avLst>
              <a:gd name="adj" fmla="val 14286"/>
            </a:avLst>
          </a:prstGeom>
          <a:solidFill>
            <a:schemeClr val="bg1"/>
          </a:solidFill>
          <a:ln w="9525">
            <a:solidFill>
              <a:srgbClr val="DDDAD3"/>
            </a:solidFill>
            <a:round/>
          </a:ln>
          <a:effectLst>
            <a:outerShdw algn="bl" blurRad="1015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GB" sz="1800" b="0" u="none" strike="noStrike">
              <a:solidFill>
                <a:srgbClr val="000000"/>
              </a:solidFill>
              <a:effectLst/>
              <a:uFillTx/>
              <a:latin typeface="Arial"/>
            </a:endParaRPr>
          </a:p>
        </p:txBody>
      </p:sp>
      <p:pic>
        <p:nvPicPr>
          <p:cNvPr id="163" name="Code icon 2" descr="preencoded.png"/>
          <p:cNvPicPr/>
          <p:nvPr/>
        </p:nvPicPr>
        <p:blipFill>
          <a:blip r:embed="rId10"/>
          <a:stretch/>
        </p:blipFill>
        <p:spPr>
          <a:xfrm>
            <a:off x="10067760" y="4484880"/>
            <a:ext cx="273600" cy="273600"/>
          </a:xfrm>
          <a:prstGeom prst="rect">
            <a:avLst/>
          </a:prstGeom>
          <a:noFill/>
          <a:ln w="0">
            <a:noFill/>
          </a:ln>
        </p:spPr>
      </p:pic>
      <p:sp>
        <p:nvSpPr>
          <p:cNvPr id="164" name="Code label 2"/>
          <p:cNvSpPr/>
          <p:nvPr/>
        </p:nvSpPr>
        <p:spPr>
          <a:xfrm>
            <a:off x="10433520" y="4439160"/>
            <a:ext cx="83124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chemeClr val="dk1"/>
                </a:solidFill>
                <a:effectLst/>
                <a:uFillTx/>
                <a:latin typeface="Arial"/>
              </a:rPr>
              <a:t>Code</a:t>
            </a:r>
            <a:endParaRPr lang="en-GB" sz="1500" b="0" u="none" strike="noStrike">
              <a:solidFill>
                <a:srgbClr val="000000"/>
              </a:solidFill>
              <a:effectLst/>
              <a:uFillTx/>
              <a:latin typeface="Arial"/>
            </a:endParaRPr>
          </a:p>
        </p:txBody>
      </p:sp>
      <p:sp>
        <p:nvSpPr>
          <p:cNvPr id="165" name="Arrow computer to Code 2"/>
          <p:cNvSpPr/>
          <p:nvPr/>
        </p:nvSpPr>
        <p:spPr>
          <a:xfrm>
            <a:off x="8476920" y="4543920"/>
            <a:ext cx="1344240" cy="112320"/>
          </a:xfrm>
          <a:prstGeom prst="line">
            <a:avLst/>
          </a:prstGeom>
          <a:ln w="31750">
            <a:solidFill>
              <a:srgbClr val="D9734E"/>
            </a:solidFill>
            <a:round/>
            <a:tailEnd len="med" type="triangle" w="med"/>
          </a:ln>
        </p:spPr>
        <p:style>
          <a:lnRef idx="0"/>
          <a:fillRef idx="0"/>
          <a:effectRef idx="0"/>
          <a:fontRef idx="minor"/>
        </p:style>
        <p:txBody>
          <a:bodyPr lIns="90000" tIns="45000" rIns="90000" bIns="45000" anchor="t" anchorCtr="1">
            <a:noAutofit/>
          </a:bodyPr>
          <a:p>
            <a:endParaRPr lang="en-GB" sz="1800" b="0" u="none" strike="noStrike">
              <a:solidFill>
                <a:srgbClr val="000000"/>
              </a:solidFill>
              <a:effectLst/>
              <a:uFillTx/>
              <a:latin typeface="Arial"/>
            </a:endParaRPr>
          </a:p>
        </p:txBody>
      </p:sp>
      <p:sp>
        <p:nvSpPr>
          <p:cNvPr id="166" name="Arrow Code to computer 2"/>
          <p:cNvSpPr/>
          <p:nvPr/>
        </p:nvSpPr>
        <p:spPr>
          <a:xfrm flipH="1" flipV="1">
            <a:off x="8493840" y="4343400"/>
            <a:ext cx="1344240" cy="112320"/>
          </a:xfrm>
          <a:prstGeom prst="line">
            <a:avLst/>
          </a:prstGeom>
          <a:ln w="31750">
            <a:solidFill>
              <a:srgbClr val="1F6E6B"/>
            </a:solidFill>
            <a:round/>
            <a:tailEnd len="med" type="triangle" w="med"/>
          </a:ln>
        </p:spPr>
        <p:style>
          <a:lnRef idx="0"/>
          <a:fillRef idx="0"/>
          <a:effectRef idx="0"/>
          <a:fontRef idx="minor"/>
        </p:style>
        <p:txBody>
          <a:bodyPr lIns="90000" tIns="45000" rIns="90000" bIns="45000" anchor="t" anchorCtr="1">
            <a:noAutofit/>
          </a:bodyPr>
          <a:p>
            <a:endParaRPr lang="en-GB" sz="1800" b="0" u="none" strike="noStrike">
              <a:solidFill>
                <a:srgbClr val="000000"/>
              </a:solidFill>
              <a:effectLst/>
              <a:uFillTx/>
              <a:latin typeface="Arial"/>
            </a:endParaRPr>
          </a:p>
        </p:txBody>
      </p:sp>
      <p:sp>
        <p:nvSpPr>
          <p:cNvPr id="167" name="Program card 2"/>
          <p:cNvSpPr/>
          <p:nvPr/>
        </p:nvSpPr>
        <p:spPr>
          <a:xfrm>
            <a:off x="8164080" y="5556240"/>
            <a:ext cx="1425600" cy="639360"/>
          </a:xfrm>
          <a:prstGeom prst="roundRect">
            <a:avLst>
              <a:gd name="adj" fmla="val 14286"/>
            </a:avLst>
          </a:prstGeom>
          <a:solidFill>
            <a:schemeClr val="accent1"/>
          </a:solidFill>
          <a:ln w="0">
            <a:noFill/>
          </a:ln>
          <a:effectLst>
            <a:outerShdw algn="bl" blurRad="1015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pic>
        <p:nvPicPr>
          <p:cNvPr id="168" name="Program icon 2" descr="preencoded.png"/>
          <p:cNvPicPr/>
          <p:nvPr/>
        </p:nvPicPr>
        <p:blipFill>
          <a:blip r:embed="rId11"/>
          <a:stretch/>
        </p:blipFill>
        <p:spPr>
          <a:xfrm>
            <a:off x="8328600" y="5739120"/>
            <a:ext cx="273600" cy="273600"/>
          </a:xfrm>
          <a:prstGeom prst="rect">
            <a:avLst/>
          </a:prstGeom>
          <a:noFill/>
          <a:ln w="0">
            <a:noFill/>
          </a:ln>
        </p:spPr>
      </p:pic>
      <p:sp>
        <p:nvSpPr>
          <p:cNvPr id="169" name="Program label 2"/>
          <p:cNvSpPr/>
          <p:nvPr/>
        </p:nvSpPr>
        <p:spPr>
          <a:xfrm>
            <a:off x="8694360" y="5693400"/>
            <a:ext cx="83124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chemeClr val="lt1"/>
                </a:solidFill>
                <a:effectLst/>
                <a:uFillTx/>
                <a:latin typeface="Arial"/>
              </a:rPr>
              <a:t>Program</a:t>
            </a:r>
            <a:endParaRPr lang="en-GB" sz="1500" b="0" u="none" strike="noStrike">
              <a:solidFill>
                <a:srgbClr val="000000"/>
              </a:solidFill>
              <a:effectLst/>
              <a:uFillTx/>
              <a:latin typeface="Arial"/>
            </a:endParaRPr>
          </a:p>
        </p:txBody>
      </p:sp>
      <p:sp>
        <p:nvSpPr>
          <p:cNvPr id="170" name="Arrow Program runs 2"/>
          <p:cNvSpPr/>
          <p:nvPr/>
        </p:nvSpPr>
        <p:spPr>
          <a:xfrm flipH="1" flipV="1">
            <a:off x="7560000" y="5076000"/>
            <a:ext cx="561960" cy="426600"/>
          </a:xfrm>
          <a:prstGeom prst="line">
            <a:avLst/>
          </a:prstGeom>
          <a:ln w="63500">
            <a:solidFill>
              <a:srgbClr val="D9734E"/>
            </a:solidFill>
            <a:round/>
            <a:tailEnd len="med" type="triangle" w="med"/>
          </a:ln>
        </p:spPr>
        <p:style>
          <a:lnRef idx="0"/>
          <a:fillRef idx="0"/>
          <a:effectRef idx="0"/>
          <a:fontRef idx="minor"/>
        </p:style>
        <p:txBody>
          <a:bodyPr lIns="90000" tIns="45000" rIns="90000" bIns="45000" anchor="t" anchorCtr="1">
            <a:noAutofit/>
          </a:bodyPr>
          <a:p>
            <a:endParaRPr lang="en-GB" sz="1800" b="0" u="none" strike="noStrike">
              <a:solidFill>
                <a:srgbClr val="000000"/>
              </a:solidFill>
              <a:effectLst/>
              <a:uFillTx/>
              <a:latin typeface="Arial"/>
            </a:endParaRPr>
          </a:p>
        </p:txBody>
      </p:sp>
      <p:sp>
        <p:nvSpPr>
          <p:cNvPr id="171" name="Tools card 2"/>
          <p:cNvSpPr/>
          <p:nvPr/>
        </p:nvSpPr>
        <p:spPr>
          <a:xfrm>
            <a:off x="5429160" y="5556240"/>
            <a:ext cx="1425600" cy="639360"/>
          </a:xfrm>
          <a:prstGeom prst="roundRect">
            <a:avLst>
              <a:gd name="adj" fmla="val 14286"/>
            </a:avLst>
          </a:prstGeom>
          <a:solidFill>
            <a:schemeClr val="accent1"/>
          </a:solidFill>
          <a:ln w="0">
            <a:noFill/>
          </a:ln>
          <a:effectLst>
            <a:outerShdw algn="bl" blurRad="101520" dir="5400000" dist="25560" kx="0" ky="0" rotWithShape="0" sx="100000" sy="100000">
              <a:srgbClr val="000000">
                <a:alpha val="12000"/>
              </a:srgbClr>
            </a:outerShdw>
          </a:effectLst>
        </p:spPr>
        <p:style>
          <a:lnRef idx="0"/>
          <a:fillRef idx="0"/>
          <a:effectRef idx="0"/>
          <a:fontRef idx="minor"/>
        </p:style>
        <p:txBody>
          <a:bodyPr lIns="90000" tIns="45000" rIns="90000" bIns="45000" anchor="t">
            <a:noAutofit/>
          </a:bodyPr>
          <a:p>
            <a:endParaRPr lang="en-GB" sz="1800" b="0" u="none" strike="noStrike">
              <a:solidFill>
                <a:srgbClr val="FFFFFF"/>
              </a:solidFill>
              <a:effectLst/>
              <a:uFillTx/>
              <a:latin typeface="Arial"/>
            </a:endParaRPr>
          </a:p>
        </p:txBody>
      </p:sp>
      <p:pic>
        <p:nvPicPr>
          <p:cNvPr id="172" name="Tools icon 2" descr="preencoded.png"/>
          <p:cNvPicPr/>
          <p:nvPr/>
        </p:nvPicPr>
        <p:blipFill>
          <a:blip r:embed="rId12"/>
          <a:stretch/>
        </p:blipFill>
        <p:spPr>
          <a:xfrm>
            <a:off x="5593680" y="5739120"/>
            <a:ext cx="273600" cy="273600"/>
          </a:xfrm>
          <a:prstGeom prst="rect">
            <a:avLst/>
          </a:prstGeom>
          <a:noFill/>
          <a:ln w="0">
            <a:noFill/>
          </a:ln>
        </p:spPr>
      </p:pic>
      <p:sp>
        <p:nvSpPr>
          <p:cNvPr id="173" name="Tools label 2"/>
          <p:cNvSpPr/>
          <p:nvPr/>
        </p:nvSpPr>
        <p:spPr>
          <a:xfrm>
            <a:off x="5959440" y="5693400"/>
            <a:ext cx="83124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chemeClr val="lt1"/>
                </a:solidFill>
                <a:effectLst/>
                <a:uFillTx/>
                <a:latin typeface="Arial"/>
              </a:rPr>
              <a:t>Tools</a:t>
            </a:r>
            <a:endParaRPr lang="en-GB" sz="1500" b="0" u="none" strike="noStrike">
              <a:solidFill>
                <a:srgbClr val="000000"/>
              </a:solidFill>
              <a:effectLst/>
              <a:uFillTx/>
              <a:latin typeface="Arial"/>
            </a:endParaRPr>
          </a:p>
        </p:txBody>
      </p:sp>
      <p:sp>
        <p:nvSpPr>
          <p:cNvPr id="174" name="Arrow Tools runs 2"/>
          <p:cNvSpPr/>
          <p:nvPr/>
        </p:nvSpPr>
        <p:spPr>
          <a:xfrm flipV="1">
            <a:off x="6840000" y="5056560"/>
            <a:ext cx="431640" cy="426240"/>
          </a:xfrm>
          <a:prstGeom prst="line">
            <a:avLst/>
          </a:prstGeom>
          <a:ln w="63500">
            <a:solidFill>
              <a:srgbClr val="D9734E"/>
            </a:solidFill>
            <a:round/>
            <a:tailEnd len="med" type="triangle" w="med"/>
          </a:ln>
        </p:spPr>
        <p:style>
          <a:lnRef idx="0"/>
          <a:fillRef idx="0"/>
          <a:effectRef idx="0"/>
          <a:fontRef idx="minor"/>
        </p:style>
        <p:txBody>
          <a:bodyPr lIns="90000" tIns="45000" rIns="90000" bIns="45000" anchor="t" anchorCtr="1">
            <a:noAutofit/>
          </a:bodyPr>
          <a:p>
            <a:endParaRPr lang="en-GB" sz="1800" b="0" u="none" strike="noStrike">
              <a:solidFill>
                <a:srgbClr val="000000"/>
              </a:solidFill>
              <a:effectLst/>
              <a:uFillTx/>
              <a:latin typeface="Arial"/>
            </a:endParaRPr>
          </a:p>
        </p:txBody>
      </p:sp>
      <p:sp>
        <p:nvSpPr>
          <p:cNvPr id="175" name="Arrow code to program 2"/>
          <p:cNvSpPr/>
          <p:nvPr/>
        </p:nvSpPr>
        <p:spPr>
          <a:xfrm flipH="1">
            <a:off x="9540000" y="5015160"/>
            <a:ext cx="531000" cy="467640"/>
          </a:xfrm>
          <a:prstGeom prst="line">
            <a:avLst/>
          </a:prstGeom>
          <a:ln w="31750">
            <a:solidFill>
              <a:srgbClr val="222222"/>
            </a:solidFill>
            <a:round/>
            <a:tailEnd len="med" type="triangle" w="med"/>
          </a:ln>
        </p:spPr>
        <p:style>
          <a:lnRef idx="0"/>
          <a:fillRef idx="0"/>
          <a:effectRef idx="0"/>
          <a:fontRef idx="minor"/>
        </p:style>
        <p:txBody>
          <a:bodyPr lIns="90000" tIns="45000" rIns="90000" bIns="45000" anchor="t" anchorCtr="1">
            <a:noAutofit/>
          </a:bodyPr>
          <a:p>
            <a:endParaRPr lang="en-GB" sz="1800" b="0" u="none" strike="noStrike">
              <a:solidFill>
                <a:srgbClr val="000000"/>
              </a:solidFill>
              <a:effectLst/>
              <a:uFillTx/>
              <a:latin typeface="Arial"/>
            </a:endParaRPr>
          </a:p>
        </p:txBody>
      </p:sp>
      <p:sp>
        <p:nvSpPr>
          <p:cNvPr id="176" name="PlaceHolder 3"/>
          <p:cNvSpPr>
            <a:spLocks noGrp="1"/>
          </p:cNvSpPr>
          <p:nvPr>
            <p:ph type="sldNum" idx="8"/>
          </p:nvPr>
        </p:nvSpPr>
        <p:spPr>
          <a:xfrm>
            <a:off x="11338560" y="6400800"/>
            <a:ext cx="456480" cy="27360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000" b="0" u="none" strike="noStrike">
                <a:solidFill>
                  <a:schemeClr val="accent4"/>
                </a:solidFill>
                <a:effectLst/>
                <a:uFillTx/>
                <a:latin typeface="Arial"/>
              </a:defRPr>
            </a:lvl1pPr>
          </a:lstStyle>
          <a:p>
            <a:pPr indent="0" algn="r" defTabSz="914400">
              <a:lnSpc>
                <a:spcPct val="100000"/>
              </a:lnSpc>
              <a:buNone/>
              <a:tabLst>
                <a:tab pos="0" algn="l"/>
              </a:tabLst>
            </a:pPr>
            <a:fld id="{CC53EADB-CAD7-4A92-AD92-7D6B033D7A57}" type="slidenum">
              <a:rPr lang="en-US" sz="1000" b="0" u="none" strike="noStrike">
                <a:solidFill>
                  <a:schemeClr val="accent4"/>
                </a:solidFill>
                <a:effectLst/>
                <a:uFillTx/>
                <a:latin typeface="Arial"/>
              </a:rPr>
              <a:t>&lt;number&gt;</a:t>
            </a:fld>
            <a:endParaRPr lang="en-GB" sz="10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PlaceHolder 1"/>
          <p:cNvSpPr>
            <a:spLocks noGrp="1"/>
          </p:cNvSpPr>
          <p:nvPr>
            <p:ph type="title"/>
          </p:nvPr>
        </p:nvSpPr>
        <p:spPr>
          <a:xfrm>
            <a:off x="548640" y="365760"/>
            <a:ext cx="11063880" cy="685440"/>
          </a:xfrm>
          <a:prstGeom prst="rect">
            <a:avLst/>
          </a:prstGeom>
          <a:noFill/>
          <a:ln w="0">
            <a:noFill/>
          </a:ln>
        </p:spPr>
        <p:txBody>
          <a:bodyPr lIns="0" tIns="0" rIns="0" bIns="0" anchor="ctr">
            <a:noAutofit/>
          </a:bodyPr>
          <a:p>
            <a:pPr indent="0" algn="l">
              <a:lnSpc>
                <a:spcPct val="100000"/>
              </a:lnSpc>
              <a:buNone/>
              <a:tabLst>
                <a:tab pos="0" algn="l"/>
              </a:tabLst>
            </a:pPr>
            <a:r>
              <a:rPr lang="en-GB" sz="3400" b="1" u="none" strike="noStrike">
                <a:solidFill>
                  <a:schemeClr val="dk1"/>
                </a:solidFill>
                <a:effectLst/>
                <a:uFillTx/>
                <a:latin typeface="Arial"/>
              </a:rPr>
              <a:t>Strengths and pitfalls</a:t>
            </a:r>
            <a:endParaRPr lang="en-GB" sz="3400" b="0" u="none" strike="noStrike">
              <a:solidFill>
                <a:schemeClr val="dk1"/>
              </a:solidFill>
              <a:effectLst/>
              <a:uFillTx/>
              <a:latin typeface="Arial"/>
            </a:endParaRPr>
          </a:p>
        </p:txBody>
      </p:sp>
      <p:sp>
        <p:nvSpPr>
          <p:cNvPr id="178" name="Strengths card"/>
          <p:cNvSpPr/>
          <p:nvPr/>
        </p:nvSpPr>
        <p:spPr>
          <a:xfrm>
            <a:off x="548640" y="1691640"/>
            <a:ext cx="5348880" cy="4297320"/>
          </a:xfrm>
          <a:prstGeom prst="roundRect">
            <a:avLst>
              <a:gd name="adj" fmla="val 4000"/>
            </a:avLst>
          </a:prstGeom>
          <a:solidFill>
            <a:srgbClr val="FFFFFF"/>
          </a:solidFill>
          <a:ln w="0">
            <a:noFill/>
          </a:ln>
          <a:effectLst>
            <a:outerShdw algn="t" blurRad="101520" dir="5400000" dist="25560" rotWithShape="0">
              <a:srgbClr val="000000">
                <a:alpha val="12000"/>
              </a:srgbClr>
            </a:outerShdw>
          </a:effectLst>
        </p:spPr>
        <p:style>
          <a:lnRef idx="0"/>
          <a:fillRef idx="0"/>
          <a:effectRef idx="0"/>
          <a:fontRef idx="minor"/>
        </p:style>
        <p:txBody>
          <a:bodyPr lIns="0" tIns="0" rIns="0" bIns="0" anchor="ctr">
            <a:noAutofit/>
          </a:bodyPr>
          <a:p>
            <a:endParaRPr lang="en-GB" sz="1800" b="0" u="none" strike="noStrike">
              <a:solidFill>
                <a:srgbClr val="000000"/>
              </a:solidFill>
              <a:effectLst/>
              <a:uFillTx/>
              <a:latin typeface="Arial"/>
            </a:endParaRPr>
          </a:p>
        </p:txBody>
      </p:sp>
      <p:sp>
        <p:nvSpPr>
          <p:cNvPr id="179" name="Strengths heading"/>
          <p:cNvSpPr/>
          <p:nvPr/>
        </p:nvSpPr>
        <p:spPr>
          <a:xfrm>
            <a:off x="1005840" y="2103120"/>
            <a:ext cx="4434480" cy="5482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GB" sz="2800" b="1" u="none" strike="noStrike">
                <a:solidFill>
                  <a:srgbClr val="3C8D5A"/>
                </a:solidFill>
                <a:effectLst/>
                <a:uFillTx/>
                <a:latin typeface="Arial"/>
              </a:rPr>
              <a:t>Strengths</a:t>
            </a:r>
            <a:endParaRPr lang="en-GB" sz="2800" b="0" u="none" strike="noStrike">
              <a:solidFill>
                <a:srgbClr val="000000"/>
              </a:solidFill>
              <a:effectLst/>
              <a:uFillTx/>
              <a:latin typeface="Arial"/>
            </a:endParaRPr>
          </a:p>
        </p:txBody>
      </p:sp>
      <p:sp>
        <p:nvSpPr>
          <p:cNvPr id="180" name="Strengths badge 1"/>
          <p:cNvSpPr/>
          <p:nvPr/>
        </p:nvSpPr>
        <p:spPr>
          <a:xfrm>
            <a:off x="1005840" y="3063240"/>
            <a:ext cx="731160" cy="731160"/>
          </a:xfrm>
          <a:prstGeom prst="ellipse">
            <a:avLst/>
          </a:prstGeom>
          <a:solidFill>
            <a:srgbClr val="3C8D5A"/>
          </a:solidFill>
          <a:ln w="0">
            <a:noFill/>
          </a:ln>
        </p:spPr>
        <p:style>
          <a:lnRef idx="0"/>
          <a:fillRef idx="0"/>
          <a:effectRef idx="0"/>
          <a:fontRef idx="minor"/>
        </p:style>
        <p:txBody>
          <a:bodyPr lIns="0" tIns="0" rIns="0" bIns="0" anchor="ctr">
            <a:noAutofit/>
          </a:bodyPr>
          <a:p>
            <a:endParaRPr lang="en-GB" sz="1800" b="0" u="none" strike="noStrike">
              <a:solidFill>
                <a:srgbClr val="FFFFFF"/>
              </a:solidFill>
              <a:effectLst/>
              <a:uFillTx/>
              <a:latin typeface="Arial"/>
            </a:endParaRPr>
          </a:p>
        </p:txBody>
      </p:sp>
      <p:sp>
        <p:nvSpPr>
          <p:cNvPr id="181" name="Strengths sign 1"/>
          <p:cNvSpPr/>
          <p:nvPr/>
        </p:nvSpPr>
        <p:spPr>
          <a:xfrm>
            <a:off x="1097280" y="3154680"/>
            <a:ext cx="548280" cy="548280"/>
          </a:xfrm>
          <a:prstGeom prst="mathPlus">
            <a:avLst>
              <a:gd name="adj1" fmla="val 23520"/>
            </a:avLst>
          </a:prstGeom>
          <a:solidFill>
            <a:srgbClr val="FFFFFF"/>
          </a:solidFill>
          <a:ln w="0">
            <a:noFill/>
          </a:ln>
        </p:spPr>
        <p:style>
          <a:lnRef idx="0"/>
          <a:fillRef idx="0"/>
          <a:effectRef idx="0"/>
          <a:fontRef idx="minor"/>
        </p:style>
        <p:txBody>
          <a:bodyPr lIns="0" tIns="0" rIns="0" bIns="0" anchor="ctr">
            <a:noAutofit/>
          </a:bodyPr>
          <a:p>
            <a:endParaRPr lang="en-GB" sz="1800" b="0" u="none" strike="noStrike">
              <a:solidFill>
                <a:srgbClr val="000000"/>
              </a:solidFill>
              <a:effectLst/>
              <a:uFillTx/>
              <a:latin typeface="Arial"/>
            </a:endParaRPr>
          </a:p>
        </p:txBody>
      </p:sp>
      <p:sp>
        <p:nvSpPr>
          <p:cNvPr id="182" name="Strengths item 1"/>
          <p:cNvSpPr/>
          <p:nvPr/>
        </p:nvSpPr>
        <p:spPr>
          <a:xfrm>
            <a:off x="2011680" y="2971800"/>
            <a:ext cx="3520080" cy="9140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GB" sz="2200" b="0" u="none" strike="noStrike">
                <a:solidFill>
                  <a:schemeClr val="dk1"/>
                </a:solidFill>
                <a:effectLst/>
                <a:uFillTx/>
                <a:latin typeface="Arial"/>
              </a:rPr>
              <a:t>Processing lots of detailed information</a:t>
            </a:r>
            <a:endParaRPr lang="en-GB" sz="2200" b="0" u="none" strike="noStrike">
              <a:solidFill>
                <a:srgbClr val="000000"/>
              </a:solidFill>
              <a:effectLst/>
              <a:uFillTx/>
              <a:latin typeface="Arial"/>
            </a:endParaRPr>
          </a:p>
        </p:txBody>
      </p:sp>
      <p:sp>
        <p:nvSpPr>
          <p:cNvPr id="183" name="Strengths badge 2"/>
          <p:cNvSpPr/>
          <p:nvPr/>
        </p:nvSpPr>
        <p:spPr>
          <a:xfrm>
            <a:off x="1005840" y="4389120"/>
            <a:ext cx="731160" cy="731160"/>
          </a:xfrm>
          <a:prstGeom prst="ellipse">
            <a:avLst/>
          </a:prstGeom>
          <a:solidFill>
            <a:srgbClr val="3C8D5A"/>
          </a:solidFill>
          <a:ln w="0">
            <a:noFill/>
          </a:ln>
        </p:spPr>
        <p:style>
          <a:lnRef idx="0"/>
          <a:fillRef idx="0"/>
          <a:effectRef idx="0"/>
          <a:fontRef idx="minor"/>
        </p:style>
        <p:txBody>
          <a:bodyPr lIns="0" tIns="0" rIns="0" bIns="0" anchor="ctr">
            <a:noAutofit/>
          </a:bodyPr>
          <a:p>
            <a:endParaRPr lang="en-GB" sz="1800" b="0" u="none" strike="noStrike">
              <a:solidFill>
                <a:srgbClr val="FFFFFF"/>
              </a:solidFill>
              <a:effectLst/>
              <a:uFillTx/>
              <a:latin typeface="Arial"/>
            </a:endParaRPr>
          </a:p>
        </p:txBody>
      </p:sp>
      <p:sp>
        <p:nvSpPr>
          <p:cNvPr id="184" name="Strengths sign 2"/>
          <p:cNvSpPr/>
          <p:nvPr/>
        </p:nvSpPr>
        <p:spPr>
          <a:xfrm>
            <a:off x="1097280" y="4480560"/>
            <a:ext cx="548280" cy="548280"/>
          </a:xfrm>
          <a:prstGeom prst="mathPlus">
            <a:avLst>
              <a:gd name="adj1" fmla="val 23520"/>
            </a:avLst>
          </a:prstGeom>
          <a:solidFill>
            <a:srgbClr val="FFFFFF"/>
          </a:solidFill>
          <a:ln w="0">
            <a:noFill/>
          </a:ln>
        </p:spPr>
        <p:style>
          <a:lnRef idx="0"/>
          <a:fillRef idx="0"/>
          <a:effectRef idx="0"/>
          <a:fontRef idx="minor"/>
        </p:style>
        <p:txBody>
          <a:bodyPr lIns="0" tIns="0" rIns="0" bIns="0" anchor="ctr">
            <a:noAutofit/>
          </a:bodyPr>
          <a:p>
            <a:endParaRPr lang="en-GB" sz="1800" b="0" u="none" strike="noStrike">
              <a:solidFill>
                <a:srgbClr val="000000"/>
              </a:solidFill>
              <a:effectLst/>
              <a:uFillTx/>
              <a:latin typeface="Arial"/>
            </a:endParaRPr>
          </a:p>
        </p:txBody>
      </p:sp>
      <p:sp>
        <p:nvSpPr>
          <p:cNvPr id="185" name="Strengths item 2"/>
          <p:cNvSpPr/>
          <p:nvPr/>
        </p:nvSpPr>
        <p:spPr>
          <a:xfrm>
            <a:off x="2011680" y="4297680"/>
            <a:ext cx="3520080" cy="9140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GB" sz="2200" b="0" u="none" strike="noStrike">
                <a:solidFill>
                  <a:schemeClr val="dk1"/>
                </a:solidFill>
                <a:effectLst/>
                <a:uFillTx/>
                <a:latin typeface="Arial"/>
              </a:rPr>
              <a:t>Setting up complex but common &amp;</a:t>
            </a:r>
            <a:r>
              <a:rPr lang="en-GB" sz="2200" b="0" u="none" strike="noStrike">
                <a:solidFill>
                  <a:srgbClr val="000000"/>
                </a:solidFill>
                <a:effectLst/>
                <a:uFillTx/>
                <a:latin typeface="Arial"/>
              </a:rPr>
              <a:t> </a:t>
            </a:r>
            <a:r>
              <a:rPr lang="en-GB" sz="2200" b="0" u="none" strike="noStrike">
                <a:solidFill>
                  <a:schemeClr val="dk1"/>
                </a:solidFill>
                <a:effectLst/>
                <a:uFillTx/>
                <a:latin typeface="Arial"/>
              </a:rPr>
              <a:t>well-defined workflows</a:t>
            </a:r>
            <a:endParaRPr lang="en-GB" sz="2200" b="0" u="none" strike="noStrike">
              <a:solidFill>
                <a:srgbClr val="000000"/>
              </a:solidFill>
              <a:effectLst/>
              <a:uFillTx/>
              <a:latin typeface="Arial"/>
            </a:endParaRPr>
          </a:p>
        </p:txBody>
      </p:sp>
      <p:sp>
        <p:nvSpPr>
          <p:cNvPr id="186" name="Pitfalls card"/>
          <p:cNvSpPr/>
          <p:nvPr/>
        </p:nvSpPr>
        <p:spPr>
          <a:xfrm>
            <a:off x="6263640" y="1691640"/>
            <a:ext cx="5348880" cy="4297320"/>
          </a:xfrm>
          <a:prstGeom prst="roundRect">
            <a:avLst>
              <a:gd name="adj" fmla="val 4000"/>
            </a:avLst>
          </a:prstGeom>
          <a:solidFill>
            <a:srgbClr val="FFFFFF"/>
          </a:solidFill>
          <a:ln w="0">
            <a:noFill/>
          </a:ln>
          <a:effectLst>
            <a:outerShdw algn="t" blurRad="101520" dir="5400000" dist="25560" rotWithShape="0">
              <a:srgbClr val="000000">
                <a:alpha val="12000"/>
              </a:srgbClr>
            </a:outerShdw>
          </a:effectLst>
        </p:spPr>
        <p:style>
          <a:lnRef idx="0"/>
          <a:fillRef idx="0"/>
          <a:effectRef idx="0"/>
          <a:fontRef idx="minor"/>
        </p:style>
        <p:txBody>
          <a:bodyPr lIns="0" tIns="0" rIns="0" bIns="0" anchor="ctr">
            <a:noAutofit/>
          </a:bodyPr>
          <a:p>
            <a:endParaRPr lang="en-GB" sz="1800" b="0" u="none" strike="noStrike">
              <a:solidFill>
                <a:srgbClr val="000000"/>
              </a:solidFill>
              <a:effectLst/>
              <a:uFillTx/>
              <a:latin typeface="Arial"/>
            </a:endParaRPr>
          </a:p>
        </p:txBody>
      </p:sp>
      <p:sp>
        <p:nvSpPr>
          <p:cNvPr id="187" name="Pitfalls heading"/>
          <p:cNvSpPr/>
          <p:nvPr/>
        </p:nvSpPr>
        <p:spPr>
          <a:xfrm>
            <a:off x="6720840" y="2103120"/>
            <a:ext cx="4434480" cy="54828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GB" sz="2800" b="1" u="none" strike="noStrike">
                <a:solidFill>
                  <a:srgbClr val="C0392B"/>
                </a:solidFill>
                <a:effectLst/>
                <a:uFillTx/>
                <a:latin typeface="Arial"/>
              </a:rPr>
              <a:t>Pitfalls</a:t>
            </a:r>
            <a:endParaRPr lang="en-GB" sz="2800" b="0" u="none" strike="noStrike">
              <a:solidFill>
                <a:srgbClr val="000000"/>
              </a:solidFill>
              <a:effectLst/>
              <a:uFillTx/>
              <a:latin typeface="Arial"/>
            </a:endParaRPr>
          </a:p>
        </p:txBody>
      </p:sp>
      <p:sp>
        <p:nvSpPr>
          <p:cNvPr id="188" name="Pitfalls badge 1"/>
          <p:cNvSpPr/>
          <p:nvPr/>
        </p:nvSpPr>
        <p:spPr>
          <a:xfrm>
            <a:off x="6720840" y="3063240"/>
            <a:ext cx="731160" cy="731160"/>
          </a:xfrm>
          <a:prstGeom prst="ellipse">
            <a:avLst/>
          </a:prstGeom>
          <a:solidFill>
            <a:srgbClr val="C0392B"/>
          </a:solidFill>
          <a:ln w="0">
            <a:noFill/>
          </a:ln>
        </p:spPr>
        <p:style>
          <a:lnRef idx="0"/>
          <a:fillRef idx="0"/>
          <a:effectRef idx="0"/>
          <a:fontRef idx="minor"/>
        </p:style>
        <p:txBody>
          <a:bodyPr lIns="0" tIns="0" rIns="0" bIns="0" anchor="ctr">
            <a:noAutofit/>
          </a:bodyPr>
          <a:p>
            <a:endParaRPr lang="en-GB" sz="1800" b="0" u="none" strike="noStrike">
              <a:solidFill>
                <a:srgbClr val="FFFFFF"/>
              </a:solidFill>
              <a:effectLst/>
              <a:uFillTx/>
              <a:latin typeface="Arial"/>
            </a:endParaRPr>
          </a:p>
        </p:txBody>
      </p:sp>
      <p:sp>
        <p:nvSpPr>
          <p:cNvPr id="189" name="Pitfalls sign 1"/>
          <p:cNvSpPr/>
          <p:nvPr/>
        </p:nvSpPr>
        <p:spPr>
          <a:xfrm>
            <a:off x="6812280" y="3154680"/>
            <a:ext cx="548280" cy="548280"/>
          </a:xfrm>
          <a:prstGeom prst="mathMinus">
            <a:avLst>
              <a:gd name="adj1" fmla="val 23520"/>
            </a:avLst>
          </a:prstGeom>
          <a:solidFill>
            <a:srgbClr val="FFFFFF"/>
          </a:solidFill>
          <a:ln w="0">
            <a:noFill/>
          </a:ln>
        </p:spPr>
        <p:style>
          <a:lnRef idx="0"/>
          <a:fillRef idx="0"/>
          <a:effectRef idx="0"/>
          <a:fontRef idx="minor"/>
        </p:style>
        <p:txBody>
          <a:bodyPr lIns="0" tIns="0" rIns="0" bIns="0" anchor="ctr">
            <a:noAutofit/>
          </a:bodyPr>
          <a:p>
            <a:endParaRPr lang="en-GB" sz="1800" b="0" u="none" strike="noStrike">
              <a:solidFill>
                <a:srgbClr val="000000"/>
              </a:solidFill>
              <a:effectLst/>
              <a:uFillTx/>
              <a:latin typeface="Arial"/>
            </a:endParaRPr>
          </a:p>
        </p:txBody>
      </p:sp>
      <p:sp>
        <p:nvSpPr>
          <p:cNvPr id="190" name="Pitfalls item 1"/>
          <p:cNvSpPr/>
          <p:nvPr/>
        </p:nvSpPr>
        <p:spPr>
          <a:xfrm>
            <a:off x="7726680" y="2971800"/>
            <a:ext cx="3520080" cy="9140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GB" sz="2200" b="0" u="none" strike="noStrike">
                <a:solidFill>
                  <a:schemeClr val="dk1"/>
                </a:solidFill>
                <a:effectLst/>
                <a:uFillTx/>
                <a:latin typeface="Arial"/>
              </a:rPr>
              <a:t>Wrong choices in ambiguous situations</a:t>
            </a:r>
            <a:endParaRPr lang="en-GB" sz="2200" b="0" u="none" strike="noStrike">
              <a:solidFill>
                <a:srgbClr val="000000"/>
              </a:solidFill>
              <a:effectLst/>
              <a:uFillTx/>
              <a:latin typeface="Arial"/>
            </a:endParaRPr>
          </a:p>
        </p:txBody>
      </p:sp>
      <p:sp>
        <p:nvSpPr>
          <p:cNvPr id="191" name="Pitfalls badge 2"/>
          <p:cNvSpPr/>
          <p:nvPr/>
        </p:nvSpPr>
        <p:spPr>
          <a:xfrm>
            <a:off x="6720840" y="4389120"/>
            <a:ext cx="731160" cy="731160"/>
          </a:xfrm>
          <a:prstGeom prst="ellipse">
            <a:avLst/>
          </a:prstGeom>
          <a:solidFill>
            <a:srgbClr val="C0392B"/>
          </a:solidFill>
          <a:ln w="0">
            <a:noFill/>
          </a:ln>
        </p:spPr>
        <p:style>
          <a:lnRef idx="0"/>
          <a:fillRef idx="0"/>
          <a:effectRef idx="0"/>
          <a:fontRef idx="minor"/>
        </p:style>
        <p:txBody>
          <a:bodyPr lIns="0" tIns="0" rIns="0" bIns="0" anchor="ctr">
            <a:noAutofit/>
          </a:bodyPr>
          <a:p>
            <a:endParaRPr lang="en-GB" sz="1800" b="0" u="none" strike="noStrike">
              <a:solidFill>
                <a:srgbClr val="FFFFFF"/>
              </a:solidFill>
              <a:effectLst/>
              <a:uFillTx/>
              <a:latin typeface="Arial"/>
            </a:endParaRPr>
          </a:p>
        </p:txBody>
      </p:sp>
      <p:sp>
        <p:nvSpPr>
          <p:cNvPr id="192" name="Pitfalls sign 2"/>
          <p:cNvSpPr/>
          <p:nvPr/>
        </p:nvSpPr>
        <p:spPr>
          <a:xfrm>
            <a:off x="6812280" y="4480560"/>
            <a:ext cx="548280" cy="548280"/>
          </a:xfrm>
          <a:prstGeom prst="mathMinus">
            <a:avLst>
              <a:gd name="adj1" fmla="val 23520"/>
            </a:avLst>
          </a:prstGeom>
          <a:solidFill>
            <a:srgbClr val="FFFFFF"/>
          </a:solidFill>
          <a:ln w="0">
            <a:noFill/>
          </a:ln>
        </p:spPr>
        <p:style>
          <a:lnRef idx="0"/>
          <a:fillRef idx="0"/>
          <a:effectRef idx="0"/>
          <a:fontRef idx="minor"/>
        </p:style>
        <p:txBody>
          <a:bodyPr lIns="0" tIns="0" rIns="0" bIns="0" anchor="ctr">
            <a:noAutofit/>
          </a:bodyPr>
          <a:p>
            <a:endParaRPr lang="en-GB" sz="1800" b="0" u="none" strike="noStrike">
              <a:solidFill>
                <a:srgbClr val="000000"/>
              </a:solidFill>
              <a:effectLst/>
              <a:uFillTx/>
              <a:latin typeface="Arial"/>
            </a:endParaRPr>
          </a:p>
        </p:txBody>
      </p:sp>
      <p:sp>
        <p:nvSpPr>
          <p:cNvPr id="193" name="Pitfalls item 2"/>
          <p:cNvSpPr/>
          <p:nvPr/>
        </p:nvSpPr>
        <p:spPr>
          <a:xfrm>
            <a:off x="7726680" y="4297680"/>
            <a:ext cx="3520080" cy="914040"/>
          </a:xfrm>
          <a:prstGeom prst="rect">
            <a:avLst/>
          </a:prstGeom>
          <a:noFill/>
          <a:ln w="0">
            <a:noFill/>
          </a:ln>
        </p:spPr>
        <p:style>
          <a:lnRef idx="0"/>
          <a:fillRef idx="0"/>
          <a:effectRef idx="0"/>
          <a:fontRef idx="minor"/>
        </p:style>
        <p:txBody>
          <a:bodyPr lIns="0" tIns="0" rIns="0" bIns="0" anchor="ctr">
            <a:noAutofit/>
          </a:bodyPr>
          <a:p>
            <a:pPr>
              <a:lnSpc>
                <a:spcPct val="100000"/>
              </a:lnSpc>
              <a:tabLst>
                <a:tab pos="0" algn="l"/>
              </a:tabLst>
            </a:pPr>
            <a:r>
              <a:rPr lang="en-GB" sz="2200" b="0" u="none" strike="noStrike">
                <a:solidFill>
                  <a:schemeClr val="dk1"/>
                </a:solidFill>
                <a:effectLst/>
                <a:uFillTx/>
                <a:latin typeface="Arial"/>
              </a:rPr>
              <a:t>Need for clear instructions</a:t>
            </a:r>
            <a:endParaRPr lang="en-GB"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Health in Context">
  <a:themeElements>
    <a:clrScheme name="Health in Context">
      <a:dk1>
        <a:srgbClr val="222222"/>
      </a:dk1>
      <a:lt1>
        <a:srgbClr val="FFFFFF"/>
      </a:lt1>
      <a:dk2>
        <a:srgbClr val="0F3D3B"/>
      </a:dk2>
      <a:lt2>
        <a:srgbClr val="F7F6F2"/>
      </a:lt2>
      <a:accent1>
        <a:srgbClr val="1F6E6B"/>
      </a:accent1>
      <a:accent2>
        <a:srgbClr val="D9734E"/>
      </a:accent2>
      <a:accent3>
        <a:srgbClr val="E9E4DA"/>
      </a:accent3>
      <a:accent4>
        <a:srgbClr val="6B6B6B"/>
      </a:accent4>
      <a:accent5>
        <a:srgbClr val="7FB8B2"/>
      </a:accent5>
      <a:accent6>
        <a:srgbClr val="B5523A"/>
      </a:accent6>
      <a:hlink>
        <a:srgbClr val="1F6E6B"/>
      </a:hlink>
      <a:folHlink>
        <a:srgbClr val="6B6B6B"/>
      </a:folHlink>
    </a:clrScheme>
    <a:fontScheme name="Health in Context">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TotalTime>
  <Application>LibreOffice/26.2.5.2$MacOSX_AARCH64 LibreOffice_project/cd7284b4cbbfeb507e630c1aac019f4157393acb</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2026-10-30T13:58:45Z</dcterms:created>
  <dc:creator>Gerton Lunter</dc:creator>
  <dc:description/>
  <dc:language>en-GB</dc:language>
  <cp:lastModifiedBy>Gerton Lunter</cp:lastModifiedBy>
  <dcterms:modified xsi:type="dcterms:W3CDTF">2026-10-30T15:16:47Z</dcterms:modified>
  <cp:revision>3</cp:revision>
  <dc:subject>PptxGenJS Presentation</dc:subject>
  <dc:title>Agentic AI for coding</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5</vt:i4>
  </property>
  <property fmtid="{D5CDD505-2E9C-101B-9397-08002B2CF9AE}" pid="3" name="PresentationFormat">
    <vt:lpwstr>On-screen Show (16:9)</vt:lpwstr>
  </property>
  <property fmtid="{D5CDD505-2E9C-101B-9397-08002B2CF9AE}" pid="4" name="Slides">
    <vt:i4>5</vt:i4>
  </property>
</Properties>
</file>